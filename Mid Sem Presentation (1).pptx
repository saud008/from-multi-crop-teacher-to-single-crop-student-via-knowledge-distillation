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31663" y="8212761"/>
            <a:ext cx="3555427" cy="20731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63352" y="9740765"/>
            <a:ext cx="459134" cy="48253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14979" y="9880384"/>
            <a:ext cx="365150" cy="40661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98936" y="8776174"/>
            <a:ext cx="489063" cy="8138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91003" y="8450010"/>
            <a:ext cx="636042" cy="41360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14731657" y="8212759"/>
            <a:ext cx="3556000" cy="2073275"/>
          </a:xfrm>
          <a:custGeom>
            <a:avLst/>
            <a:gdLst/>
            <a:ahLst/>
            <a:cxnLst/>
            <a:rect l="l" t="t" r="r" b="b"/>
            <a:pathLst>
              <a:path w="3556000" h="2073275">
                <a:moveTo>
                  <a:pt x="3555428" y="407263"/>
                </a:moveTo>
                <a:lnTo>
                  <a:pt x="3555187" y="135763"/>
                </a:lnTo>
                <a:lnTo>
                  <a:pt x="3555174" y="122186"/>
                </a:lnTo>
                <a:lnTo>
                  <a:pt x="3555060" y="0"/>
                </a:lnTo>
                <a:lnTo>
                  <a:pt x="3330029" y="85217"/>
                </a:lnTo>
                <a:lnTo>
                  <a:pt x="3278454" y="121107"/>
                </a:lnTo>
                <a:lnTo>
                  <a:pt x="3278454" y="1340535"/>
                </a:lnTo>
                <a:lnTo>
                  <a:pt x="3275114" y="1382547"/>
                </a:lnTo>
                <a:lnTo>
                  <a:pt x="3272993" y="1437665"/>
                </a:lnTo>
                <a:lnTo>
                  <a:pt x="3263074" y="1482166"/>
                </a:lnTo>
                <a:lnTo>
                  <a:pt x="3249828" y="1527924"/>
                </a:lnTo>
                <a:lnTo>
                  <a:pt x="3226905" y="1577340"/>
                </a:lnTo>
                <a:lnTo>
                  <a:pt x="3198342" y="1628889"/>
                </a:lnTo>
                <a:lnTo>
                  <a:pt x="3161779" y="1669897"/>
                </a:lnTo>
                <a:lnTo>
                  <a:pt x="3077705" y="1728901"/>
                </a:lnTo>
                <a:lnTo>
                  <a:pt x="3042551" y="1742211"/>
                </a:lnTo>
                <a:lnTo>
                  <a:pt x="3013087" y="1739785"/>
                </a:lnTo>
                <a:lnTo>
                  <a:pt x="2992386" y="1734045"/>
                </a:lnTo>
                <a:lnTo>
                  <a:pt x="2983496" y="1737410"/>
                </a:lnTo>
                <a:lnTo>
                  <a:pt x="2927019" y="1690890"/>
                </a:lnTo>
                <a:lnTo>
                  <a:pt x="2903601" y="1645450"/>
                </a:lnTo>
                <a:lnTo>
                  <a:pt x="2891434" y="1609318"/>
                </a:lnTo>
                <a:lnTo>
                  <a:pt x="2880830" y="1559013"/>
                </a:lnTo>
                <a:lnTo>
                  <a:pt x="2871101" y="1494790"/>
                </a:lnTo>
                <a:lnTo>
                  <a:pt x="2870517" y="1440700"/>
                </a:lnTo>
                <a:lnTo>
                  <a:pt x="2873883" y="1385100"/>
                </a:lnTo>
                <a:lnTo>
                  <a:pt x="2881668" y="1341412"/>
                </a:lnTo>
                <a:lnTo>
                  <a:pt x="2891028" y="1297127"/>
                </a:lnTo>
                <a:lnTo>
                  <a:pt x="2897403" y="1240396"/>
                </a:lnTo>
                <a:lnTo>
                  <a:pt x="2909735" y="1194981"/>
                </a:lnTo>
                <a:lnTo>
                  <a:pt x="2923463" y="1149045"/>
                </a:lnTo>
                <a:lnTo>
                  <a:pt x="2938526" y="1102601"/>
                </a:lnTo>
                <a:lnTo>
                  <a:pt x="2954871" y="1055674"/>
                </a:lnTo>
                <a:lnTo>
                  <a:pt x="2976930" y="1020152"/>
                </a:lnTo>
                <a:lnTo>
                  <a:pt x="2995650" y="972324"/>
                </a:lnTo>
                <a:lnTo>
                  <a:pt x="3015475" y="924077"/>
                </a:lnTo>
                <a:lnTo>
                  <a:pt x="3040850" y="887310"/>
                </a:lnTo>
                <a:lnTo>
                  <a:pt x="3067202" y="850176"/>
                </a:lnTo>
                <a:lnTo>
                  <a:pt x="3097885" y="879284"/>
                </a:lnTo>
                <a:lnTo>
                  <a:pt x="3130143" y="921397"/>
                </a:lnTo>
                <a:lnTo>
                  <a:pt x="3159404" y="964628"/>
                </a:lnTo>
                <a:lnTo>
                  <a:pt x="3185680" y="1009002"/>
                </a:lnTo>
                <a:lnTo>
                  <a:pt x="3208921" y="1054531"/>
                </a:lnTo>
                <a:lnTo>
                  <a:pt x="3229089" y="1101204"/>
                </a:lnTo>
                <a:lnTo>
                  <a:pt x="3246170" y="1149057"/>
                </a:lnTo>
                <a:lnTo>
                  <a:pt x="3260128" y="1198092"/>
                </a:lnTo>
                <a:lnTo>
                  <a:pt x="3266427" y="1236446"/>
                </a:lnTo>
                <a:lnTo>
                  <a:pt x="3274047" y="1287881"/>
                </a:lnTo>
                <a:lnTo>
                  <a:pt x="3278454" y="1340535"/>
                </a:lnTo>
                <a:lnTo>
                  <a:pt x="3278454" y="121107"/>
                </a:lnTo>
                <a:lnTo>
                  <a:pt x="3030131" y="293839"/>
                </a:lnTo>
                <a:lnTo>
                  <a:pt x="2993212" y="334987"/>
                </a:lnTo>
                <a:lnTo>
                  <a:pt x="2975546" y="328091"/>
                </a:lnTo>
                <a:lnTo>
                  <a:pt x="2957639" y="321297"/>
                </a:lnTo>
                <a:lnTo>
                  <a:pt x="2939516" y="314579"/>
                </a:lnTo>
                <a:lnTo>
                  <a:pt x="2921177" y="307949"/>
                </a:lnTo>
                <a:lnTo>
                  <a:pt x="2874264" y="284962"/>
                </a:lnTo>
                <a:lnTo>
                  <a:pt x="2830792" y="274269"/>
                </a:lnTo>
                <a:lnTo>
                  <a:pt x="2786303" y="263956"/>
                </a:lnTo>
                <a:lnTo>
                  <a:pt x="2740850" y="254012"/>
                </a:lnTo>
                <a:lnTo>
                  <a:pt x="2694482" y="244411"/>
                </a:lnTo>
                <a:lnTo>
                  <a:pt x="2647238" y="235140"/>
                </a:lnTo>
                <a:lnTo>
                  <a:pt x="2603665" y="238061"/>
                </a:lnTo>
                <a:lnTo>
                  <a:pt x="2554821" y="229400"/>
                </a:lnTo>
                <a:lnTo>
                  <a:pt x="2463990" y="236626"/>
                </a:lnTo>
                <a:lnTo>
                  <a:pt x="2413114" y="228739"/>
                </a:lnTo>
                <a:lnTo>
                  <a:pt x="2318639" y="237350"/>
                </a:lnTo>
                <a:lnTo>
                  <a:pt x="2275154" y="253809"/>
                </a:lnTo>
                <a:lnTo>
                  <a:pt x="2177923" y="263474"/>
                </a:lnTo>
                <a:lnTo>
                  <a:pt x="1860816" y="383552"/>
                </a:lnTo>
                <a:lnTo>
                  <a:pt x="1819605" y="412737"/>
                </a:lnTo>
                <a:lnTo>
                  <a:pt x="1773948" y="430034"/>
                </a:lnTo>
                <a:lnTo>
                  <a:pt x="1530553" y="603681"/>
                </a:lnTo>
                <a:lnTo>
                  <a:pt x="1495539" y="644105"/>
                </a:lnTo>
                <a:lnTo>
                  <a:pt x="1456448" y="672477"/>
                </a:lnTo>
                <a:lnTo>
                  <a:pt x="1394853" y="750125"/>
                </a:lnTo>
                <a:lnTo>
                  <a:pt x="1360297" y="776795"/>
                </a:lnTo>
                <a:lnTo>
                  <a:pt x="1301711" y="853300"/>
                </a:lnTo>
                <a:lnTo>
                  <a:pt x="1273225" y="891247"/>
                </a:lnTo>
                <a:lnTo>
                  <a:pt x="1249794" y="940866"/>
                </a:lnTo>
                <a:lnTo>
                  <a:pt x="1222425" y="978382"/>
                </a:lnTo>
                <a:lnTo>
                  <a:pt x="1195628" y="1015695"/>
                </a:lnTo>
                <a:lnTo>
                  <a:pt x="1173924" y="1064653"/>
                </a:lnTo>
                <a:lnTo>
                  <a:pt x="1148334" y="1101496"/>
                </a:lnTo>
                <a:lnTo>
                  <a:pt x="1127861" y="1149997"/>
                </a:lnTo>
                <a:lnTo>
                  <a:pt x="1108024" y="1198245"/>
                </a:lnTo>
                <a:lnTo>
                  <a:pt x="1088821" y="1246251"/>
                </a:lnTo>
                <a:lnTo>
                  <a:pt x="1065796" y="1282141"/>
                </a:lnTo>
                <a:lnTo>
                  <a:pt x="1047940" y="1329639"/>
                </a:lnTo>
                <a:lnTo>
                  <a:pt x="1030770" y="1376883"/>
                </a:lnTo>
                <a:lnTo>
                  <a:pt x="1018794" y="1435735"/>
                </a:lnTo>
                <a:lnTo>
                  <a:pt x="1003046" y="1482445"/>
                </a:lnTo>
                <a:lnTo>
                  <a:pt x="988021" y="1528876"/>
                </a:lnTo>
                <a:lnTo>
                  <a:pt x="934897" y="1521828"/>
                </a:lnTo>
                <a:lnTo>
                  <a:pt x="885215" y="1527060"/>
                </a:lnTo>
                <a:lnTo>
                  <a:pt x="830097" y="1520774"/>
                </a:lnTo>
                <a:lnTo>
                  <a:pt x="674128" y="1539087"/>
                </a:lnTo>
                <a:lnTo>
                  <a:pt x="625767" y="1557413"/>
                </a:lnTo>
                <a:lnTo>
                  <a:pt x="572693" y="1563928"/>
                </a:lnTo>
                <a:lnTo>
                  <a:pt x="524065" y="1582343"/>
                </a:lnTo>
                <a:lnTo>
                  <a:pt x="484365" y="1610956"/>
                </a:lnTo>
                <a:lnTo>
                  <a:pt x="440309" y="1627644"/>
                </a:lnTo>
                <a:lnTo>
                  <a:pt x="400926" y="1656130"/>
                </a:lnTo>
                <a:lnTo>
                  <a:pt x="357289" y="1672653"/>
                </a:lnTo>
                <a:lnTo>
                  <a:pt x="280009" y="1729079"/>
                </a:lnTo>
                <a:lnTo>
                  <a:pt x="246468" y="1768944"/>
                </a:lnTo>
                <a:lnTo>
                  <a:pt x="208902" y="1796745"/>
                </a:lnTo>
                <a:lnTo>
                  <a:pt x="176390" y="1836216"/>
                </a:lnTo>
                <a:lnTo>
                  <a:pt x="139966" y="1863598"/>
                </a:lnTo>
                <a:lnTo>
                  <a:pt x="108699" y="1902587"/>
                </a:lnTo>
                <a:lnTo>
                  <a:pt x="78143" y="1941322"/>
                </a:lnTo>
                <a:lnTo>
                  <a:pt x="52870" y="1991639"/>
                </a:lnTo>
                <a:lnTo>
                  <a:pt x="23914" y="2029752"/>
                </a:lnTo>
                <a:lnTo>
                  <a:pt x="0" y="2065972"/>
                </a:lnTo>
                <a:lnTo>
                  <a:pt x="474179" y="2062949"/>
                </a:lnTo>
                <a:lnTo>
                  <a:pt x="478967" y="2061146"/>
                </a:lnTo>
                <a:lnTo>
                  <a:pt x="590308" y="1978240"/>
                </a:lnTo>
                <a:lnTo>
                  <a:pt x="632193" y="1962378"/>
                </a:lnTo>
                <a:lnTo>
                  <a:pt x="669455" y="1934679"/>
                </a:lnTo>
                <a:lnTo>
                  <a:pt x="717905" y="1916341"/>
                </a:lnTo>
                <a:lnTo>
                  <a:pt x="821474" y="1904276"/>
                </a:lnTo>
                <a:lnTo>
                  <a:pt x="871220" y="1899018"/>
                </a:lnTo>
                <a:lnTo>
                  <a:pt x="923531" y="1906371"/>
                </a:lnTo>
                <a:lnTo>
                  <a:pt x="921677" y="1947824"/>
                </a:lnTo>
                <a:lnTo>
                  <a:pt x="915720" y="1977237"/>
                </a:lnTo>
                <a:lnTo>
                  <a:pt x="914679" y="2018372"/>
                </a:lnTo>
                <a:lnTo>
                  <a:pt x="914057" y="2059343"/>
                </a:lnTo>
                <a:lnTo>
                  <a:pt x="914412" y="2072792"/>
                </a:lnTo>
                <a:lnTo>
                  <a:pt x="1645869" y="2067407"/>
                </a:lnTo>
                <a:lnTo>
                  <a:pt x="1636001" y="2030399"/>
                </a:lnTo>
                <a:lnTo>
                  <a:pt x="1618640" y="1982660"/>
                </a:lnTo>
                <a:lnTo>
                  <a:pt x="1597520" y="1936330"/>
                </a:lnTo>
                <a:lnTo>
                  <a:pt x="1572602" y="1891449"/>
                </a:lnTo>
                <a:lnTo>
                  <a:pt x="1549742" y="1859368"/>
                </a:lnTo>
                <a:lnTo>
                  <a:pt x="1519618" y="1816455"/>
                </a:lnTo>
                <a:lnTo>
                  <a:pt x="1491272" y="1786445"/>
                </a:lnTo>
                <a:lnTo>
                  <a:pt x="1455801" y="1745551"/>
                </a:lnTo>
                <a:lnTo>
                  <a:pt x="1422234" y="1717522"/>
                </a:lnTo>
                <a:lnTo>
                  <a:pt x="1386154" y="1690446"/>
                </a:lnTo>
                <a:lnTo>
                  <a:pt x="1360449" y="1673021"/>
                </a:lnTo>
                <a:lnTo>
                  <a:pt x="1347597" y="1664309"/>
                </a:lnTo>
                <a:lnTo>
                  <a:pt x="1359103" y="1605635"/>
                </a:lnTo>
                <a:lnTo>
                  <a:pt x="1376057" y="1558467"/>
                </a:lnTo>
                <a:lnTo>
                  <a:pt x="1393926" y="1510969"/>
                </a:lnTo>
                <a:lnTo>
                  <a:pt x="1408188" y="1451241"/>
                </a:lnTo>
                <a:lnTo>
                  <a:pt x="1427810" y="1403070"/>
                </a:lnTo>
                <a:lnTo>
                  <a:pt x="1448295" y="1354582"/>
                </a:lnTo>
                <a:lnTo>
                  <a:pt x="1469593" y="1305775"/>
                </a:lnTo>
                <a:lnTo>
                  <a:pt x="1496187" y="1268539"/>
                </a:lnTo>
                <a:lnTo>
                  <a:pt x="1519059" y="1219136"/>
                </a:lnTo>
                <a:lnTo>
                  <a:pt x="1547177" y="1181328"/>
                </a:lnTo>
                <a:lnTo>
                  <a:pt x="1571536" y="1131366"/>
                </a:lnTo>
                <a:lnTo>
                  <a:pt x="1601089" y="1093012"/>
                </a:lnTo>
                <a:lnTo>
                  <a:pt x="1631327" y="1054404"/>
                </a:lnTo>
                <a:lnTo>
                  <a:pt x="1693735" y="976452"/>
                </a:lnTo>
                <a:lnTo>
                  <a:pt x="1730375" y="948994"/>
                </a:lnTo>
                <a:lnTo>
                  <a:pt x="1764931" y="908748"/>
                </a:lnTo>
                <a:lnTo>
                  <a:pt x="1804631" y="880135"/>
                </a:lnTo>
                <a:lnTo>
                  <a:pt x="1840382" y="839444"/>
                </a:lnTo>
                <a:lnTo>
                  <a:pt x="1922106" y="781329"/>
                </a:lnTo>
                <a:lnTo>
                  <a:pt x="1967877" y="763993"/>
                </a:lnTo>
                <a:lnTo>
                  <a:pt x="2009305" y="734733"/>
                </a:lnTo>
                <a:lnTo>
                  <a:pt x="2101138" y="699960"/>
                </a:lnTo>
                <a:lnTo>
                  <a:pt x="2142363" y="670763"/>
                </a:lnTo>
                <a:lnTo>
                  <a:pt x="2192312" y="665429"/>
                </a:lnTo>
                <a:lnTo>
                  <a:pt x="2281986" y="631469"/>
                </a:lnTo>
                <a:lnTo>
                  <a:pt x="2425433" y="617893"/>
                </a:lnTo>
                <a:lnTo>
                  <a:pt x="2516809" y="610450"/>
                </a:lnTo>
                <a:lnTo>
                  <a:pt x="2565425" y="619201"/>
                </a:lnTo>
                <a:lnTo>
                  <a:pt x="2608338" y="616521"/>
                </a:lnTo>
                <a:lnTo>
                  <a:pt x="2654477" y="626224"/>
                </a:lnTo>
                <a:lnTo>
                  <a:pt x="2699207" y="636435"/>
                </a:lnTo>
                <a:lnTo>
                  <a:pt x="2742450" y="647217"/>
                </a:lnTo>
                <a:lnTo>
                  <a:pt x="2714307" y="685038"/>
                </a:lnTo>
                <a:lnTo>
                  <a:pt x="2691600" y="734377"/>
                </a:lnTo>
                <a:lnTo>
                  <a:pt x="2665349" y="771486"/>
                </a:lnTo>
                <a:lnTo>
                  <a:pt x="2644584" y="820089"/>
                </a:lnTo>
                <a:lnTo>
                  <a:pt x="2624836" y="868311"/>
                </a:lnTo>
                <a:lnTo>
                  <a:pt x="2606129" y="916127"/>
                </a:lnTo>
                <a:lnTo>
                  <a:pt x="2588501" y="963549"/>
                </a:lnTo>
                <a:lnTo>
                  <a:pt x="2571966" y="1010551"/>
                </a:lnTo>
                <a:lnTo>
                  <a:pt x="2556560" y="1057122"/>
                </a:lnTo>
                <a:lnTo>
                  <a:pt x="2542311" y="1103261"/>
                </a:lnTo>
                <a:lnTo>
                  <a:pt x="2529243" y="1148943"/>
                </a:lnTo>
                <a:lnTo>
                  <a:pt x="2521877" y="1206055"/>
                </a:lnTo>
                <a:lnTo>
                  <a:pt x="2511260" y="1250810"/>
                </a:lnTo>
                <a:lnTo>
                  <a:pt x="2501900" y="1295095"/>
                </a:lnTo>
                <a:lnTo>
                  <a:pt x="2498344" y="1350772"/>
                </a:lnTo>
                <a:lnTo>
                  <a:pt x="2495004" y="1406347"/>
                </a:lnTo>
                <a:lnTo>
                  <a:pt x="2494127" y="1461008"/>
                </a:lnTo>
                <a:lnTo>
                  <a:pt x="2495766" y="1514703"/>
                </a:lnTo>
                <a:lnTo>
                  <a:pt x="2495524" y="1555534"/>
                </a:lnTo>
                <a:lnTo>
                  <a:pt x="2502446" y="1607235"/>
                </a:lnTo>
                <a:lnTo>
                  <a:pt x="2512136" y="1657883"/>
                </a:lnTo>
                <a:lnTo>
                  <a:pt x="2524645" y="1707464"/>
                </a:lnTo>
                <a:lnTo>
                  <a:pt x="2540063" y="1755952"/>
                </a:lnTo>
                <a:lnTo>
                  <a:pt x="2558592" y="1803260"/>
                </a:lnTo>
                <a:lnTo>
                  <a:pt x="2580589" y="1849247"/>
                </a:lnTo>
                <a:lnTo>
                  <a:pt x="2606027" y="1893925"/>
                </a:lnTo>
                <a:lnTo>
                  <a:pt x="2630386" y="1925447"/>
                </a:lnTo>
                <a:lnTo>
                  <a:pt x="2662605" y="1967572"/>
                </a:lnTo>
                <a:lnTo>
                  <a:pt x="2693670" y="1996541"/>
                </a:lnTo>
                <a:lnTo>
                  <a:pt x="2728023" y="2024278"/>
                </a:lnTo>
                <a:lnTo>
                  <a:pt x="2765653" y="2050770"/>
                </a:lnTo>
                <a:lnTo>
                  <a:pt x="3244519" y="2073135"/>
                </a:lnTo>
                <a:lnTo>
                  <a:pt x="3277501" y="2047062"/>
                </a:lnTo>
                <a:lnTo>
                  <a:pt x="3320250" y="2030869"/>
                </a:lnTo>
                <a:lnTo>
                  <a:pt x="3358324" y="2002878"/>
                </a:lnTo>
                <a:lnTo>
                  <a:pt x="3391497" y="1963153"/>
                </a:lnTo>
                <a:lnTo>
                  <a:pt x="3428517" y="1935556"/>
                </a:lnTo>
                <a:lnTo>
                  <a:pt x="3460153" y="1896414"/>
                </a:lnTo>
                <a:lnTo>
                  <a:pt x="3490645" y="1857705"/>
                </a:lnTo>
                <a:lnTo>
                  <a:pt x="3519754" y="1819529"/>
                </a:lnTo>
                <a:lnTo>
                  <a:pt x="3547262" y="1781949"/>
                </a:lnTo>
                <a:lnTo>
                  <a:pt x="3553866" y="1765871"/>
                </a:lnTo>
                <a:lnTo>
                  <a:pt x="3553777" y="1548625"/>
                </a:lnTo>
                <a:lnTo>
                  <a:pt x="3553523" y="896874"/>
                </a:lnTo>
                <a:lnTo>
                  <a:pt x="3525062" y="839749"/>
                </a:lnTo>
                <a:lnTo>
                  <a:pt x="3499828" y="794981"/>
                </a:lnTo>
                <a:lnTo>
                  <a:pt x="3472561" y="750989"/>
                </a:lnTo>
                <a:lnTo>
                  <a:pt x="3443313" y="707745"/>
                </a:lnTo>
                <a:lnTo>
                  <a:pt x="3412121" y="665238"/>
                </a:lnTo>
                <a:lnTo>
                  <a:pt x="3383534" y="635317"/>
                </a:lnTo>
                <a:lnTo>
                  <a:pt x="3348596" y="594233"/>
                </a:lnTo>
                <a:lnTo>
                  <a:pt x="3311842" y="553834"/>
                </a:lnTo>
                <a:lnTo>
                  <a:pt x="3425596" y="470014"/>
                </a:lnTo>
                <a:lnTo>
                  <a:pt x="3468649" y="453707"/>
                </a:lnTo>
                <a:lnTo>
                  <a:pt x="3507435" y="425437"/>
                </a:lnTo>
                <a:lnTo>
                  <a:pt x="3555428" y="407263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8672" y="2490120"/>
            <a:ext cx="9096374" cy="5219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974" y="733773"/>
            <a:ext cx="14211300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8026" y="361663"/>
            <a:ext cx="14745459" cy="14506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1017" y="2530150"/>
            <a:ext cx="15433675" cy="6026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1.jpg"/><Relationship Id="rId8" Type="http://schemas.openxmlformats.org/officeDocument/2006/relationships/image" Target="../media/image2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2.jpg"/><Relationship Id="rId8" Type="http://schemas.openxmlformats.org/officeDocument/2006/relationships/image" Target="../media/image2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2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6318193"/>
            <a:ext cx="2908300" cy="3969385"/>
            <a:chOff x="0" y="6318193"/>
            <a:chExt cx="2908300" cy="39693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18193"/>
              <a:ext cx="2908299" cy="396880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459" y="7006152"/>
              <a:ext cx="456880" cy="94279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990467"/>
              <a:ext cx="590835" cy="13618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1197" y="8010571"/>
              <a:ext cx="681931" cy="79346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2919" y="8926738"/>
              <a:ext cx="425307" cy="66633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6318198"/>
              <a:ext cx="2908300" cy="3969385"/>
            </a:xfrm>
            <a:custGeom>
              <a:avLst/>
              <a:gdLst/>
              <a:ahLst/>
              <a:cxnLst/>
              <a:rect l="l" t="t" r="r" b="b"/>
              <a:pathLst>
                <a:path w="2908300" h="3969384">
                  <a:moveTo>
                    <a:pt x="2908287" y="1160754"/>
                  </a:moveTo>
                  <a:lnTo>
                    <a:pt x="2895587" y="1137208"/>
                  </a:lnTo>
                  <a:lnTo>
                    <a:pt x="2895587" y="1113955"/>
                  </a:lnTo>
                  <a:lnTo>
                    <a:pt x="2882887" y="1091247"/>
                  </a:lnTo>
                  <a:lnTo>
                    <a:pt x="2857487" y="1052588"/>
                  </a:lnTo>
                  <a:lnTo>
                    <a:pt x="2819387" y="1021842"/>
                  </a:lnTo>
                  <a:lnTo>
                    <a:pt x="2781287" y="999553"/>
                  </a:lnTo>
                  <a:lnTo>
                    <a:pt x="2743187" y="986218"/>
                  </a:lnTo>
                  <a:lnTo>
                    <a:pt x="2692387" y="982370"/>
                  </a:lnTo>
                  <a:lnTo>
                    <a:pt x="2654287" y="988504"/>
                  </a:lnTo>
                  <a:lnTo>
                    <a:pt x="2603487" y="1005166"/>
                  </a:lnTo>
                  <a:lnTo>
                    <a:pt x="2565387" y="1029741"/>
                  </a:lnTo>
                  <a:lnTo>
                    <a:pt x="2514587" y="1055077"/>
                  </a:lnTo>
                  <a:lnTo>
                    <a:pt x="2476487" y="1081151"/>
                  </a:lnTo>
                  <a:lnTo>
                    <a:pt x="2425687" y="1107935"/>
                  </a:lnTo>
                  <a:lnTo>
                    <a:pt x="2387587" y="1135443"/>
                  </a:lnTo>
                  <a:lnTo>
                    <a:pt x="2336787" y="1163650"/>
                  </a:lnTo>
                  <a:lnTo>
                    <a:pt x="2298687" y="1192555"/>
                  </a:lnTo>
                  <a:lnTo>
                    <a:pt x="2247887" y="1222121"/>
                  </a:lnTo>
                  <a:lnTo>
                    <a:pt x="2209787" y="1252347"/>
                  </a:lnTo>
                  <a:lnTo>
                    <a:pt x="2171687" y="1283233"/>
                  </a:lnTo>
                  <a:lnTo>
                    <a:pt x="2133587" y="1314754"/>
                  </a:lnTo>
                  <a:lnTo>
                    <a:pt x="2082787" y="1346911"/>
                  </a:lnTo>
                  <a:lnTo>
                    <a:pt x="2044687" y="1379664"/>
                  </a:lnTo>
                  <a:lnTo>
                    <a:pt x="2006587" y="1413027"/>
                  </a:lnTo>
                  <a:lnTo>
                    <a:pt x="1968487" y="1446974"/>
                  </a:lnTo>
                  <a:lnTo>
                    <a:pt x="1930387" y="1481505"/>
                  </a:lnTo>
                  <a:lnTo>
                    <a:pt x="1892287" y="1516595"/>
                  </a:lnTo>
                  <a:lnTo>
                    <a:pt x="1866887" y="1552232"/>
                  </a:lnTo>
                  <a:lnTo>
                    <a:pt x="1828787" y="1588414"/>
                  </a:lnTo>
                  <a:lnTo>
                    <a:pt x="1790687" y="1625117"/>
                  </a:lnTo>
                  <a:lnTo>
                    <a:pt x="1752587" y="1662341"/>
                  </a:lnTo>
                  <a:lnTo>
                    <a:pt x="1727187" y="1700060"/>
                  </a:lnTo>
                  <a:lnTo>
                    <a:pt x="1701787" y="1725536"/>
                  </a:lnTo>
                  <a:lnTo>
                    <a:pt x="1689087" y="1738261"/>
                  </a:lnTo>
                  <a:lnTo>
                    <a:pt x="1663687" y="1776958"/>
                  </a:lnTo>
                  <a:lnTo>
                    <a:pt x="1625587" y="1816100"/>
                  </a:lnTo>
                  <a:lnTo>
                    <a:pt x="1574787" y="1895741"/>
                  </a:lnTo>
                  <a:lnTo>
                    <a:pt x="1536687" y="1936203"/>
                  </a:lnTo>
                  <a:lnTo>
                    <a:pt x="1485887" y="2018372"/>
                  </a:lnTo>
                  <a:lnTo>
                    <a:pt x="1409687" y="2144496"/>
                  </a:lnTo>
                  <a:lnTo>
                    <a:pt x="1396987" y="2161921"/>
                  </a:lnTo>
                  <a:lnTo>
                    <a:pt x="1396987" y="2179370"/>
                  </a:lnTo>
                  <a:lnTo>
                    <a:pt x="1371587" y="2214359"/>
                  </a:lnTo>
                  <a:lnTo>
                    <a:pt x="1257287" y="2111806"/>
                  </a:lnTo>
                  <a:lnTo>
                    <a:pt x="1219187" y="2085886"/>
                  </a:lnTo>
                  <a:lnTo>
                    <a:pt x="1092187" y="1972335"/>
                  </a:lnTo>
                  <a:lnTo>
                    <a:pt x="1015987" y="1901291"/>
                  </a:lnTo>
                  <a:lnTo>
                    <a:pt x="939787" y="1829308"/>
                  </a:lnTo>
                  <a:lnTo>
                    <a:pt x="914387" y="1792947"/>
                  </a:lnTo>
                  <a:lnTo>
                    <a:pt x="876287" y="1756321"/>
                  </a:lnTo>
                  <a:lnTo>
                    <a:pt x="825487" y="1694243"/>
                  </a:lnTo>
                  <a:lnTo>
                    <a:pt x="774687" y="1630756"/>
                  </a:lnTo>
                  <a:lnTo>
                    <a:pt x="787387" y="1583258"/>
                  </a:lnTo>
                  <a:lnTo>
                    <a:pt x="812787" y="1535633"/>
                  </a:lnTo>
                  <a:lnTo>
                    <a:pt x="825487" y="1487881"/>
                  </a:lnTo>
                  <a:lnTo>
                    <a:pt x="850887" y="1440014"/>
                  </a:lnTo>
                  <a:lnTo>
                    <a:pt x="863587" y="1392008"/>
                  </a:lnTo>
                  <a:lnTo>
                    <a:pt x="888987" y="1343875"/>
                  </a:lnTo>
                  <a:lnTo>
                    <a:pt x="1003287" y="904532"/>
                  </a:lnTo>
                  <a:lnTo>
                    <a:pt x="1003287" y="854989"/>
                  </a:lnTo>
                  <a:lnTo>
                    <a:pt x="1015987" y="805294"/>
                  </a:lnTo>
                  <a:lnTo>
                    <a:pt x="1015987" y="705446"/>
                  </a:lnTo>
                  <a:lnTo>
                    <a:pt x="1028687" y="655281"/>
                  </a:lnTo>
                  <a:lnTo>
                    <a:pt x="1028687" y="525487"/>
                  </a:lnTo>
                  <a:lnTo>
                    <a:pt x="1015987" y="479348"/>
                  </a:lnTo>
                  <a:lnTo>
                    <a:pt x="1015987" y="432422"/>
                  </a:lnTo>
                  <a:lnTo>
                    <a:pt x="990587" y="337731"/>
                  </a:lnTo>
                  <a:lnTo>
                    <a:pt x="939787" y="244513"/>
                  </a:lnTo>
                  <a:lnTo>
                    <a:pt x="914387" y="199415"/>
                  </a:lnTo>
                  <a:lnTo>
                    <a:pt x="888987" y="164363"/>
                  </a:lnTo>
                  <a:lnTo>
                    <a:pt x="850887" y="132397"/>
                  </a:lnTo>
                  <a:lnTo>
                    <a:pt x="812787" y="103632"/>
                  </a:lnTo>
                  <a:lnTo>
                    <a:pt x="774687" y="78155"/>
                  </a:lnTo>
                  <a:lnTo>
                    <a:pt x="736587" y="56083"/>
                  </a:lnTo>
                  <a:lnTo>
                    <a:pt x="698487" y="37490"/>
                  </a:lnTo>
                  <a:lnTo>
                    <a:pt x="647687" y="22479"/>
                  </a:lnTo>
                  <a:lnTo>
                    <a:pt x="622287" y="14935"/>
                  </a:lnTo>
                  <a:lnTo>
                    <a:pt x="622287" y="515759"/>
                  </a:lnTo>
                  <a:lnTo>
                    <a:pt x="622287" y="682904"/>
                  </a:lnTo>
                  <a:lnTo>
                    <a:pt x="609587" y="732040"/>
                  </a:lnTo>
                  <a:lnTo>
                    <a:pt x="609587" y="781265"/>
                  </a:lnTo>
                  <a:lnTo>
                    <a:pt x="584187" y="879919"/>
                  </a:lnTo>
                  <a:lnTo>
                    <a:pt x="584187" y="929322"/>
                  </a:lnTo>
                  <a:lnTo>
                    <a:pt x="533387" y="1127442"/>
                  </a:lnTo>
                  <a:lnTo>
                    <a:pt x="507987" y="1177048"/>
                  </a:lnTo>
                  <a:lnTo>
                    <a:pt x="482587" y="1085481"/>
                  </a:lnTo>
                  <a:lnTo>
                    <a:pt x="457187" y="1039152"/>
                  </a:lnTo>
                  <a:lnTo>
                    <a:pt x="419087" y="898207"/>
                  </a:lnTo>
                  <a:lnTo>
                    <a:pt x="419087" y="850620"/>
                  </a:lnTo>
                  <a:lnTo>
                    <a:pt x="393687" y="754646"/>
                  </a:lnTo>
                  <a:lnTo>
                    <a:pt x="393687" y="706272"/>
                  </a:lnTo>
                  <a:lnTo>
                    <a:pt x="380987" y="657669"/>
                  </a:lnTo>
                  <a:lnTo>
                    <a:pt x="380987" y="518464"/>
                  </a:lnTo>
                  <a:lnTo>
                    <a:pt x="393687" y="472236"/>
                  </a:lnTo>
                  <a:lnTo>
                    <a:pt x="419087" y="433755"/>
                  </a:lnTo>
                  <a:lnTo>
                    <a:pt x="457187" y="409359"/>
                  </a:lnTo>
                  <a:lnTo>
                    <a:pt x="495287" y="404101"/>
                  </a:lnTo>
                  <a:lnTo>
                    <a:pt x="533387" y="411187"/>
                  </a:lnTo>
                  <a:lnTo>
                    <a:pt x="571487" y="426300"/>
                  </a:lnTo>
                  <a:lnTo>
                    <a:pt x="596887" y="445096"/>
                  </a:lnTo>
                  <a:lnTo>
                    <a:pt x="609587" y="475157"/>
                  </a:lnTo>
                  <a:lnTo>
                    <a:pt x="622287" y="515759"/>
                  </a:lnTo>
                  <a:lnTo>
                    <a:pt x="622287" y="14935"/>
                  </a:lnTo>
                  <a:lnTo>
                    <a:pt x="609587" y="11163"/>
                  </a:lnTo>
                  <a:lnTo>
                    <a:pt x="558787" y="3644"/>
                  </a:lnTo>
                  <a:lnTo>
                    <a:pt x="507987" y="0"/>
                  </a:lnTo>
                  <a:lnTo>
                    <a:pt x="495287" y="114"/>
                  </a:lnTo>
                  <a:lnTo>
                    <a:pt x="482587" y="228"/>
                  </a:lnTo>
                  <a:lnTo>
                    <a:pt x="419087" y="4775"/>
                  </a:lnTo>
                  <a:lnTo>
                    <a:pt x="380987" y="11239"/>
                  </a:lnTo>
                  <a:lnTo>
                    <a:pt x="330187" y="26289"/>
                  </a:lnTo>
                  <a:lnTo>
                    <a:pt x="304787" y="34683"/>
                  </a:lnTo>
                  <a:lnTo>
                    <a:pt x="241287" y="63195"/>
                  </a:lnTo>
                  <a:lnTo>
                    <a:pt x="203187" y="86550"/>
                  </a:lnTo>
                  <a:lnTo>
                    <a:pt x="165087" y="113017"/>
                  </a:lnTo>
                  <a:lnTo>
                    <a:pt x="139687" y="142494"/>
                  </a:lnTo>
                  <a:lnTo>
                    <a:pt x="114287" y="174866"/>
                  </a:lnTo>
                  <a:lnTo>
                    <a:pt x="76187" y="210032"/>
                  </a:lnTo>
                  <a:lnTo>
                    <a:pt x="63487" y="247891"/>
                  </a:lnTo>
                  <a:lnTo>
                    <a:pt x="38087" y="288315"/>
                  </a:lnTo>
                  <a:lnTo>
                    <a:pt x="12687" y="331216"/>
                  </a:lnTo>
                  <a:lnTo>
                    <a:pt x="0" y="376466"/>
                  </a:lnTo>
                  <a:lnTo>
                    <a:pt x="0" y="833196"/>
                  </a:lnTo>
                  <a:lnTo>
                    <a:pt x="12687" y="882357"/>
                  </a:lnTo>
                  <a:lnTo>
                    <a:pt x="12687" y="931291"/>
                  </a:lnTo>
                  <a:lnTo>
                    <a:pt x="76187" y="1171917"/>
                  </a:lnTo>
                  <a:lnTo>
                    <a:pt x="101587" y="1219161"/>
                  </a:lnTo>
                  <a:lnTo>
                    <a:pt x="126987" y="1312684"/>
                  </a:lnTo>
                  <a:lnTo>
                    <a:pt x="152387" y="1358938"/>
                  </a:lnTo>
                  <a:lnTo>
                    <a:pt x="165087" y="1404848"/>
                  </a:lnTo>
                  <a:lnTo>
                    <a:pt x="241287" y="1540344"/>
                  </a:lnTo>
                  <a:lnTo>
                    <a:pt x="253987" y="1584731"/>
                  </a:lnTo>
                  <a:lnTo>
                    <a:pt x="304787" y="1672272"/>
                  </a:lnTo>
                  <a:lnTo>
                    <a:pt x="292087" y="1716328"/>
                  </a:lnTo>
                  <a:lnTo>
                    <a:pt x="266687" y="1760334"/>
                  </a:lnTo>
                  <a:lnTo>
                    <a:pt x="253987" y="1804301"/>
                  </a:lnTo>
                  <a:lnTo>
                    <a:pt x="177787" y="1935873"/>
                  </a:lnTo>
                  <a:lnTo>
                    <a:pt x="165087" y="1979612"/>
                  </a:lnTo>
                  <a:lnTo>
                    <a:pt x="101587" y="2088654"/>
                  </a:lnTo>
                  <a:lnTo>
                    <a:pt x="88887" y="2110422"/>
                  </a:lnTo>
                  <a:lnTo>
                    <a:pt x="50787" y="2202218"/>
                  </a:lnTo>
                  <a:lnTo>
                    <a:pt x="25387" y="2250998"/>
                  </a:lnTo>
                  <a:lnTo>
                    <a:pt x="0" y="2303335"/>
                  </a:lnTo>
                  <a:lnTo>
                    <a:pt x="0" y="3682669"/>
                  </a:lnTo>
                  <a:lnTo>
                    <a:pt x="25387" y="3729545"/>
                  </a:lnTo>
                  <a:lnTo>
                    <a:pt x="50787" y="3824376"/>
                  </a:lnTo>
                  <a:lnTo>
                    <a:pt x="76187" y="3872306"/>
                  </a:lnTo>
                  <a:lnTo>
                    <a:pt x="101587" y="3968813"/>
                  </a:lnTo>
                  <a:lnTo>
                    <a:pt x="520687" y="3968813"/>
                  </a:lnTo>
                  <a:lnTo>
                    <a:pt x="507987" y="3927310"/>
                  </a:lnTo>
                  <a:lnTo>
                    <a:pt x="457187" y="3735959"/>
                  </a:lnTo>
                  <a:lnTo>
                    <a:pt x="431787" y="3689070"/>
                  </a:lnTo>
                  <a:lnTo>
                    <a:pt x="406387" y="3596436"/>
                  </a:lnTo>
                  <a:lnTo>
                    <a:pt x="380987" y="3550704"/>
                  </a:lnTo>
                  <a:lnTo>
                    <a:pt x="368287" y="3505377"/>
                  </a:lnTo>
                  <a:lnTo>
                    <a:pt x="317487" y="3415919"/>
                  </a:lnTo>
                  <a:lnTo>
                    <a:pt x="304787" y="3371812"/>
                  </a:lnTo>
                  <a:lnTo>
                    <a:pt x="253987" y="3284817"/>
                  </a:lnTo>
                  <a:lnTo>
                    <a:pt x="177787" y="3157512"/>
                  </a:lnTo>
                  <a:lnTo>
                    <a:pt x="101587" y="3034106"/>
                  </a:lnTo>
                  <a:lnTo>
                    <a:pt x="114287" y="2987116"/>
                  </a:lnTo>
                  <a:lnTo>
                    <a:pt x="139687" y="2940520"/>
                  </a:lnTo>
                  <a:lnTo>
                    <a:pt x="152387" y="2894355"/>
                  </a:lnTo>
                  <a:lnTo>
                    <a:pt x="203187" y="2803461"/>
                  </a:lnTo>
                  <a:lnTo>
                    <a:pt x="215887" y="2758795"/>
                  </a:lnTo>
                  <a:lnTo>
                    <a:pt x="266687" y="2671165"/>
                  </a:lnTo>
                  <a:lnTo>
                    <a:pt x="279387" y="2628277"/>
                  </a:lnTo>
                  <a:lnTo>
                    <a:pt x="406387" y="2386850"/>
                  </a:lnTo>
                  <a:lnTo>
                    <a:pt x="457187" y="2295982"/>
                  </a:lnTo>
                  <a:lnTo>
                    <a:pt x="469887" y="2252802"/>
                  </a:lnTo>
                  <a:lnTo>
                    <a:pt x="546087" y="2122767"/>
                  </a:lnTo>
                  <a:lnTo>
                    <a:pt x="558787" y="2079244"/>
                  </a:lnTo>
                  <a:lnTo>
                    <a:pt x="584187" y="2035644"/>
                  </a:lnTo>
                  <a:lnTo>
                    <a:pt x="622287" y="2071458"/>
                  </a:lnTo>
                  <a:lnTo>
                    <a:pt x="647687" y="2106828"/>
                  </a:lnTo>
                  <a:lnTo>
                    <a:pt x="685787" y="2141753"/>
                  </a:lnTo>
                  <a:lnTo>
                    <a:pt x="723887" y="2176259"/>
                  </a:lnTo>
                  <a:lnTo>
                    <a:pt x="761987" y="2210371"/>
                  </a:lnTo>
                  <a:lnTo>
                    <a:pt x="787387" y="2244128"/>
                  </a:lnTo>
                  <a:lnTo>
                    <a:pt x="825487" y="2277516"/>
                  </a:lnTo>
                  <a:lnTo>
                    <a:pt x="863587" y="2310587"/>
                  </a:lnTo>
                  <a:lnTo>
                    <a:pt x="901687" y="2343353"/>
                  </a:lnTo>
                  <a:lnTo>
                    <a:pt x="977887" y="2408059"/>
                  </a:lnTo>
                  <a:lnTo>
                    <a:pt x="1054087" y="2471801"/>
                  </a:lnTo>
                  <a:lnTo>
                    <a:pt x="1219187" y="2608542"/>
                  </a:lnTo>
                  <a:lnTo>
                    <a:pt x="1155687" y="2863329"/>
                  </a:lnTo>
                  <a:lnTo>
                    <a:pt x="1155687" y="2914243"/>
                  </a:lnTo>
                  <a:lnTo>
                    <a:pt x="1142987" y="2965081"/>
                  </a:lnTo>
                  <a:lnTo>
                    <a:pt x="1142987" y="3015831"/>
                  </a:lnTo>
                  <a:lnTo>
                    <a:pt x="1130287" y="3066465"/>
                  </a:lnTo>
                  <a:lnTo>
                    <a:pt x="1130287" y="3217430"/>
                  </a:lnTo>
                  <a:lnTo>
                    <a:pt x="1142987" y="3267379"/>
                  </a:lnTo>
                  <a:lnTo>
                    <a:pt x="1142987" y="3366541"/>
                  </a:lnTo>
                  <a:lnTo>
                    <a:pt x="1155687" y="3415728"/>
                  </a:lnTo>
                  <a:lnTo>
                    <a:pt x="1155687" y="3464610"/>
                  </a:lnTo>
                  <a:lnTo>
                    <a:pt x="1193787" y="3609225"/>
                  </a:lnTo>
                  <a:lnTo>
                    <a:pt x="1206487" y="3648519"/>
                  </a:lnTo>
                  <a:lnTo>
                    <a:pt x="1219187" y="3690518"/>
                  </a:lnTo>
                  <a:lnTo>
                    <a:pt x="1244587" y="3779990"/>
                  </a:lnTo>
                  <a:lnTo>
                    <a:pt x="1295387" y="3872331"/>
                  </a:lnTo>
                  <a:lnTo>
                    <a:pt x="1333487" y="3917924"/>
                  </a:lnTo>
                  <a:lnTo>
                    <a:pt x="1371587" y="3962247"/>
                  </a:lnTo>
                  <a:lnTo>
                    <a:pt x="1371587" y="3968813"/>
                  </a:lnTo>
                  <a:lnTo>
                    <a:pt x="2285987" y="3968813"/>
                  </a:lnTo>
                  <a:lnTo>
                    <a:pt x="2298687" y="3965016"/>
                  </a:lnTo>
                  <a:lnTo>
                    <a:pt x="2324087" y="3926878"/>
                  </a:lnTo>
                  <a:lnTo>
                    <a:pt x="2336787" y="3886873"/>
                  </a:lnTo>
                  <a:lnTo>
                    <a:pt x="2362187" y="3845280"/>
                  </a:lnTo>
                  <a:lnTo>
                    <a:pt x="2400287" y="3713416"/>
                  </a:lnTo>
                  <a:lnTo>
                    <a:pt x="2400287" y="3530650"/>
                  </a:lnTo>
                  <a:lnTo>
                    <a:pt x="2387587" y="3485426"/>
                  </a:lnTo>
                  <a:lnTo>
                    <a:pt x="2387587" y="3440900"/>
                  </a:lnTo>
                  <a:lnTo>
                    <a:pt x="2374887" y="3397326"/>
                  </a:lnTo>
                  <a:lnTo>
                    <a:pt x="2349487" y="3349802"/>
                  </a:lnTo>
                  <a:lnTo>
                    <a:pt x="2324087" y="3257499"/>
                  </a:lnTo>
                  <a:lnTo>
                    <a:pt x="2298687" y="3212655"/>
                  </a:lnTo>
                  <a:lnTo>
                    <a:pt x="2273287" y="3168650"/>
                  </a:lnTo>
                  <a:lnTo>
                    <a:pt x="2247887" y="3125444"/>
                  </a:lnTo>
                  <a:lnTo>
                    <a:pt x="2222487" y="3083026"/>
                  </a:lnTo>
                  <a:lnTo>
                    <a:pt x="2197087" y="3041345"/>
                  </a:lnTo>
                  <a:lnTo>
                    <a:pt x="2171687" y="3000375"/>
                  </a:lnTo>
                  <a:lnTo>
                    <a:pt x="2146287" y="2960103"/>
                  </a:lnTo>
                  <a:lnTo>
                    <a:pt x="2120887" y="2920492"/>
                  </a:lnTo>
                  <a:lnTo>
                    <a:pt x="2082787" y="2881503"/>
                  </a:lnTo>
                  <a:lnTo>
                    <a:pt x="2057387" y="2843123"/>
                  </a:lnTo>
                  <a:lnTo>
                    <a:pt x="2019287" y="2805303"/>
                  </a:lnTo>
                  <a:lnTo>
                    <a:pt x="1993887" y="2768028"/>
                  </a:lnTo>
                  <a:lnTo>
                    <a:pt x="1993887" y="3546183"/>
                  </a:lnTo>
                  <a:lnTo>
                    <a:pt x="1993887" y="3679202"/>
                  </a:lnTo>
                  <a:lnTo>
                    <a:pt x="1968487" y="3721100"/>
                  </a:lnTo>
                  <a:lnTo>
                    <a:pt x="1930387" y="3752799"/>
                  </a:lnTo>
                  <a:lnTo>
                    <a:pt x="1879587" y="3766286"/>
                  </a:lnTo>
                  <a:lnTo>
                    <a:pt x="1828787" y="3768471"/>
                  </a:lnTo>
                  <a:lnTo>
                    <a:pt x="1777987" y="3761003"/>
                  </a:lnTo>
                  <a:lnTo>
                    <a:pt x="1739887" y="3745585"/>
                  </a:lnTo>
                  <a:lnTo>
                    <a:pt x="1701787" y="3723868"/>
                  </a:lnTo>
                  <a:lnTo>
                    <a:pt x="1676387" y="3696144"/>
                  </a:lnTo>
                  <a:lnTo>
                    <a:pt x="1638287" y="3661486"/>
                  </a:lnTo>
                  <a:lnTo>
                    <a:pt x="1625587" y="3618839"/>
                  </a:lnTo>
                  <a:lnTo>
                    <a:pt x="1600187" y="3567099"/>
                  </a:lnTo>
                  <a:lnTo>
                    <a:pt x="1587487" y="3505200"/>
                  </a:lnTo>
                  <a:lnTo>
                    <a:pt x="1549387" y="3363214"/>
                  </a:lnTo>
                  <a:lnTo>
                    <a:pt x="1549387" y="3315195"/>
                  </a:lnTo>
                  <a:lnTo>
                    <a:pt x="1536687" y="3266897"/>
                  </a:lnTo>
                  <a:lnTo>
                    <a:pt x="1536687" y="3066440"/>
                  </a:lnTo>
                  <a:lnTo>
                    <a:pt x="1549387" y="3014675"/>
                  </a:lnTo>
                  <a:lnTo>
                    <a:pt x="1549387" y="2962808"/>
                  </a:lnTo>
                  <a:lnTo>
                    <a:pt x="1562087" y="2910878"/>
                  </a:lnTo>
                  <a:lnTo>
                    <a:pt x="1638287" y="2986062"/>
                  </a:lnTo>
                  <a:lnTo>
                    <a:pt x="1714487" y="3062401"/>
                  </a:lnTo>
                  <a:lnTo>
                    <a:pt x="1739887" y="3101111"/>
                  </a:lnTo>
                  <a:lnTo>
                    <a:pt x="1777987" y="3140227"/>
                  </a:lnTo>
                  <a:lnTo>
                    <a:pt x="1828787" y="3219843"/>
                  </a:lnTo>
                  <a:lnTo>
                    <a:pt x="1866887" y="3260433"/>
                  </a:lnTo>
                  <a:lnTo>
                    <a:pt x="1892287" y="3301593"/>
                  </a:lnTo>
                  <a:lnTo>
                    <a:pt x="1904987" y="3343364"/>
                  </a:lnTo>
                  <a:lnTo>
                    <a:pt x="1955787" y="3428898"/>
                  </a:lnTo>
                  <a:lnTo>
                    <a:pt x="1981187" y="3517354"/>
                  </a:lnTo>
                  <a:lnTo>
                    <a:pt x="1993887" y="3546183"/>
                  </a:lnTo>
                  <a:lnTo>
                    <a:pt x="1993887" y="2768028"/>
                  </a:lnTo>
                  <a:lnTo>
                    <a:pt x="1955787" y="2731274"/>
                  </a:lnTo>
                  <a:lnTo>
                    <a:pt x="1917687" y="2694990"/>
                  </a:lnTo>
                  <a:lnTo>
                    <a:pt x="1879587" y="2659176"/>
                  </a:lnTo>
                  <a:lnTo>
                    <a:pt x="1841487" y="2623769"/>
                  </a:lnTo>
                  <a:lnTo>
                    <a:pt x="1803387" y="2588768"/>
                  </a:lnTo>
                  <a:lnTo>
                    <a:pt x="1777987" y="2554135"/>
                  </a:lnTo>
                  <a:lnTo>
                    <a:pt x="1739887" y="2519832"/>
                  </a:lnTo>
                  <a:lnTo>
                    <a:pt x="1701787" y="2485847"/>
                  </a:lnTo>
                  <a:lnTo>
                    <a:pt x="1714487" y="2444191"/>
                  </a:lnTo>
                  <a:lnTo>
                    <a:pt x="1739887" y="2402751"/>
                  </a:lnTo>
                  <a:lnTo>
                    <a:pt x="1752587" y="2361552"/>
                  </a:lnTo>
                  <a:lnTo>
                    <a:pt x="1854187" y="2199525"/>
                  </a:lnTo>
                  <a:lnTo>
                    <a:pt x="1904987" y="2120468"/>
                  </a:lnTo>
                  <a:lnTo>
                    <a:pt x="1943087" y="2081517"/>
                  </a:lnTo>
                  <a:lnTo>
                    <a:pt x="1993887" y="2004834"/>
                  </a:lnTo>
                  <a:lnTo>
                    <a:pt x="2031987" y="1967153"/>
                  </a:lnTo>
                  <a:lnTo>
                    <a:pt x="2057387" y="1929930"/>
                  </a:lnTo>
                  <a:lnTo>
                    <a:pt x="2095487" y="1893214"/>
                  </a:lnTo>
                  <a:lnTo>
                    <a:pt x="2133587" y="1856994"/>
                  </a:lnTo>
                  <a:lnTo>
                    <a:pt x="2171687" y="1821307"/>
                  </a:lnTo>
                  <a:lnTo>
                    <a:pt x="2197087" y="1786166"/>
                  </a:lnTo>
                  <a:lnTo>
                    <a:pt x="2235187" y="1751609"/>
                  </a:lnTo>
                  <a:lnTo>
                    <a:pt x="2273287" y="1717636"/>
                  </a:lnTo>
                  <a:lnTo>
                    <a:pt x="2311387" y="1684286"/>
                  </a:lnTo>
                  <a:lnTo>
                    <a:pt x="2362187" y="1651558"/>
                  </a:lnTo>
                  <a:lnTo>
                    <a:pt x="2400287" y="1619504"/>
                  </a:lnTo>
                  <a:lnTo>
                    <a:pt x="2438387" y="1588109"/>
                  </a:lnTo>
                  <a:lnTo>
                    <a:pt x="2476487" y="1557426"/>
                  </a:lnTo>
                  <a:lnTo>
                    <a:pt x="2527287" y="1527454"/>
                  </a:lnTo>
                  <a:lnTo>
                    <a:pt x="2565387" y="1498231"/>
                  </a:lnTo>
                  <a:lnTo>
                    <a:pt x="2616187" y="1469758"/>
                  </a:lnTo>
                  <a:lnTo>
                    <a:pt x="2654287" y="1442072"/>
                  </a:lnTo>
                  <a:lnTo>
                    <a:pt x="2705087" y="1415186"/>
                  </a:lnTo>
                  <a:lnTo>
                    <a:pt x="2743187" y="1389126"/>
                  </a:lnTo>
                  <a:lnTo>
                    <a:pt x="2793987" y="1363916"/>
                  </a:lnTo>
                  <a:lnTo>
                    <a:pt x="2832087" y="1338427"/>
                  </a:lnTo>
                  <a:lnTo>
                    <a:pt x="2857487" y="1306182"/>
                  </a:lnTo>
                  <a:lnTo>
                    <a:pt x="2882887" y="1268742"/>
                  </a:lnTo>
                  <a:lnTo>
                    <a:pt x="2908287" y="1185672"/>
                  </a:lnTo>
                  <a:lnTo>
                    <a:pt x="2908287" y="1160754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5379698" y="6318193"/>
            <a:ext cx="2908300" cy="3969385"/>
            <a:chOff x="15379698" y="6318193"/>
            <a:chExt cx="2908300" cy="3969385"/>
          </a:xfrm>
        </p:grpSpPr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79698" y="6318193"/>
              <a:ext cx="2908299" cy="396880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12571" y="7006153"/>
              <a:ext cx="456880" cy="94279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97076" y="7990467"/>
              <a:ext cx="590921" cy="136182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24783" y="8010571"/>
              <a:ext cx="681931" cy="79346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719685" y="8926738"/>
              <a:ext cx="425307" cy="66633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5379687" y="6318198"/>
              <a:ext cx="2908300" cy="3969385"/>
            </a:xfrm>
            <a:custGeom>
              <a:avLst/>
              <a:gdLst/>
              <a:ahLst/>
              <a:cxnLst/>
              <a:rect l="l" t="t" r="r" b="b"/>
              <a:pathLst>
                <a:path w="2908300" h="3969384">
                  <a:moveTo>
                    <a:pt x="2908300" y="376466"/>
                  </a:moveTo>
                  <a:lnTo>
                    <a:pt x="2895600" y="331216"/>
                  </a:lnTo>
                  <a:lnTo>
                    <a:pt x="2870200" y="288315"/>
                  </a:lnTo>
                  <a:lnTo>
                    <a:pt x="2844800" y="247891"/>
                  </a:lnTo>
                  <a:lnTo>
                    <a:pt x="2832100" y="210032"/>
                  </a:lnTo>
                  <a:lnTo>
                    <a:pt x="2794000" y="174866"/>
                  </a:lnTo>
                  <a:lnTo>
                    <a:pt x="2768600" y="142494"/>
                  </a:lnTo>
                  <a:lnTo>
                    <a:pt x="2743200" y="113017"/>
                  </a:lnTo>
                  <a:lnTo>
                    <a:pt x="2705100" y="86550"/>
                  </a:lnTo>
                  <a:lnTo>
                    <a:pt x="2667000" y="63195"/>
                  </a:lnTo>
                  <a:lnTo>
                    <a:pt x="2628900" y="43078"/>
                  </a:lnTo>
                  <a:lnTo>
                    <a:pt x="2590800" y="30492"/>
                  </a:lnTo>
                  <a:lnTo>
                    <a:pt x="2578100" y="26289"/>
                  </a:lnTo>
                  <a:lnTo>
                    <a:pt x="2540000" y="13398"/>
                  </a:lnTo>
                  <a:lnTo>
                    <a:pt x="2527300" y="11239"/>
                  </a:lnTo>
                  <a:lnTo>
                    <a:pt x="2527300" y="518464"/>
                  </a:lnTo>
                  <a:lnTo>
                    <a:pt x="2527300" y="657669"/>
                  </a:lnTo>
                  <a:lnTo>
                    <a:pt x="2514600" y="706272"/>
                  </a:lnTo>
                  <a:lnTo>
                    <a:pt x="2514600" y="754646"/>
                  </a:lnTo>
                  <a:lnTo>
                    <a:pt x="2489200" y="850620"/>
                  </a:lnTo>
                  <a:lnTo>
                    <a:pt x="2489200" y="898207"/>
                  </a:lnTo>
                  <a:lnTo>
                    <a:pt x="2451100" y="1039152"/>
                  </a:lnTo>
                  <a:lnTo>
                    <a:pt x="2425700" y="1085481"/>
                  </a:lnTo>
                  <a:lnTo>
                    <a:pt x="2400300" y="1177048"/>
                  </a:lnTo>
                  <a:lnTo>
                    <a:pt x="2374900" y="1127442"/>
                  </a:lnTo>
                  <a:lnTo>
                    <a:pt x="2324100" y="929322"/>
                  </a:lnTo>
                  <a:lnTo>
                    <a:pt x="2324100" y="879919"/>
                  </a:lnTo>
                  <a:lnTo>
                    <a:pt x="2298700" y="781265"/>
                  </a:lnTo>
                  <a:lnTo>
                    <a:pt x="2298700" y="732040"/>
                  </a:lnTo>
                  <a:lnTo>
                    <a:pt x="2286000" y="682904"/>
                  </a:lnTo>
                  <a:lnTo>
                    <a:pt x="2286000" y="515759"/>
                  </a:lnTo>
                  <a:lnTo>
                    <a:pt x="2298700" y="475157"/>
                  </a:lnTo>
                  <a:lnTo>
                    <a:pt x="2336800" y="426300"/>
                  </a:lnTo>
                  <a:lnTo>
                    <a:pt x="2374900" y="411187"/>
                  </a:lnTo>
                  <a:lnTo>
                    <a:pt x="2413000" y="404101"/>
                  </a:lnTo>
                  <a:lnTo>
                    <a:pt x="2451100" y="409359"/>
                  </a:lnTo>
                  <a:lnTo>
                    <a:pt x="2489200" y="433755"/>
                  </a:lnTo>
                  <a:lnTo>
                    <a:pt x="2514600" y="472236"/>
                  </a:lnTo>
                  <a:lnTo>
                    <a:pt x="2527300" y="518464"/>
                  </a:lnTo>
                  <a:lnTo>
                    <a:pt x="2527300" y="11239"/>
                  </a:lnTo>
                  <a:lnTo>
                    <a:pt x="2489200" y="4775"/>
                  </a:lnTo>
                  <a:lnTo>
                    <a:pt x="2438400" y="342"/>
                  </a:lnTo>
                  <a:lnTo>
                    <a:pt x="2425700" y="228"/>
                  </a:lnTo>
                  <a:lnTo>
                    <a:pt x="2413000" y="114"/>
                  </a:lnTo>
                  <a:lnTo>
                    <a:pt x="2400300" y="0"/>
                  </a:lnTo>
                  <a:lnTo>
                    <a:pt x="2349500" y="3644"/>
                  </a:lnTo>
                  <a:lnTo>
                    <a:pt x="2298700" y="11163"/>
                  </a:lnTo>
                  <a:lnTo>
                    <a:pt x="2286000" y="14935"/>
                  </a:lnTo>
                  <a:lnTo>
                    <a:pt x="2260600" y="22479"/>
                  </a:lnTo>
                  <a:lnTo>
                    <a:pt x="2209800" y="37490"/>
                  </a:lnTo>
                  <a:lnTo>
                    <a:pt x="2171700" y="56083"/>
                  </a:lnTo>
                  <a:lnTo>
                    <a:pt x="2133600" y="78155"/>
                  </a:lnTo>
                  <a:lnTo>
                    <a:pt x="2095500" y="103632"/>
                  </a:lnTo>
                  <a:lnTo>
                    <a:pt x="2057400" y="132397"/>
                  </a:lnTo>
                  <a:lnTo>
                    <a:pt x="2019300" y="164363"/>
                  </a:lnTo>
                  <a:lnTo>
                    <a:pt x="1993900" y="199415"/>
                  </a:lnTo>
                  <a:lnTo>
                    <a:pt x="1968500" y="244513"/>
                  </a:lnTo>
                  <a:lnTo>
                    <a:pt x="1917700" y="337731"/>
                  </a:lnTo>
                  <a:lnTo>
                    <a:pt x="1892300" y="432422"/>
                  </a:lnTo>
                  <a:lnTo>
                    <a:pt x="1892300" y="479348"/>
                  </a:lnTo>
                  <a:lnTo>
                    <a:pt x="1879600" y="525487"/>
                  </a:lnTo>
                  <a:lnTo>
                    <a:pt x="1879600" y="655281"/>
                  </a:lnTo>
                  <a:lnTo>
                    <a:pt x="1892300" y="705446"/>
                  </a:lnTo>
                  <a:lnTo>
                    <a:pt x="1892300" y="805294"/>
                  </a:lnTo>
                  <a:lnTo>
                    <a:pt x="1905000" y="854989"/>
                  </a:lnTo>
                  <a:lnTo>
                    <a:pt x="1905000" y="904532"/>
                  </a:lnTo>
                  <a:lnTo>
                    <a:pt x="2019300" y="1343875"/>
                  </a:lnTo>
                  <a:lnTo>
                    <a:pt x="2044700" y="1392008"/>
                  </a:lnTo>
                  <a:lnTo>
                    <a:pt x="2057400" y="1440014"/>
                  </a:lnTo>
                  <a:lnTo>
                    <a:pt x="2082800" y="1487881"/>
                  </a:lnTo>
                  <a:lnTo>
                    <a:pt x="2095500" y="1535633"/>
                  </a:lnTo>
                  <a:lnTo>
                    <a:pt x="2120900" y="1583258"/>
                  </a:lnTo>
                  <a:lnTo>
                    <a:pt x="2133600" y="1630756"/>
                  </a:lnTo>
                  <a:lnTo>
                    <a:pt x="2082800" y="1694243"/>
                  </a:lnTo>
                  <a:lnTo>
                    <a:pt x="2032000" y="1756321"/>
                  </a:lnTo>
                  <a:lnTo>
                    <a:pt x="1993900" y="1792947"/>
                  </a:lnTo>
                  <a:lnTo>
                    <a:pt x="1968500" y="1829308"/>
                  </a:lnTo>
                  <a:lnTo>
                    <a:pt x="1892300" y="1901291"/>
                  </a:lnTo>
                  <a:lnTo>
                    <a:pt x="1816100" y="1972335"/>
                  </a:lnTo>
                  <a:lnTo>
                    <a:pt x="1701800" y="2077250"/>
                  </a:lnTo>
                  <a:lnTo>
                    <a:pt x="1689100" y="2085886"/>
                  </a:lnTo>
                  <a:lnTo>
                    <a:pt x="1651000" y="2111806"/>
                  </a:lnTo>
                  <a:lnTo>
                    <a:pt x="1536700" y="2214359"/>
                  </a:lnTo>
                  <a:lnTo>
                    <a:pt x="1511300" y="2179370"/>
                  </a:lnTo>
                  <a:lnTo>
                    <a:pt x="1511300" y="2161921"/>
                  </a:lnTo>
                  <a:lnTo>
                    <a:pt x="1498600" y="2144496"/>
                  </a:lnTo>
                  <a:lnTo>
                    <a:pt x="1422400" y="2018372"/>
                  </a:lnTo>
                  <a:lnTo>
                    <a:pt x="1371600" y="1936203"/>
                  </a:lnTo>
                  <a:lnTo>
                    <a:pt x="1371600" y="3066440"/>
                  </a:lnTo>
                  <a:lnTo>
                    <a:pt x="1371600" y="3266897"/>
                  </a:lnTo>
                  <a:lnTo>
                    <a:pt x="1358900" y="3315195"/>
                  </a:lnTo>
                  <a:lnTo>
                    <a:pt x="1358900" y="3363214"/>
                  </a:lnTo>
                  <a:lnTo>
                    <a:pt x="1320800" y="3505200"/>
                  </a:lnTo>
                  <a:lnTo>
                    <a:pt x="1308100" y="3567099"/>
                  </a:lnTo>
                  <a:lnTo>
                    <a:pt x="1282700" y="3618839"/>
                  </a:lnTo>
                  <a:lnTo>
                    <a:pt x="1270000" y="3661486"/>
                  </a:lnTo>
                  <a:lnTo>
                    <a:pt x="1231900" y="3696144"/>
                  </a:lnTo>
                  <a:lnTo>
                    <a:pt x="1206500" y="3723868"/>
                  </a:lnTo>
                  <a:lnTo>
                    <a:pt x="1168400" y="3745585"/>
                  </a:lnTo>
                  <a:lnTo>
                    <a:pt x="1130300" y="3761003"/>
                  </a:lnTo>
                  <a:lnTo>
                    <a:pt x="1079500" y="3768471"/>
                  </a:lnTo>
                  <a:lnTo>
                    <a:pt x="1028700" y="3766286"/>
                  </a:lnTo>
                  <a:lnTo>
                    <a:pt x="977900" y="3752799"/>
                  </a:lnTo>
                  <a:lnTo>
                    <a:pt x="939800" y="3721100"/>
                  </a:lnTo>
                  <a:lnTo>
                    <a:pt x="914400" y="3679202"/>
                  </a:lnTo>
                  <a:lnTo>
                    <a:pt x="914400" y="3546183"/>
                  </a:lnTo>
                  <a:lnTo>
                    <a:pt x="927100" y="3517354"/>
                  </a:lnTo>
                  <a:lnTo>
                    <a:pt x="952500" y="3428898"/>
                  </a:lnTo>
                  <a:lnTo>
                    <a:pt x="1003300" y="3343364"/>
                  </a:lnTo>
                  <a:lnTo>
                    <a:pt x="1016000" y="3301593"/>
                  </a:lnTo>
                  <a:lnTo>
                    <a:pt x="1041400" y="3260433"/>
                  </a:lnTo>
                  <a:lnTo>
                    <a:pt x="1079500" y="3219843"/>
                  </a:lnTo>
                  <a:lnTo>
                    <a:pt x="1130300" y="3140227"/>
                  </a:lnTo>
                  <a:lnTo>
                    <a:pt x="1168400" y="3101111"/>
                  </a:lnTo>
                  <a:lnTo>
                    <a:pt x="1193800" y="3062401"/>
                  </a:lnTo>
                  <a:lnTo>
                    <a:pt x="1270000" y="2986062"/>
                  </a:lnTo>
                  <a:lnTo>
                    <a:pt x="1346200" y="2910878"/>
                  </a:lnTo>
                  <a:lnTo>
                    <a:pt x="1358900" y="2962808"/>
                  </a:lnTo>
                  <a:lnTo>
                    <a:pt x="1358900" y="3014675"/>
                  </a:lnTo>
                  <a:lnTo>
                    <a:pt x="1371600" y="3066440"/>
                  </a:lnTo>
                  <a:lnTo>
                    <a:pt x="1371600" y="1936203"/>
                  </a:lnTo>
                  <a:lnTo>
                    <a:pt x="1333500" y="1895741"/>
                  </a:lnTo>
                  <a:lnTo>
                    <a:pt x="1282700" y="1816100"/>
                  </a:lnTo>
                  <a:lnTo>
                    <a:pt x="1244600" y="1776958"/>
                  </a:lnTo>
                  <a:lnTo>
                    <a:pt x="1219200" y="1738261"/>
                  </a:lnTo>
                  <a:lnTo>
                    <a:pt x="1206500" y="1725536"/>
                  </a:lnTo>
                  <a:lnTo>
                    <a:pt x="1181100" y="1700060"/>
                  </a:lnTo>
                  <a:lnTo>
                    <a:pt x="1155700" y="1662341"/>
                  </a:lnTo>
                  <a:lnTo>
                    <a:pt x="1117600" y="1625117"/>
                  </a:lnTo>
                  <a:lnTo>
                    <a:pt x="1079500" y="1588414"/>
                  </a:lnTo>
                  <a:lnTo>
                    <a:pt x="1041400" y="1552232"/>
                  </a:lnTo>
                  <a:lnTo>
                    <a:pt x="1016000" y="1516595"/>
                  </a:lnTo>
                  <a:lnTo>
                    <a:pt x="977900" y="1481505"/>
                  </a:lnTo>
                  <a:lnTo>
                    <a:pt x="939800" y="1446974"/>
                  </a:lnTo>
                  <a:lnTo>
                    <a:pt x="901700" y="1413027"/>
                  </a:lnTo>
                  <a:lnTo>
                    <a:pt x="863600" y="1379664"/>
                  </a:lnTo>
                  <a:lnTo>
                    <a:pt x="825500" y="1346911"/>
                  </a:lnTo>
                  <a:lnTo>
                    <a:pt x="774700" y="1314754"/>
                  </a:lnTo>
                  <a:lnTo>
                    <a:pt x="736600" y="1283233"/>
                  </a:lnTo>
                  <a:lnTo>
                    <a:pt x="698500" y="1252347"/>
                  </a:lnTo>
                  <a:lnTo>
                    <a:pt x="660400" y="1222121"/>
                  </a:lnTo>
                  <a:lnTo>
                    <a:pt x="609600" y="1192555"/>
                  </a:lnTo>
                  <a:lnTo>
                    <a:pt x="571500" y="1163650"/>
                  </a:lnTo>
                  <a:lnTo>
                    <a:pt x="520700" y="1135443"/>
                  </a:lnTo>
                  <a:lnTo>
                    <a:pt x="482600" y="1107935"/>
                  </a:lnTo>
                  <a:lnTo>
                    <a:pt x="431800" y="1081151"/>
                  </a:lnTo>
                  <a:lnTo>
                    <a:pt x="393700" y="1055077"/>
                  </a:lnTo>
                  <a:lnTo>
                    <a:pt x="342900" y="1029741"/>
                  </a:lnTo>
                  <a:lnTo>
                    <a:pt x="304800" y="1005166"/>
                  </a:lnTo>
                  <a:lnTo>
                    <a:pt x="254000" y="988504"/>
                  </a:lnTo>
                  <a:lnTo>
                    <a:pt x="215900" y="982370"/>
                  </a:lnTo>
                  <a:lnTo>
                    <a:pt x="165100" y="986218"/>
                  </a:lnTo>
                  <a:lnTo>
                    <a:pt x="127000" y="999553"/>
                  </a:lnTo>
                  <a:lnTo>
                    <a:pt x="88900" y="1021842"/>
                  </a:lnTo>
                  <a:lnTo>
                    <a:pt x="50800" y="1052588"/>
                  </a:lnTo>
                  <a:lnTo>
                    <a:pt x="25400" y="1091247"/>
                  </a:lnTo>
                  <a:lnTo>
                    <a:pt x="12700" y="1113955"/>
                  </a:lnTo>
                  <a:lnTo>
                    <a:pt x="12700" y="1137208"/>
                  </a:lnTo>
                  <a:lnTo>
                    <a:pt x="0" y="1160754"/>
                  </a:lnTo>
                  <a:lnTo>
                    <a:pt x="0" y="1185672"/>
                  </a:lnTo>
                  <a:lnTo>
                    <a:pt x="25400" y="1268742"/>
                  </a:lnTo>
                  <a:lnTo>
                    <a:pt x="50800" y="1306182"/>
                  </a:lnTo>
                  <a:lnTo>
                    <a:pt x="76200" y="1338427"/>
                  </a:lnTo>
                  <a:lnTo>
                    <a:pt x="114300" y="1363916"/>
                  </a:lnTo>
                  <a:lnTo>
                    <a:pt x="165100" y="1389126"/>
                  </a:lnTo>
                  <a:lnTo>
                    <a:pt x="203200" y="1415186"/>
                  </a:lnTo>
                  <a:lnTo>
                    <a:pt x="254000" y="1442072"/>
                  </a:lnTo>
                  <a:lnTo>
                    <a:pt x="292100" y="1469758"/>
                  </a:lnTo>
                  <a:lnTo>
                    <a:pt x="342900" y="1498231"/>
                  </a:lnTo>
                  <a:lnTo>
                    <a:pt x="381000" y="1527454"/>
                  </a:lnTo>
                  <a:lnTo>
                    <a:pt x="431800" y="1557426"/>
                  </a:lnTo>
                  <a:lnTo>
                    <a:pt x="469900" y="1588109"/>
                  </a:lnTo>
                  <a:lnTo>
                    <a:pt x="508000" y="1619504"/>
                  </a:lnTo>
                  <a:lnTo>
                    <a:pt x="546100" y="1651558"/>
                  </a:lnTo>
                  <a:lnTo>
                    <a:pt x="596900" y="1684286"/>
                  </a:lnTo>
                  <a:lnTo>
                    <a:pt x="635000" y="1717636"/>
                  </a:lnTo>
                  <a:lnTo>
                    <a:pt x="673100" y="1751609"/>
                  </a:lnTo>
                  <a:lnTo>
                    <a:pt x="711200" y="1786166"/>
                  </a:lnTo>
                  <a:lnTo>
                    <a:pt x="736600" y="1821307"/>
                  </a:lnTo>
                  <a:lnTo>
                    <a:pt x="774700" y="1856994"/>
                  </a:lnTo>
                  <a:lnTo>
                    <a:pt x="812800" y="1893214"/>
                  </a:lnTo>
                  <a:lnTo>
                    <a:pt x="850900" y="1929930"/>
                  </a:lnTo>
                  <a:lnTo>
                    <a:pt x="876300" y="1967153"/>
                  </a:lnTo>
                  <a:lnTo>
                    <a:pt x="914400" y="2004834"/>
                  </a:lnTo>
                  <a:lnTo>
                    <a:pt x="965200" y="2081517"/>
                  </a:lnTo>
                  <a:lnTo>
                    <a:pt x="1003300" y="2120468"/>
                  </a:lnTo>
                  <a:lnTo>
                    <a:pt x="1054100" y="2199525"/>
                  </a:lnTo>
                  <a:lnTo>
                    <a:pt x="1155700" y="2361552"/>
                  </a:lnTo>
                  <a:lnTo>
                    <a:pt x="1168400" y="2402751"/>
                  </a:lnTo>
                  <a:lnTo>
                    <a:pt x="1193800" y="2444191"/>
                  </a:lnTo>
                  <a:lnTo>
                    <a:pt x="1206500" y="2485847"/>
                  </a:lnTo>
                  <a:lnTo>
                    <a:pt x="1168400" y="2519832"/>
                  </a:lnTo>
                  <a:lnTo>
                    <a:pt x="1130300" y="2554135"/>
                  </a:lnTo>
                  <a:lnTo>
                    <a:pt x="1104900" y="2588768"/>
                  </a:lnTo>
                  <a:lnTo>
                    <a:pt x="1066800" y="2623769"/>
                  </a:lnTo>
                  <a:lnTo>
                    <a:pt x="1028700" y="2659176"/>
                  </a:lnTo>
                  <a:lnTo>
                    <a:pt x="990600" y="2694990"/>
                  </a:lnTo>
                  <a:lnTo>
                    <a:pt x="952500" y="2731274"/>
                  </a:lnTo>
                  <a:lnTo>
                    <a:pt x="914400" y="2768028"/>
                  </a:lnTo>
                  <a:lnTo>
                    <a:pt x="889000" y="2805303"/>
                  </a:lnTo>
                  <a:lnTo>
                    <a:pt x="850900" y="2843123"/>
                  </a:lnTo>
                  <a:lnTo>
                    <a:pt x="825500" y="2881503"/>
                  </a:lnTo>
                  <a:lnTo>
                    <a:pt x="787400" y="2920492"/>
                  </a:lnTo>
                  <a:lnTo>
                    <a:pt x="762000" y="2960103"/>
                  </a:lnTo>
                  <a:lnTo>
                    <a:pt x="736600" y="3000375"/>
                  </a:lnTo>
                  <a:lnTo>
                    <a:pt x="711200" y="3041345"/>
                  </a:lnTo>
                  <a:lnTo>
                    <a:pt x="685800" y="3083026"/>
                  </a:lnTo>
                  <a:lnTo>
                    <a:pt x="660400" y="3125444"/>
                  </a:lnTo>
                  <a:lnTo>
                    <a:pt x="635000" y="3168650"/>
                  </a:lnTo>
                  <a:lnTo>
                    <a:pt x="609600" y="3212655"/>
                  </a:lnTo>
                  <a:lnTo>
                    <a:pt x="584200" y="3257499"/>
                  </a:lnTo>
                  <a:lnTo>
                    <a:pt x="558800" y="3349802"/>
                  </a:lnTo>
                  <a:lnTo>
                    <a:pt x="533400" y="3397326"/>
                  </a:lnTo>
                  <a:lnTo>
                    <a:pt x="520700" y="3440900"/>
                  </a:lnTo>
                  <a:lnTo>
                    <a:pt x="520700" y="3485426"/>
                  </a:lnTo>
                  <a:lnTo>
                    <a:pt x="508000" y="3530650"/>
                  </a:lnTo>
                  <a:lnTo>
                    <a:pt x="508000" y="3713416"/>
                  </a:lnTo>
                  <a:lnTo>
                    <a:pt x="546100" y="3845280"/>
                  </a:lnTo>
                  <a:lnTo>
                    <a:pt x="571500" y="3886873"/>
                  </a:lnTo>
                  <a:lnTo>
                    <a:pt x="584200" y="3926878"/>
                  </a:lnTo>
                  <a:lnTo>
                    <a:pt x="609600" y="3965016"/>
                  </a:lnTo>
                  <a:lnTo>
                    <a:pt x="622300" y="3968800"/>
                  </a:lnTo>
                  <a:lnTo>
                    <a:pt x="1536700" y="3968800"/>
                  </a:lnTo>
                  <a:lnTo>
                    <a:pt x="1536700" y="3962247"/>
                  </a:lnTo>
                  <a:lnTo>
                    <a:pt x="1574800" y="3917924"/>
                  </a:lnTo>
                  <a:lnTo>
                    <a:pt x="1612900" y="3872331"/>
                  </a:lnTo>
                  <a:lnTo>
                    <a:pt x="1663700" y="3779990"/>
                  </a:lnTo>
                  <a:lnTo>
                    <a:pt x="1689100" y="3690518"/>
                  </a:lnTo>
                  <a:lnTo>
                    <a:pt x="1701800" y="3648519"/>
                  </a:lnTo>
                  <a:lnTo>
                    <a:pt x="1714500" y="3609225"/>
                  </a:lnTo>
                  <a:lnTo>
                    <a:pt x="1752600" y="3464610"/>
                  </a:lnTo>
                  <a:lnTo>
                    <a:pt x="1752600" y="3415728"/>
                  </a:lnTo>
                  <a:lnTo>
                    <a:pt x="1765300" y="3366541"/>
                  </a:lnTo>
                  <a:lnTo>
                    <a:pt x="1765300" y="3267379"/>
                  </a:lnTo>
                  <a:lnTo>
                    <a:pt x="1778000" y="3217430"/>
                  </a:lnTo>
                  <a:lnTo>
                    <a:pt x="1778000" y="3066465"/>
                  </a:lnTo>
                  <a:lnTo>
                    <a:pt x="1765300" y="3015831"/>
                  </a:lnTo>
                  <a:lnTo>
                    <a:pt x="1765300" y="2965081"/>
                  </a:lnTo>
                  <a:lnTo>
                    <a:pt x="1752600" y="2914243"/>
                  </a:lnTo>
                  <a:lnTo>
                    <a:pt x="1752600" y="2863329"/>
                  </a:lnTo>
                  <a:lnTo>
                    <a:pt x="1689100" y="2608542"/>
                  </a:lnTo>
                  <a:lnTo>
                    <a:pt x="1854200" y="2471801"/>
                  </a:lnTo>
                  <a:lnTo>
                    <a:pt x="1930400" y="2408059"/>
                  </a:lnTo>
                  <a:lnTo>
                    <a:pt x="2006600" y="2343353"/>
                  </a:lnTo>
                  <a:lnTo>
                    <a:pt x="2044700" y="2310587"/>
                  </a:lnTo>
                  <a:lnTo>
                    <a:pt x="2082800" y="2277516"/>
                  </a:lnTo>
                  <a:lnTo>
                    <a:pt x="2120900" y="2244128"/>
                  </a:lnTo>
                  <a:lnTo>
                    <a:pt x="2146300" y="2210371"/>
                  </a:lnTo>
                  <a:lnTo>
                    <a:pt x="2184400" y="2176259"/>
                  </a:lnTo>
                  <a:lnTo>
                    <a:pt x="2222500" y="2141753"/>
                  </a:lnTo>
                  <a:lnTo>
                    <a:pt x="2260600" y="2106828"/>
                  </a:lnTo>
                  <a:lnTo>
                    <a:pt x="2286000" y="2071458"/>
                  </a:lnTo>
                  <a:lnTo>
                    <a:pt x="2324100" y="2035644"/>
                  </a:lnTo>
                  <a:lnTo>
                    <a:pt x="2349500" y="2079244"/>
                  </a:lnTo>
                  <a:lnTo>
                    <a:pt x="2362200" y="2122767"/>
                  </a:lnTo>
                  <a:lnTo>
                    <a:pt x="2438400" y="2252802"/>
                  </a:lnTo>
                  <a:lnTo>
                    <a:pt x="2451100" y="2295982"/>
                  </a:lnTo>
                  <a:lnTo>
                    <a:pt x="2501900" y="2386850"/>
                  </a:lnTo>
                  <a:lnTo>
                    <a:pt x="2628900" y="2628277"/>
                  </a:lnTo>
                  <a:lnTo>
                    <a:pt x="2641600" y="2671165"/>
                  </a:lnTo>
                  <a:lnTo>
                    <a:pt x="2692400" y="2758795"/>
                  </a:lnTo>
                  <a:lnTo>
                    <a:pt x="2705100" y="2803461"/>
                  </a:lnTo>
                  <a:lnTo>
                    <a:pt x="2755900" y="2894355"/>
                  </a:lnTo>
                  <a:lnTo>
                    <a:pt x="2768600" y="2940520"/>
                  </a:lnTo>
                  <a:lnTo>
                    <a:pt x="2794000" y="2987116"/>
                  </a:lnTo>
                  <a:lnTo>
                    <a:pt x="2806700" y="3034106"/>
                  </a:lnTo>
                  <a:lnTo>
                    <a:pt x="2730500" y="3157512"/>
                  </a:lnTo>
                  <a:lnTo>
                    <a:pt x="2654300" y="3284817"/>
                  </a:lnTo>
                  <a:lnTo>
                    <a:pt x="2603500" y="3371812"/>
                  </a:lnTo>
                  <a:lnTo>
                    <a:pt x="2590800" y="3415919"/>
                  </a:lnTo>
                  <a:lnTo>
                    <a:pt x="2540000" y="3505377"/>
                  </a:lnTo>
                  <a:lnTo>
                    <a:pt x="2527300" y="3550704"/>
                  </a:lnTo>
                  <a:lnTo>
                    <a:pt x="2501900" y="3596436"/>
                  </a:lnTo>
                  <a:lnTo>
                    <a:pt x="2476500" y="3689070"/>
                  </a:lnTo>
                  <a:lnTo>
                    <a:pt x="2451100" y="3735959"/>
                  </a:lnTo>
                  <a:lnTo>
                    <a:pt x="2400300" y="3927310"/>
                  </a:lnTo>
                  <a:lnTo>
                    <a:pt x="2387600" y="3968800"/>
                  </a:lnTo>
                  <a:lnTo>
                    <a:pt x="2806700" y="3968800"/>
                  </a:lnTo>
                  <a:lnTo>
                    <a:pt x="2832100" y="3872306"/>
                  </a:lnTo>
                  <a:lnTo>
                    <a:pt x="2857500" y="3824376"/>
                  </a:lnTo>
                  <a:lnTo>
                    <a:pt x="2882900" y="3729545"/>
                  </a:lnTo>
                  <a:lnTo>
                    <a:pt x="2908300" y="3682669"/>
                  </a:lnTo>
                  <a:lnTo>
                    <a:pt x="2908300" y="2303513"/>
                  </a:lnTo>
                  <a:lnTo>
                    <a:pt x="2882900" y="2250998"/>
                  </a:lnTo>
                  <a:lnTo>
                    <a:pt x="2857500" y="2202218"/>
                  </a:lnTo>
                  <a:lnTo>
                    <a:pt x="2819400" y="2110422"/>
                  </a:lnTo>
                  <a:lnTo>
                    <a:pt x="2806700" y="2088654"/>
                  </a:lnTo>
                  <a:lnTo>
                    <a:pt x="2743200" y="1979612"/>
                  </a:lnTo>
                  <a:lnTo>
                    <a:pt x="2730500" y="1935873"/>
                  </a:lnTo>
                  <a:lnTo>
                    <a:pt x="2654300" y="1804301"/>
                  </a:lnTo>
                  <a:lnTo>
                    <a:pt x="2641600" y="1760334"/>
                  </a:lnTo>
                  <a:lnTo>
                    <a:pt x="2590800" y="1672272"/>
                  </a:lnTo>
                  <a:lnTo>
                    <a:pt x="2628900" y="1628711"/>
                  </a:lnTo>
                  <a:lnTo>
                    <a:pt x="2654300" y="1584731"/>
                  </a:lnTo>
                  <a:lnTo>
                    <a:pt x="2667000" y="1540344"/>
                  </a:lnTo>
                  <a:lnTo>
                    <a:pt x="2743200" y="1404848"/>
                  </a:lnTo>
                  <a:lnTo>
                    <a:pt x="2755900" y="1358938"/>
                  </a:lnTo>
                  <a:lnTo>
                    <a:pt x="2781300" y="1312684"/>
                  </a:lnTo>
                  <a:lnTo>
                    <a:pt x="2806700" y="1219161"/>
                  </a:lnTo>
                  <a:lnTo>
                    <a:pt x="2832100" y="1171917"/>
                  </a:lnTo>
                  <a:lnTo>
                    <a:pt x="2895600" y="931291"/>
                  </a:lnTo>
                  <a:lnTo>
                    <a:pt x="2895600" y="882357"/>
                  </a:lnTo>
                  <a:lnTo>
                    <a:pt x="2908300" y="833196"/>
                  </a:lnTo>
                  <a:lnTo>
                    <a:pt x="2908300" y="37646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6233911" y="998855"/>
            <a:ext cx="10382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9889" y="3431402"/>
            <a:ext cx="723751" cy="72358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886851" y="3431402"/>
            <a:ext cx="723751" cy="723585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391467" y="2523077"/>
            <a:ext cx="9785350" cy="1358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63930" marR="5080" indent="-951865">
              <a:lnSpc>
                <a:spcPct val="115100"/>
              </a:lnSpc>
              <a:spcBef>
                <a:spcPts val="100"/>
              </a:spcBef>
            </a:pPr>
            <a:r>
              <a:rPr dirty="0" sz="3800" spc="-65" b="1">
                <a:latin typeface="Arial"/>
                <a:cs typeface="Arial"/>
              </a:rPr>
              <a:t>Dynamic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Smart</a:t>
            </a:r>
            <a:r>
              <a:rPr dirty="0" sz="3800" spc="-5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Traffic</a:t>
            </a:r>
            <a:r>
              <a:rPr dirty="0" sz="3800" spc="-55" b="1">
                <a:latin typeface="Arial"/>
                <a:cs typeface="Arial"/>
              </a:rPr>
              <a:t> Signal </a:t>
            </a:r>
            <a:r>
              <a:rPr dirty="0" sz="3800" spc="-10" b="1">
                <a:latin typeface="Arial"/>
                <a:cs typeface="Arial"/>
              </a:rPr>
              <a:t>Management </a:t>
            </a:r>
            <a:r>
              <a:rPr dirty="0" sz="3800" spc="-100" b="1">
                <a:latin typeface="Arial"/>
                <a:cs typeface="Arial"/>
              </a:rPr>
              <a:t>using</a:t>
            </a:r>
            <a:r>
              <a:rPr dirty="0" sz="3800" spc="-114" b="1">
                <a:latin typeface="Arial"/>
                <a:cs typeface="Arial"/>
              </a:rPr>
              <a:t> </a:t>
            </a:r>
            <a:r>
              <a:rPr dirty="0" sz="3800" spc="-65" b="1">
                <a:latin typeface="Arial"/>
                <a:cs typeface="Arial"/>
              </a:rPr>
              <a:t>Real-</a:t>
            </a:r>
            <a:r>
              <a:rPr dirty="0" sz="3800" b="1">
                <a:latin typeface="Arial"/>
                <a:cs typeface="Arial"/>
              </a:rPr>
              <a:t>Time</a:t>
            </a:r>
            <a:r>
              <a:rPr dirty="0" sz="3800" spc="-11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Vehicle</a:t>
            </a:r>
            <a:r>
              <a:rPr dirty="0" sz="3800" spc="-110" b="1">
                <a:latin typeface="Arial"/>
                <a:cs typeface="Arial"/>
              </a:rPr>
              <a:t> </a:t>
            </a:r>
            <a:r>
              <a:rPr dirty="0" sz="3800" spc="60" b="1">
                <a:latin typeface="Arial"/>
                <a:cs typeface="Arial"/>
              </a:rPr>
              <a:t>Detection</a:t>
            </a:r>
            <a:endParaRPr sz="3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04187" y="4948269"/>
            <a:ext cx="4959985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84580">
              <a:lnSpc>
                <a:spcPct val="100000"/>
              </a:lnSpc>
              <a:spcBef>
                <a:spcPts val="100"/>
              </a:spcBef>
            </a:pPr>
            <a:r>
              <a:rPr dirty="0" sz="3100" spc="160">
                <a:solidFill>
                  <a:srgbClr val="FFFFFF"/>
                </a:solidFill>
                <a:latin typeface="Tahoma"/>
                <a:cs typeface="Tahoma"/>
              </a:rPr>
              <a:t>Presented</a:t>
            </a:r>
            <a:r>
              <a:rPr dirty="0" sz="31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00" spc="17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endParaRPr sz="3100">
              <a:latin typeface="Tahoma"/>
              <a:cs typeface="Tahoma"/>
            </a:endParaRPr>
          </a:p>
          <a:p>
            <a:pPr algn="ctr" marL="12700" marR="5080">
              <a:lnSpc>
                <a:spcPct val="117900"/>
              </a:lnSpc>
              <a:spcBef>
                <a:spcPts val="2490"/>
              </a:spcBef>
            </a:pPr>
            <a:r>
              <a:rPr dirty="0" sz="2650" spc="85">
                <a:solidFill>
                  <a:srgbClr val="FFFFFF"/>
                </a:solidFill>
                <a:latin typeface="Tahoma"/>
                <a:cs typeface="Tahoma"/>
              </a:rPr>
              <a:t>Rahul</a:t>
            </a:r>
            <a:r>
              <a:rPr dirty="0" sz="26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FFFFFF"/>
                </a:solidFill>
                <a:latin typeface="Tahoma"/>
                <a:cs typeface="Tahoma"/>
              </a:rPr>
              <a:t>Birawat</a:t>
            </a:r>
            <a:r>
              <a:rPr dirty="0" sz="26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54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6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20">
                <a:solidFill>
                  <a:srgbClr val="FFFFFF"/>
                </a:solidFill>
                <a:latin typeface="Tahoma"/>
                <a:cs typeface="Tahoma"/>
              </a:rPr>
              <a:t>U22CS093 </a:t>
            </a:r>
            <a:r>
              <a:rPr dirty="0" sz="2650" spc="135">
                <a:solidFill>
                  <a:srgbClr val="FFFFFF"/>
                </a:solidFill>
                <a:latin typeface="Tahoma"/>
                <a:cs typeface="Tahoma"/>
              </a:rPr>
              <a:t>Abhinav</a:t>
            </a:r>
            <a:r>
              <a:rPr dirty="0" sz="26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75">
                <a:solidFill>
                  <a:srgbClr val="FFFFFF"/>
                </a:solidFill>
                <a:latin typeface="Tahoma"/>
                <a:cs typeface="Tahoma"/>
              </a:rPr>
              <a:t>Choukse</a:t>
            </a:r>
            <a:r>
              <a:rPr dirty="0" sz="26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54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6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15">
                <a:solidFill>
                  <a:srgbClr val="FFFFFF"/>
                </a:solidFill>
                <a:latin typeface="Tahoma"/>
                <a:cs typeface="Tahoma"/>
              </a:rPr>
              <a:t>U22CS086 </a:t>
            </a:r>
            <a:r>
              <a:rPr dirty="0" sz="2650" spc="180">
                <a:solidFill>
                  <a:srgbClr val="FFFFFF"/>
                </a:solidFill>
                <a:latin typeface="Tahoma"/>
                <a:cs typeface="Tahoma"/>
              </a:rPr>
              <a:t>Meet</a:t>
            </a:r>
            <a:r>
              <a:rPr dirty="0" sz="26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14">
                <a:solidFill>
                  <a:srgbClr val="FFFFFF"/>
                </a:solidFill>
                <a:latin typeface="Tahoma"/>
                <a:cs typeface="Tahoma"/>
              </a:rPr>
              <a:t>Parmar</a:t>
            </a:r>
            <a:r>
              <a:rPr dirty="0" sz="26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54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6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55">
                <a:solidFill>
                  <a:srgbClr val="FFFFFF"/>
                </a:solidFill>
                <a:latin typeface="Tahoma"/>
                <a:cs typeface="Tahoma"/>
              </a:rPr>
              <a:t>U22CS105</a:t>
            </a:r>
            <a:endParaRPr sz="2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2650" spc="140">
                <a:solidFill>
                  <a:srgbClr val="FFFFFF"/>
                </a:solidFill>
                <a:latin typeface="Tahoma"/>
                <a:cs typeface="Tahoma"/>
              </a:rPr>
              <a:t>Het</a:t>
            </a:r>
            <a:r>
              <a:rPr dirty="0" sz="26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25">
                <a:solidFill>
                  <a:srgbClr val="FFFFFF"/>
                </a:solidFill>
                <a:latin typeface="Tahoma"/>
                <a:cs typeface="Tahoma"/>
              </a:rPr>
              <a:t>Patel</a:t>
            </a:r>
            <a:r>
              <a:rPr dirty="0" sz="26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54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6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10">
                <a:solidFill>
                  <a:srgbClr val="FFFFFF"/>
                </a:solidFill>
                <a:latin typeface="Tahoma"/>
                <a:cs typeface="Tahoma"/>
              </a:rPr>
              <a:t>U22CS092</a:t>
            </a:r>
            <a:endParaRPr sz="26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5"/>
              </a:spcBef>
            </a:pPr>
            <a:endParaRPr sz="26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2650" spc="114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dirty="0" sz="26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40">
                <a:solidFill>
                  <a:srgbClr val="FFFFFF"/>
                </a:solidFill>
                <a:latin typeface="Tahoma"/>
                <a:cs typeface="Tahoma"/>
              </a:rPr>
              <a:t>Guide</a:t>
            </a:r>
            <a:r>
              <a:rPr dirty="0" sz="26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2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6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dirty="0" sz="2650" spc="-1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10">
                <a:solidFill>
                  <a:srgbClr val="FFFFFF"/>
                </a:solidFill>
                <a:latin typeface="Tahoma"/>
                <a:cs typeface="Tahoma"/>
              </a:rPr>
              <a:t>Balu</a:t>
            </a:r>
            <a:r>
              <a:rPr dirty="0" sz="265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50" spc="120">
                <a:solidFill>
                  <a:srgbClr val="FFFFFF"/>
                </a:solidFill>
                <a:latin typeface="Tahoma"/>
                <a:cs typeface="Tahoma"/>
              </a:rPr>
              <a:t>Parne</a:t>
            </a:r>
            <a:endParaRPr sz="2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196406" y="998855"/>
            <a:ext cx="107569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23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600" spc="-300"/>
              <a:t>Problem</a:t>
            </a:r>
            <a:r>
              <a:rPr dirty="0" sz="6600" spc="-620"/>
              <a:t> </a:t>
            </a:r>
            <a:r>
              <a:rPr dirty="0" sz="6600" spc="-430"/>
              <a:t>Statement</a:t>
            </a:r>
            <a:endParaRPr sz="66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89" y="3177505"/>
            <a:ext cx="142875" cy="1428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89" y="4434804"/>
            <a:ext cx="142875" cy="1428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89" y="5692104"/>
            <a:ext cx="142875" cy="1428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789" y="6320754"/>
            <a:ext cx="142875" cy="1428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328747" y="2846270"/>
            <a:ext cx="15472410" cy="442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05410">
              <a:lnSpc>
                <a:spcPct val="116199"/>
              </a:lnSpc>
              <a:spcBef>
                <a:spcPts val="90"/>
              </a:spcBef>
            </a:pPr>
            <a:r>
              <a:rPr dirty="0" sz="3550" spc="90">
                <a:solidFill>
                  <a:srgbClr val="FFFFFF"/>
                </a:solidFill>
                <a:latin typeface="Trebuchet MS"/>
                <a:cs typeface="Trebuchet MS"/>
              </a:rPr>
              <a:t>Current</a:t>
            </a:r>
            <a:r>
              <a:rPr dirty="0" sz="3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60">
                <a:solidFill>
                  <a:srgbClr val="FFFFFF"/>
                </a:solidFill>
                <a:latin typeface="Trebuchet MS"/>
                <a:cs typeface="Trebuchet MS"/>
              </a:rPr>
              <a:t>signals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85">
                <a:solidFill>
                  <a:srgbClr val="FFFFFF"/>
                </a:solidFill>
                <a:latin typeface="Trebuchet MS"/>
                <a:cs typeface="Trebuchet MS"/>
              </a:rPr>
              <a:t>run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85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fixed</a:t>
            </a:r>
            <a:r>
              <a:rPr dirty="0" sz="3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65">
                <a:solidFill>
                  <a:srgbClr val="FFFFFF"/>
                </a:solidFill>
                <a:latin typeface="Trebuchet MS"/>
                <a:cs typeface="Trebuchet MS"/>
              </a:rPr>
              <a:t>timers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7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229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85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60">
                <a:solidFill>
                  <a:srgbClr val="FFFFFF"/>
                </a:solidFill>
                <a:latin typeface="Trebuchet MS"/>
                <a:cs typeface="Trebuchet MS"/>
              </a:rPr>
              <a:t>adjust</a:t>
            </a:r>
            <a:r>
              <a:rPr dirty="0" sz="35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60">
                <a:solidFill>
                  <a:srgbClr val="FFFFFF"/>
                </a:solidFill>
                <a:latin typeface="Trebuchet MS"/>
                <a:cs typeface="Trebuchet MS"/>
              </a:rPr>
              <a:t>real-</a:t>
            </a:r>
            <a:r>
              <a:rPr dirty="0" sz="3550" spc="-20">
                <a:solidFill>
                  <a:srgbClr val="FFFFFF"/>
                </a:solidFill>
                <a:latin typeface="Trebuchet MS"/>
                <a:cs typeface="Trebuchet MS"/>
              </a:rPr>
              <a:t>time </a:t>
            </a:r>
            <a:r>
              <a:rPr dirty="0" sz="3550" spc="-10">
                <a:solidFill>
                  <a:srgbClr val="FFFFFF"/>
                </a:solidFill>
                <a:latin typeface="Trebuchet MS"/>
                <a:cs typeface="Trebuchet MS"/>
              </a:rPr>
              <a:t>traffic.</a:t>
            </a:r>
            <a:endParaRPr sz="3550">
              <a:latin typeface="Trebuchet MS"/>
              <a:cs typeface="Trebuchet MS"/>
            </a:endParaRPr>
          </a:p>
          <a:p>
            <a:pPr marL="12700" marR="459740">
              <a:lnSpc>
                <a:spcPct val="116199"/>
              </a:lnSpc>
            </a:pPr>
            <a:r>
              <a:rPr dirty="0" sz="3550" spc="120">
                <a:solidFill>
                  <a:srgbClr val="FFFFFF"/>
                </a:solidFill>
                <a:latin typeface="Trebuchet MS"/>
                <a:cs typeface="Trebuchet MS"/>
              </a:rPr>
              <a:t>Light-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90">
                <a:solidFill>
                  <a:srgbClr val="FFFFFF"/>
                </a:solidFill>
                <a:latin typeface="Trebuchet MS"/>
                <a:cs typeface="Trebuchet MS"/>
              </a:rPr>
              <a:t>roads</a:t>
            </a:r>
            <a:r>
              <a:rPr dirty="0" sz="3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95">
                <a:solidFill>
                  <a:srgbClr val="FFFFFF"/>
                </a:solidFill>
                <a:latin typeface="Trebuchet MS"/>
                <a:cs typeface="Trebuchet MS"/>
              </a:rPr>
              <a:t>face</a:t>
            </a:r>
            <a:r>
              <a:rPr dirty="0" sz="3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95">
                <a:solidFill>
                  <a:srgbClr val="FFFFFF"/>
                </a:solidFill>
                <a:latin typeface="Trebuchet MS"/>
                <a:cs typeface="Trebuchet MS"/>
              </a:rPr>
              <a:t>unnecessary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80">
                <a:solidFill>
                  <a:srgbClr val="FFFFFF"/>
                </a:solidFill>
                <a:latin typeface="Trebuchet MS"/>
                <a:cs typeface="Trebuchet MS"/>
              </a:rPr>
              <a:t>delays,</a:t>
            </a:r>
            <a:r>
              <a:rPr dirty="0" sz="3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while</a:t>
            </a:r>
            <a:r>
              <a:rPr dirty="0" sz="35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95">
                <a:solidFill>
                  <a:srgbClr val="FFFFFF"/>
                </a:solidFill>
                <a:latin typeface="Trebuchet MS"/>
                <a:cs typeface="Trebuchet MS"/>
              </a:rPr>
              <a:t>heavy-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80">
                <a:solidFill>
                  <a:srgbClr val="FFFFFF"/>
                </a:solidFill>
                <a:latin typeface="Trebuchet MS"/>
                <a:cs typeface="Trebuchet MS"/>
              </a:rPr>
              <a:t>roads become</a:t>
            </a:r>
            <a:r>
              <a:rPr dirty="0" sz="3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30">
                <a:solidFill>
                  <a:srgbClr val="FFFFFF"/>
                </a:solidFill>
                <a:latin typeface="Trebuchet MS"/>
                <a:cs typeface="Trebuchet MS"/>
              </a:rPr>
              <a:t>congested.</a:t>
            </a:r>
            <a:endParaRPr sz="3550">
              <a:latin typeface="Trebuchet MS"/>
              <a:cs typeface="Trebuchet MS"/>
            </a:endParaRPr>
          </a:p>
          <a:p>
            <a:pPr marL="12700" marR="5080">
              <a:lnSpc>
                <a:spcPct val="116199"/>
              </a:lnSpc>
            </a:pPr>
            <a:r>
              <a:rPr dirty="0" sz="3550" spc="160">
                <a:solidFill>
                  <a:srgbClr val="FFFFFF"/>
                </a:solidFill>
                <a:latin typeface="Trebuchet MS"/>
                <a:cs typeface="Trebuchet MS"/>
              </a:rPr>
              <a:t>This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55">
                <a:solidFill>
                  <a:srgbClr val="FFFFFF"/>
                </a:solidFill>
                <a:latin typeface="Trebuchet MS"/>
                <a:cs typeface="Trebuchet MS"/>
              </a:rPr>
              <a:t>inefficiency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50">
                <a:solidFill>
                  <a:srgbClr val="FFFFFF"/>
                </a:solidFill>
                <a:latin typeface="Trebuchet MS"/>
                <a:cs typeface="Trebuchet MS"/>
              </a:rPr>
              <a:t>increases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fuel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05">
                <a:solidFill>
                  <a:srgbClr val="FFFFFF"/>
                </a:solidFill>
                <a:latin typeface="Trebuchet MS"/>
                <a:cs typeface="Trebuchet MS"/>
              </a:rPr>
              <a:t>consumption,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travel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-30">
                <a:solidFill>
                  <a:srgbClr val="FFFFFF"/>
                </a:solidFill>
                <a:latin typeface="Trebuchet MS"/>
                <a:cs typeface="Trebuchet MS"/>
              </a:rPr>
              <a:t>time,</a:t>
            </a:r>
            <a:r>
              <a:rPr dirty="0" sz="355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75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35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-10">
                <a:solidFill>
                  <a:srgbClr val="FFFFFF"/>
                </a:solidFill>
                <a:latin typeface="Trebuchet MS"/>
                <a:cs typeface="Trebuchet MS"/>
              </a:rPr>
              <a:t>pollution. </a:t>
            </a:r>
            <a:r>
              <a:rPr dirty="0" sz="3550" spc="31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35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65">
                <a:solidFill>
                  <a:srgbClr val="FFFFFF"/>
                </a:solidFill>
                <a:latin typeface="Trebuchet MS"/>
                <a:cs typeface="Trebuchet MS"/>
              </a:rPr>
              <a:t>smart,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90">
                <a:solidFill>
                  <a:srgbClr val="FFFFFF"/>
                </a:solidFill>
                <a:latin typeface="Trebuchet MS"/>
                <a:cs typeface="Trebuchet MS"/>
              </a:rPr>
              <a:t>adaptive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204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25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65">
                <a:solidFill>
                  <a:srgbClr val="FFFFFF"/>
                </a:solidFill>
                <a:latin typeface="Trebuchet MS"/>
                <a:cs typeface="Trebuchet MS"/>
              </a:rPr>
              <a:t>needed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35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60">
                <a:solidFill>
                  <a:srgbClr val="FFFFFF"/>
                </a:solidFill>
                <a:latin typeface="Trebuchet MS"/>
                <a:cs typeface="Trebuchet MS"/>
              </a:rPr>
              <a:t>adjust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20">
                <a:solidFill>
                  <a:srgbClr val="FFFFFF"/>
                </a:solidFill>
                <a:latin typeface="Trebuchet MS"/>
                <a:cs typeface="Trebuchet MS"/>
              </a:rPr>
              <a:t>signal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90">
                <a:solidFill>
                  <a:srgbClr val="FFFFFF"/>
                </a:solidFill>
                <a:latin typeface="Trebuchet MS"/>
                <a:cs typeface="Trebuchet MS"/>
              </a:rPr>
              <a:t>timings</a:t>
            </a:r>
            <a:r>
              <a:rPr dirty="0" sz="355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70">
                <a:solidFill>
                  <a:srgbClr val="FFFFFF"/>
                </a:solidFill>
                <a:latin typeface="Trebuchet MS"/>
                <a:cs typeface="Trebuchet MS"/>
              </a:rPr>
              <a:t>dynamically </a:t>
            </a:r>
            <a:r>
              <a:rPr dirty="0" sz="3550" spc="229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3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85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355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traffic</a:t>
            </a:r>
            <a:r>
              <a:rPr dirty="0" sz="3550" spc="-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40">
                <a:solidFill>
                  <a:srgbClr val="FFFFFF"/>
                </a:solidFill>
                <a:latin typeface="Trebuchet MS"/>
                <a:cs typeface="Trebuchet MS"/>
              </a:rPr>
              <a:t>density.</a:t>
            </a:r>
            <a:endParaRPr sz="3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858134" y="3325442"/>
            <a:ext cx="3430270" cy="4991735"/>
            <a:chOff x="14858134" y="3325442"/>
            <a:chExt cx="3430270" cy="499173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95599" y="3435937"/>
              <a:ext cx="2692399" cy="488088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18589" y="4123896"/>
              <a:ext cx="456880" cy="94279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3093" y="5108211"/>
              <a:ext cx="384905" cy="80732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26605" y="6003365"/>
              <a:ext cx="61393" cy="23226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30801" y="5128315"/>
              <a:ext cx="681931" cy="79346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925702" y="6044482"/>
              <a:ext cx="425307" cy="66633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595587" y="3435946"/>
              <a:ext cx="2692400" cy="4881245"/>
            </a:xfrm>
            <a:custGeom>
              <a:avLst/>
              <a:gdLst/>
              <a:ahLst/>
              <a:cxnLst/>
              <a:rect l="l" t="t" r="r" b="b"/>
              <a:pathLst>
                <a:path w="2692400" h="4881245">
                  <a:moveTo>
                    <a:pt x="2692400" y="3199511"/>
                  </a:moveTo>
                  <a:lnTo>
                    <a:pt x="2641600" y="3284817"/>
                  </a:lnTo>
                  <a:lnTo>
                    <a:pt x="2628900" y="3328098"/>
                  </a:lnTo>
                  <a:lnTo>
                    <a:pt x="2552700" y="3460445"/>
                  </a:lnTo>
                  <a:lnTo>
                    <a:pt x="2540000" y="3505377"/>
                  </a:lnTo>
                  <a:lnTo>
                    <a:pt x="2514600" y="3550704"/>
                  </a:lnTo>
                  <a:lnTo>
                    <a:pt x="2501900" y="3596436"/>
                  </a:lnTo>
                  <a:lnTo>
                    <a:pt x="2476500" y="3642550"/>
                  </a:lnTo>
                  <a:lnTo>
                    <a:pt x="2451100" y="3735959"/>
                  </a:lnTo>
                  <a:lnTo>
                    <a:pt x="2425700" y="3783228"/>
                  </a:lnTo>
                  <a:lnTo>
                    <a:pt x="2387600" y="3927310"/>
                  </a:lnTo>
                  <a:lnTo>
                    <a:pt x="2387600" y="3976065"/>
                  </a:lnTo>
                  <a:lnTo>
                    <a:pt x="2362200" y="4074655"/>
                  </a:lnTo>
                  <a:lnTo>
                    <a:pt x="2362200" y="4124490"/>
                  </a:lnTo>
                  <a:lnTo>
                    <a:pt x="2349500" y="4174667"/>
                  </a:lnTo>
                  <a:lnTo>
                    <a:pt x="2349500" y="4435500"/>
                  </a:lnTo>
                  <a:lnTo>
                    <a:pt x="2362200" y="4488485"/>
                  </a:lnTo>
                  <a:lnTo>
                    <a:pt x="2374900" y="4538853"/>
                  </a:lnTo>
                  <a:lnTo>
                    <a:pt x="2387600" y="4586490"/>
                  </a:lnTo>
                  <a:lnTo>
                    <a:pt x="2400300" y="4631283"/>
                  </a:lnTo>
                  <a:lnTo>
                    <a:pt x="2425700" y="4673104"/>
                  </a:lnTo>
                  <a:lnTo>
                    <a:pt x="2451100" y="4711814"/>
                  </a:lnTo>
                  <a:lnTo>
                    <a:pt x="2476500" y="4747285"/>
                  </a:lnTo>
                  <a:lnTo>
                    <a:pt x="2514600" y="4779403"/>
                  </a:lnTo>
                  <a:lnTo>
                    <a:pt x="2540000" y="4808055"/>
                  </a:lnTo>
                  <a:lnTo>
                    <a:pt x="2578100" y="4833086"/>
                  </a:lnTo>
                  <a:lnTo>
                    <a:pt x="2628900" y="4854384"/>
                  </a:lnTo>
                  <a:lnTo>
                    <a:pt x="2667000" y="4871834"/>
                  </a:lnTo>
                  <a:lnTo>
                    <a:pt x="2692400" y="4880889"/>
                  </a:lnTo>
                  <a:lnTo>
                    <a:pt x="2692400" y="3199511"/>
                  </a:lnTo>
                  <a:close/>
                </a:path>
                <a:path w="2692400" h="4881245">
                  <a:moveTo>
                    <a:pt x="2692400" y="86537"/>
                  </a:moveTo>
                  <a:lnTo>
                    <a:pt x="2654300" y="63195"/>
                  </a:lnTo>
                  <a:lnTo>
                    <a:pt x="2616200" y="43078"/>
                  </a:lnTo>
                  <a:lnTo>
                    <a:pt x="2590800" y="34683"/>
                  </a:lnTo>
                  <a:lnTo>
                    <a:pt x="2565400" y="26289"/>
                  </a:lnTo>
                  <a:lnTo>
                    <a:pt x="2527300" y="13385"/>
                  </a:lnTo>
                  <a:lnTo>
                    <a:pt x="2514600" y="11239"/>
                  </a:lnTo>
                  <a:lnTo>
                    <a:pt x="2514600" y="518464"/>
                  </a:lnTo>
                  <a:lnTo>
                    <a:pt x="2514600" y="657669"/>
                  </a:lnTo>
                  <a:lnTo>
                    <a:pt x="2501900" y="706272"/>
                  </a:lnTo>
                  <a:lnTo>
                    <a:pt x="2501900" y="754634"/>
                  </a:lnTo>
                  <a:lnTo>
                    <a:pt x="2489200" y="802754"/>
                  </a:lnTo>
                  <a:lnTo>
                    <a:pt x="2489200" y="850620"/>
                  </a:lnTo>
                  <a:lnTo>
                    <a:pt x="2425700" y="1085481"/>
                  </a:lnTo>
                  <a:lnTo>
                    <a:pt x="2400300" y="1131443"/>
                  </a:lnTo>
                  <a:lnTo>
                    <a:pt x="2387600" y="1177048"/>
                  </a:lnTo>
                  <a:lnTo>
                    <a:pt x="2374900" y="1127442"/>
                  </a:lnTo>
                  <a:lnTo>
                    <a:pt x="2349500" y="1077861"/>
                  </a:lnTo>
                  <a:lnTo>
                    <a:pt x="2324100" y="978789"/>
                  </a:lnTo>
                  <a:lnTo>
                    <a:pt x="2324100" y="929322"/>
                  </a:lnTo>
                  <a:lnTo>
                    <a:pt x="2286000" y="781265"/>
                  </a:lnTo>
                  <a:lnTo>
                    <a:pt x="2286000" y="682904"/>
                  </a:lnTo>
                  <a:lnTo>
                    <a:pt x="2273300" y="633844"/>
                  </a:lnTo>
                  <a:lnTo>
                    <a:pt x="2273300" y="568210"/>
                  </a:lnTo>
                  <a:lnTo>
                    <a:pt x="2286000" y="515747"/>
                  </a:lnTo>
                  <a:lnTo>
                    <a:pt x="2286000" y="475157"/>
                  </a:lnTo>
                  <a:lnTo>
                    <a:pt x="2311400" y="445096"/>
                  </a:lnTo>
                  <a:lnTo>
                    <a:pt x="2324100" y="426300"/>
                  </a:lnTo>
                  <a:lnTo>
                    <a:pt x="2362200" y="411187"/>
                  </a:lnTo>
                  <a:lnTo>
                    <a:pt x="2400300" y="404101"/>
                  </a:lnTo>
                  <a:lnTo>
                    <a:pt x="2438400" y="409346"/>
                  </a:lnTo>
                  <a:lnTo>
                    <a:pt x="2476500" y="433743"/>
                  </a:lnTo>
                  <a:lnTo>
                    <a:pt x="2501900" y="472224"/>
                  </a:lnTo>
                  <a:lnTo>
                    <a:pt x="2514600" y="518464"/>
                  </a:lnTo>
                  <a:lnTo>
                    <a:pt x="2514600" y="11239"/>
                  </a:lnTo>
                  <a:lnTo>
                    <a:pt x="2476500" y="4775"/>
                  </a:lnTo>
                  <a:lnTo>
                    <a:pt x="2438400" y="342"/>
                  </a:lnTo>
                  <a:lnTo>
                    <a:pt x="2425700" y="254"/>
                  </a:lnTo>
                  <a:lnTo>
                    <a:pt x="2413000" y="165"/>
                  </a:lnTo>
                  <a:lnTo>
                    <a:pt x="2400300" y="88"/>
                  </a:lnTo>
                  <a:lnTo>
                    <a:pt x="2387600" y="0"/>
                  </a:lnTo>
                  <a:lnTo>
                    <a:pt x="2336800" y="3632"/>
                  </a:lnTo>
                  <a:lnTo>
                    <a:pt x="2298700" y="11163"/>
                  </a:lnTo>
                  <a:lnTo>
                    <a:pt x="2273300" y="16827"/>
                  </a:lnTo>
                  <a:lnTo>
                    <a:pt x="2247900" y="22479"/>
                  </a:lnTo>
                  <a:lnTo>
                    <a:pt x="2209800" y="37477"/>
                  </a:lnTo>
                  <a:lnTo>
                    <a:pt x="2159000" y="56070"/>
                  </a:lnTo>
                  <a:lnTo>
                    <a:pt x="2120900" y="78155"/>
                  </a:lnTo>
                  <a:lnTo>
                    <a:pt x="2082800" y="103632"/>
                  </a:lnTo>
                  <a:lnTo>
                    <a:pt x="2044700" y="132397"/>
                  </a:lnTo>
                  <a:lnTo>
                    <a:pt x="2019300" y="164350"/>
                  </a:lnTo>
                  <a:lnTo>
                    <a:pt x="1981200" y="199415"/>
                  </a:lnTo>
                  <a:lnTo>
                    <a:pt x="1955800" y="244513"/>
                  </a:lnTo>
                  <a:lnTo>
                    <a:pt x="1905000" y="337731"/>
                  </a:lnTo>
                  <a:lnTo>
                    <a:pt x="1879600" y="432422"/>
                  </a:lnTo>
                  <a:lnTo>
                    <a:pt x="1879600" y="479348"/>
                  </a:lnTo>
                  <a:lnTo>
                    <a:pt x="1866900" y="525475"/>
                  </a:lnTo>
                  <a:lnTo>
                    <a:pt x="1866900" y="613829"/>
                  </a:lnTo>
                  <a:lnTo>
                    <a:pt x="1879600" y="655281"/>
                  </a:lnTo>
                  <a:lnTo>
                    <a:pt x="1879600" y="755446"/>
                  </a:lnTo>
                  <a:lnTo>
                    <a:pt x="1892300" y="805294"/>
                  </a:lnTo>
                  <a:lnTo>
                    <a:pt x="1892300" y="854989"/>
                  </a:lnTo>
                  <a:lnTo>
                    <a:pt x="1905000" y="904519"/>
                  </a:lnTo>
                  <a:lnTo>
                    <a:pt x="1905000" y="953909"/>
                  </a:lnTo>
                  <a:lnTo>
                    <a:pt x="1993900" y="1295615"/>
                  </a:lnTo>
                  <a:lnTo>
                    <a:pt x="2019300" y="1343875"/>
                  </a:lnTo>
                  <a:lnTo>
                    <a:pt x="2044700" y="1440002"/>
                  </a:lnTo>
                  <a:lnTo>
                    <a:pt x="2070100" y="1487881"/>
                  </a:lnTo>
                  <a:lnTo>
                    <a:pt x="2082800" y="1535620"/>
                  </a:lnTo>
                  <a:lnTo>
                    <a:pt x="2108200" y="1583245"/>
                  </a:lnTo>
                  <a:lnTo>
                    <a:pt x="2120900" y="1630756"/>
                  </a:lnTo>
                  <a:lnTo>
                    <a:pt x="2070100" y="1694243"/>
                  </a:lnTo>
                  <a:lnTo>
                    <a:pt x="2019300" y="1756321"/>
                  </a:lnTo>
                  <a:lnTo>
                    <a:pt x="1993900" y="1792947"/>
                  </a:lnTo>
                  <a:lnTo>
                    <a:pt x="1917700" y="1865426"/>
                  </a:lnTo>
                  <a:lnTo>
                    <a:pt x="1841500" y="1936927"/>
                  </a:lnTo>
                  <a:lnTo>
                    <a:pt x="1765300" y="2007514"/>
                  </a:lnTo>
                  <a:lnTo>
                    <a:pt x="1676400" y="2088756"/>
                  </a:lnTo>
                  <a:lnTo>
                    <a:pt x="1600200" y="2146173"/>
                  </a:lnTo>
                  <a:lnTo>
                    <a:pt x="1524000" y="2214359"/>
                  </a:lnTo>
                  <a:lnTo>
                    <a:pt x="1511300" y="2196846"/>
                  </a:lnTo>
                  <a:lnTo>
                    <a:pt x="1511300" y="2179358"/>
                  </a:lnTo>
                  <a:lnTo>
                    <a:pt x="1485900" y="2144496"/>
                  </a:lnTo>
                  <a:lnTo>
                    <a:pt x="1409700" y="2018360"/>
                  </a:lnTo>
                  <a:lnTo>
                    <a:pt x="1358900" y="1936203"/>
                  </a:lnTo>
                  <a:lnTo>
                    <a:pt x="1358900" y="3066440"/>
                  </a:lnTo>
                  <a:lnTo>
                    <a:pt x="1358900" y="3266897"/>
                  </a:lnTo>
                  <a:lnTo>
                    <a:pt x="1346200" y="3315195"/>
                  </a:lnTo>
                  <a:lnTo>
                    <a:pt x="1346200" y="3363214"/>
                  </a:lnTo>
                  <a:lnTo>
                    <a:pt x="1333500" y="3410902"/>
                  </a:lnTo>
                  <a:lnTo>
                    <a:pt x="1333500" y="3458235"/>
                  </a:lnTo>
                  <a:lnTo>
                    <a:pt x="1320800" y="3505200"/>
                  </a:lnTo>
                  <a:lnTo>
                    <a:pt x="1295400" y="3567099"/>
                  </a:lnTo>
                  <a:lnTo>
                    <a:pt x="1282700" y="3618827"/>
                  </a:lnTo>
                  <a:lnTo>
                    <a:pt x="1257300" y="3661486"/>
                  </a:lnTo>
                  <a:lnTo>
                    <a:pt x="1231900" y="3696131"/>
                  </a:lnTo>
                  <a:lnTo>
                    <a:pt x="1193800" y="3723868"/>
                  </a:lnTo>
                  <a:lnTo>
                    <a:pt x="1155700" y="3745585"/>
                  </a:lnTo>
                  <a:lnTo>
                    <a:pt x="1117600" y="3761003"/>
                  </a:lnTo>
                  <a:lnTo>
                    <a:pt x="1066800" y="3768471"/>
                  </a:lnTo>
                  <a:lnTo>
                    <a:pt x="1016000" y="3766286"/>
                  </a:lnTo>
                  <a:lnTo>
                    <a:pt x="977900" y="3752786"/>
                  </a:lnTo>
                  <a:lnTo>
                    <a:pt x="927100" y="3721100"/>
                  </a:lnTo>
                  <a:lnTo>
                    <a:pt x="901700" y="3679202"/>
                  </a:lnTo>
                  <a:lnTo>
                    <a:pt x="901700" y="3546170"/>
                  </a:lnTo>
                  <a:lnTo>
                    <a:pt x="914400" y="3517354"/>
                  </a:lnTo>
                  <a:lnTo>
                    <a:pt x="927100" y="3472738"/>
                  </a:lnTo>
                  <a:lnTo>
                    <a:pt x="952500" y="3428885"/>
                  </a:lnTo>
                  <a:lnTo>
                    <a:pt x="965200" y="3385782"/>
                  </a:lnTo>
                  <a:lnTo>
                    <a:pt x="1016000" y="3301581"/>
                  </a:lnTo>
                  <a:lnTo>
                    <a:pt x="1066800" y="3219843"/>
                  </a:lnTo>
                  <a:lnTo>
                    <a:pt x="1117600" y="3140227"/>
                  </a:lnTo>
                  <a:lnTo>
                    <a:pt x="1155700" y="3101111"/>
                  </a:lnTo>
                  <a:lnTo>
                    <a:pt x="1193800" y="3062401"/>
                  </a:lnTo>
                  <a:lnTo>
                    <a:pt x="1219200" y="3024073"/>
                  </a:lnTo>
                  <a:lnTo>
                    <a:pt x="1257300" y="2986062"/>
                  </a:lnTo>
                  <a:lnTo>
                    <a:pt x="1333500" y="2910878"/>
                  </a:lnTo>
                  <a:lnTo>
                    <a:pt x="1346200" y="2962808"/>
                  </a:lnTo>
                  <a:lnTo>
                    <a:pt x="1346200" y="3014675"/>
                  </a:lnTo>
                  <a:lnTo>
                    <a:pt x="1358900" y="3066440"/>
                  </a:lnTo>
                  <a:lnTo>
                    <a:pt x="1358900" y="1936203"/>
                  </a:lnTo>
                  <a:lnTo>
                    <a:pt x="1333500" y="1895741"/>
                  </a:lnTo>
                  <a:lnTo>
                    <a:pt x="1295400" y="1855698"/>
                  </a:lnTo>
                  <a:lnTo>
                    <a:pt x="1244600" y="1776945"/>
                  </a:lnTo>
                  <a:lnTo>
                    <a:pt x="1206500" y="1738261"/>
                  </a:lnTo>
                  <a:lnTo>
                    <a:pt x="1168400" y="1700060"/>
                  </a:lnTo>
                  <a:lnTo>
                    <a:pt x="1143000" y="1662341"/>
                  </a:lnTo>
                  <a:lnTo>
                    <a:pt x="1104900" y="1625117"/>
                  </a:lnTo>
                  <a:lnTo>
                    <a:pt x="1066800" y="1588414"/>
                  </a:lnTo>
                  <a:lnTo>
                    <a:pt x="1041400" y="1552232"/>
                  </a:lnTo>
                  <a:lnTo>
                    <a:pt x="1003300" y="1516595"/>
                  </a:lnTo>
                  <a:lnTo>
                    <a:pt x="965200" y="1481505"/>
                  </a:lnTo>
                  <a:lnTo>
                    <a:pt x="927100" y="1446974"/>
                  </a:lnTo>
                  <a:lnTo>
                    <a:pt x="889000" y="1413027"/>
                  </a:lnTo>
                  <a:lnTo>
                    <a:pt x="850900" y="1379664"/>
                  </a:lnTo>
                  <a:lnTo>
                    <a:pt x="812800" y="1346898"/>
                  </a:lnTo>
                  <a:lnTo>
                    <a:pt x="774700" y="1314754"/>
                  </a:lnTo>
                  <a:lnTo>
                    <a:pt x="723900" y="1283233"/>
                  </a:lnTo>
                  <a:lnTo>
                    <a:pt x="685800" y="1252347"/>
                  </a:lnTo>
                  <a:lnTo>
                    <a:pt x="647700" y="1222121"/>
                  </a:lnTo>
                  <a:lnTo>
                    <a:pt x="596900" y="1192542"/>
                  </a:lnTo>
                  <a:lnTo>
                    <a:pt x="558800" y="1163650"/>
                  </a:lnTo>
                  <a:lnTo>
                    <a:pt x="520700" y="1135443"/>
                  </a:lnTo>
                  <a:lnTo>
                    <a:pt x="469900" y="1107935"/>
                  </a:lnTo>
                  <a:lnTo>
                    <a:pt x="431800" y="1081138"/>
                  </a:lnTo>
                  <a:lnTo>
                    <a:pt x="381000" y="1055077"/>
                  </a:lnTo>
                  <a:lnTo>
                    <a:pt x="330200" y="1029741"/>
                  </a:lnTo>
                  <a:lnTo>
                    <a:pt x="292100" y="1005154"/>
                  </a:lnTo>
                  <a:lnTo>
                    <a:pt x="241300" y="988504"/>
                  </a:lnTo>
                  <a:lnTo>
                    <a:pt x="203200" y="982357"/>
                  </a:lnTo>
                  <a:lnTo>
                    <a:pt x="152400" y="986218"/>
                  </a:lnTo>
                  <a:lnTo>
                    <a:pt x="114300" y="999553"/>
                  </a:lnTo>
                  <a:lnTo>
                    <a:pt x="76200" y="1021842"/>
                  </a:lnTo>
                  <a:lnTo>
                    <a:pt x="38100" y="1052576"/>
                  </a:lnTo>
                  <a:lnTo>
                    <a:pt x="12700" y="1091247"/>
                  </a:lnTo>
                  <a:lnTo>
                    <a:pt x="12700" y="1113955"/>
                  </a:lnTo>
                  <a:lnTo>
                    <a:pt x="0" y="1137196"/>
                  </a:lnTo>
                  <a:lnTo>
                    <a:pt x="0" y="1227632"/>
                  </a:lnTo>
                  <a:lnTo>
                    <a:pt x="12700" y="1268742"/>
                  </a:lnTo>
                  <a:lnTo>
                    <a:pt x="38100" y="1306182"/>
                  </a:lnTo>
                  <a:lnTo>
                    <a:pt x="63500" y="1338414"/>
                  </a:lnTo>
                  <a:lnTo>
                    <a:pt x="101600" y="1363916"/>
                  </a:lnTo>
                  <a:lnTo>
                    <a:pt x="152400" y="1389126"/>
                  </a:lnTo>
                  <a:lnTo>
                    <a:pt x="190500" y="1415186"/>
                  </a:lnTo>
                  <a:lnTo>
                    <a:pt x="241300" y="1442072"/>
                  </a:lnTo>
                  <a:lnTo>
                    <a:pt x="292100" y="1469758"/>
                  </a:lnTo>
                  <a:lnTo>
                    <a:pt x="330200" y="1498219"/>
                  </a:lnTo>
                  <a:lnTo>
                    <a:pt x="381000" y="1527454"/>
                  </a:lnTo>
                  <a:lnTo>
                    <a:pt x="419100" y="1557426"/>
                  </a:lnTo>
                  <a:lnTo>
                    <a:pt x="457200" y="1588109"/>
                  </a:lnTo>
                  <a:lnTo>
                    <a:pt x="508000" y="1619491"/>
                  </a:lnTo>
                  <a:lnTo>
                    <a:pt x="546100" y="1651558"/>
                  </a:lnTo>
                  <a:lnTo>
                    <a:pt x="584200" y="1684274"/>
                  </a:lnTo>
                  <a:lnTo>
                    <a:pt x="622300" y="1717636"/>
                  </a:lnTo>
                  <a:lnTo>
                    <a:pt x="660400" y="1751609"/>
                  </a:lnTo>
                  <a:lnTo>
                    <a:pt x="698500" y="1786166"/>
                  </a:lnTo>
                  <a:lnTo>
                    <a:pt x="736600" y="1821307"/>
                  </a:lnTo>
                  <a:lnTo>
                    <a:pt x="762000" y="1856994"/>
                  </a:lnTo>
                  <a:lnTo>
                    <a:pt x="800100" y="1893201"/>
                  </a:lnTo>
                  <a:lnTo>
                    <a:pt x="838200" y="1929930"/>
                  </a:lnTo>
                  <a:lnTo>
                    <a:pt x="863600" y="1967141"/>
                  </a:lnTo>
                  <a:lnTo>
                    <a:pt x="901700" y="2004834"/>
                  </a:lnTo>
                  <a:lnTo>
                    <a:pt x="927100" y="2042960"/>
                  </a:lnTo>
                  <a:lnTo>
                    <a:pt x="965200" y="2081517"/>
                  </a:lnTo>
                  <a:lnTo>
                    <a:pt x="1041400" y="2199513"/>
                  </a:lnTo>
                  <a:lnTo>
                    <a:pt x="1143000" y="2361539"/>
                  </a:lnTo>
                  <a:lnTo>
                    <a:pt x="1155700" y="2402751"/>
                  </a:lnTo>
                  <a:lnTo>
                    <a:pt x="1206500" y="2485847"/>
                  </a:lnTo>
                  <a:lnTo>
                    <a:pt x="1168400" y="2519832"/>
                  </a:lnTo>
                  <a:lnTo>
                    <a:pt x="1130300" y="2554135"/>
                  </a:lnTo>
                  <a:lnTo>
                    <a:pt x="1092200" y="2588768"/>
                  </a:lnTo>
                  <a:lnTo>
                    <a:pt x="1054100" y="2623769"/>
                  </a:lnTo>
                  <a:lnTo>
                    <a:pt x="1016000" y="2659164"/>
                  </a:lnTo>
                  <a:lnTo>
                    <a:pt x="977900" y="2694990"/>
                  </a:lnTo>
                  <a:lnTo>
                    <a:pt x="939800" y="2731262"/>
                  </a:lnTo>
                  <a:lnTo>
                    <a:pt x="914400" y="2768028"/>
                  </a:lnTo>
                  <a:lnTo>
                    <a:pt x="901700" y="2780449"/>
                  </a:lnTo>
                  <a:lnTo>
                    <a:pt x="876300" y="2805303"/>
                  </a:lnTo>
                  <a:lnTo>
                    <a:pt x="850900" y="2843111"/>
                  </a:lnTo>
                  <a:lnTo>
                    <a:pt x="812800" y="2881503"/>
                  </a:lnTo>
                  <a:lnTo>
                    <a:pt x="787400" y="2920492"/>
                  </a:lnTo>
                  <a:lnTo>
                    <a:pt x="749300" y="2960103"/>
                  </a:lnTo>
                  <a:lnTo>
                    <a:pt x="723900" y="3000375"/>
                  </a:lnTo>
                  <a:lnTo>
                    <a:pt x="698500" y="3041332"/>
                  </a:lnTo>
                  <a:lnTo>
                    <a:pt x="673100" y="3083014"/>
                  </a:lnTo>
                  <a:lnTo>
                    <a:pt x="647700" y="3125444"/>
                  </a:lnTo>
                  <a:lnTo>
                    <a:pt x="622300" y="3168650"/>
                  </a:lnTo>
                  <a:lnTo>
                    <a:pt x="596900" y="3212655"/>
                  </a:lnTo>
                  <a:lnTo>
                    <a:pt x="584200" y="3257499"/>
                  </a:lnTo>
                  <a:lnTo>
                    <a:pt x="558800" y="3303193"/>
                  </a:lnTo>
                  <a:lnTo>
                    <a:pt x="533400" y="3397313"/>
                  </a:lnTo>
                  <a:lnTo>
                    <a:pt x="495300" y="3530650"/>
                  </a:lnTo>
                  <a:lnTo>
                    <a:pt x="495300" y="3713403"/>
                  </a:lnTo>
                  <a:lnTo>
                    <a:pt x="533400" y="3845268"/>
                  </a:lnTo>
                  <a:lnTo>
                    <a:pt x="558800" y="3886873"/>
                  </a:lnTo>
                  <a:lnTo>
                    <a:pt x="584200" y="3926878"/>
                  </a:lnTo>
                  <a:lnTo>
                    <a:pt x="609600" y="3965016"/>
                  </a:lnTo>
                  <a:lnTo>
                    <a:pt x="635000" y="4001046"/>
                  </a:lnTo>
                  <a:lnTo>
                    <a:pt x="673100" y="4034713"/>
                  </a:lnTo>
                  <a:lnTo>
                    <a:pt x="711200" y="4065752"/>
                  </a:lnTo>
                  <a:lnTo>
                    <a:pt x="749300" y="4093921"/>
                  </a:lnTo>
                  <a:lnTo>
                    <a:pt x="800100" y="4118953"/>
                  </a:lnTo>
                  <a:lnTo>
                    <a:pt x="838200" y="4137164"/>
                  </a:lnTo>
                  <a:lnTo>
                    <a:pt x="889000" y="4151604"/>
                  </a:lnTo>
                  <a:lnTo>
                    <a:pt x="939800" y="4162298"/>
                  </a:lnTo>
                  <a:lnTo>
                    <a:pt x="977900" y="4169308"/>
                  </a:lnTo>
                  <a:lnTo>
                    <a:pt x="1028700" y="4172661"/>
                  </a:lnTo>
                  <a:lnTo>
                    <a:pt x="1041400" y="4172597"/>
                  </a:lnTo>
                  <a:lnTo>
                    <a:pt x="1054100" y="4172521"/>
                  </a:lnTo>
                  <a:lnTo>
                    <a:pt x="1066800" y="4172458"/>
                  </a:lnTo>
                  <a:lnTo>
                    <a:pt x="1130300" y="4168533"/>
                  </a:lnTo>
                  <a:lnTo>
                    <a:pt x="1181100" y="4161129"/>
                  </a:lnTo>
                  <a:lnTo>
                    <a:pt x="1231900" y="4150220"/>
                  </a:lnTo>
                  <a:lnTo>
                    <a:pt x="1270000" y="4135844"/>
                  </a:lnTo>
                  <a:lnTo>
                    <a:pt x="1320800" y="4118038"/>
                  </a:lnTo>
                  <a:lnTo>
                    <a:pt x="1358900" y="4096842"/>
                  </a:lnTo>
                  <a:lnTo>
                    <a:pt x="1409700" y="4072280"/>
                  </a:lnTo>
                  <a:lnTo>
                    <a:pt x="1447800" y="4044416"/>
                  </a:lnTo>
                  <a:lnTo>
                    <a:pt x="1485900" y="4004627"/>
                  </a:lnTo>
                  <a:lnTo>
                    <a:pt x="1536700" y="3962247"/>
                  </a:lnTo>
                  <a:lnTo>
                    <a:pt x="1562100" y="3917924"/>
                  </a:lnTo>
                  <a:lnTo>
                    <a:pt x="1600200" y="3872331"/>
                  </a:lnTo>
                  <a:lnTo>
                    <a:pt x="1651000" y="3779990"/>
                  </a:lnTo>
                  <a:lnTo>
                    <a:pt x="1663700" y="3734562"/>
                  </a:lnTo>
                  <a:lnTo>
                    <a:pt x="1689100" y="3690518"/>
                  </a:lnTo>
                  <a:lnTo>
                    <a:pt x="1701800" y="3648519"/>
                  </a:lnTo>
                  <a:lnTo>
                    <a:pt x="1701800" y="3609225"/>
                  </a:lnTo>
                  <a:lnTo>
                    <a:pt x="1752600" y="3415715"/>
                  </a:lnTo>
                  <a:lnTo>
                    <a:pt x="1752600" y="3317087"/>
                  </a:lnTo>
                  <a:lnTo>
                    <a:pt x="1765300" y="3267367"/>
                  </a:lnTo>
                  <a:lnTo>
                    <a:pt x="1765300" y="3066465"/>
                  </a:lnTo>
                  <a:lnTo>
                    <a:pt x="1752600" y="3015831"/>
                  </a:lnTo>
                  <a:lnTo>
                    <a:pt x="1752600" y="2914243"/>
                  </a:lnTo>
                  <a:lnTo>
                    <a:pt x="1714500" y="2761399"/>
                  </a:lnTo>
                  <a:lnTo>
                    <a:pt x="1714500" y="2710408"/>
                  </a:lnTo>
                  <a:lnTo>
                    <a:pt x="1701800" y="2659456"/>
                  </a:lnTo>
                  <a:lnTo>
                    <a:pt x="1676400" y="2608542"/>
                  </a:lnTo>
                  <a:lnTo>
                    <a:pt x="1841500" y="2471788"/>
                  </a:lnTo>
                  <a:lnTo>
                    <a:pt x="1917700" y="2408047"/>
                  </a:lnTo>
                  <a:lnTo>
                    <a:pt x="1993900" y="2343353"/>
                  </a:lnTo>
                  <a:lnTo>
                    <a:pt x="2032000" y="2310587"/>
                  </a:lnTo>
                  <a:lnTo>
                    <a:pt x="2070100" y="2277516"/>
                  </a:lnTo>
                  <a:lnTo>
                    <a:pt x="2108200" y="2244115"/>
                  </a:lnTo>
                  <a:lnTo>
                    <a:pt x="2146300" y="2210371"/>
                  </a:lnTo>
                  <a:lnTo>
                    <a:pt x="2171700" y="2176259"/>
                  </a:lnTo>
                  <a:lnTo>
                    <a:pt x="2209800" y="2141740"/>
                  </a:lnTo>
                  <a:lnTo>
                    <a:pt x="2247900" y="2106815"/>
                  </a:lnTo>
                  <a:lnTo>
                    <a:pt x="2286000" y="2071458"/>
                  </a:lnTo>
                  <a:lnTo>
                    <a:pt x="2311400" y="2035632"/>
                  </a:lnTo>
                  <a:lnTo>
                    <a:pt x="2362200" y="2122767"/>
                  </a:lnTo>
                  <a:lnTo>
                    <a:pt x="2374900" y="2166188"/>
                  </a:lnTo>
                  <a:lnTo>
                    <a:pt x="2451100" y="2295982"/>
                  </a:lnTo>
                  <a:lnTo>
                    <a:pt x="2489200" y="2386850"/>
                  </a:lnTo>
                  <a:lnTo>
                    <a:pt x="2616200" y="2628277"/>
                  </a:lnTo>
                  <a:lnTo>
                    <a:pt x="2641600" y="2671165"/>
                  </a:lnTo>
                  <a:lnTo>
                    <a:pt x="2654300" y="2714675"/>
                  </a:lnTo>
                  <a:lnTo>
                    <a:pt x="2679700" y="2758783"/>
                  </a:lnTo>
                  <a:lnTo>
                    <a:pt x="2692400" y="2799664"/>
                  </a:lnTo>
                  <a:lnTo>
                    <a:pt x="2692400" y="1892071"/>
                  </a:lnTo>
                  <a:lnTo>
                    <a:pt x="2667000" y="1848205"/>
                  </a:lnTo>
                  <a:lnTo>
                    <a:pt x="2654300" y="1804301"/>
                  </a:lnTo>
                  <a:lnTo>
                    <a:pt x="2603500" y="1716328"/>
                  </a:lnTo>
                  <a:lnTo>
                    <a:pt x="2590800" y="1672272"/>
                  </a:lnTo>
                  <a:lnTo>
                    <a:pt x="2667000" y="1540332"/>
                  </a:lnTo>
                  <a:lnTo>
                    <a:pt x="2679700" y="1495552"/>
                  </a:lnTo>
                  <a:lnTo>
                    <a:pt x="2692400" y="1468945"/>
                  </a:lnTo>
                  <a:lnTo>
                    <a:pt x="2692400" y="86537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86419" y="3325442"/>
              <a:ext cx="723751" cy="72358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58134" y="5151548"/>
              <a:ext cx="723751" cy="72358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6188221" y="998855"/>
            <a:ext cx="108394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7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786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20"/>
              </a:spcBef>
            </a:pPr>
            <a:r>
              <a:rPr dirty="0" sz="6550" spc="-280">
                <a:solidFill>
                  <a:srgbClr val="81D3B4"/>
                </a:solidFill>
              </a:rPr>
              <a:t>Motivation</a:t>
            </a:r>
            <a:r>
              <a:rPr dirty="0" sz="6550" spc="-635">
                <a:solidFill>
                  <a:srgbClr val="81D3B4"/>
                </a:solidFill>
              </a:rPr>
              <a:t> </a:t>
            </a:r>
            <a:r>
              <a:rPr dirty="0" sz="6550" spc="-1460">
                <a:solidFill>
                  <a:srgbClr val="81D3B4"/>
                </a:solidFill>
              </a:rPr>
              <a:t>&amp;</a:t>
            </a:r>
            <a:r>
              <a:rPr dirty="0" sz="6550" spc="-630">
                <a:solidFill>
                  <a:srgbClr val="81D3B4"/>
                </a:solidFill>
              </a:rPr>
              <a:t> </a:t>
            </a:r>
            <a:r>
              <a:rPr dirty="0" sz="6550" spc="-385">
                <a:solidFill>
                  <a:srgbClr val="81D3B4"/>
                </a:solidFill>
              </a:rPr>
              <a:t>Project</a:t>
            </a:r>
            <a:r>
              <a:rPr dirty="0" sz="6550" spc="-630">
                <a:solidFill>
                  <a:srgbClr val="81D3B4"/>
                </a:solidFill>
              </a:rPr>
              <a:t> </a:t>
            </a:r>
            <a:r>
              <a:rPr dirty="0" sz="6550" spc="-515">
                <a:solidFill>
                  <a:srgbClr val="81D3B4"/>
                </a:solidFill>
              </a:rPr>
              <a:t>Goals</a:t>
            </a:r>
            <a:endParaRPr sz="6550"/>
          </a:p>
        </p:txBody>
      </p: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2000" y="2146929"/>
            <a:ext cx="104775" cy="1047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2000" y="3537579"/>
            <a:ext cx="104775" cy="10477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2000" y="4928229"/>
            <a:ext cx="104775" cy="104774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8743" y="7593324"/>
            <a:ext cx="95250" cy="9524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8743" y="8012424"/>
            <a:ext cx="95250" cy="9524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38743" y="8431524"/>
            <a:ext cx="95250" cy="9524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68868" y="1885931"/>
            <a:ext cx="12205970" cy="676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760" marR="970280">
              <a:lnSpc>
                <a:spcPct val="117800"/>
              </a:lnSpc>
              <a:spcBef>
                <a:spcPts val="100"/>
              </a:spcBef>
            </a:pPr>
            <a:r>
              <a:rPr dirty="0" sz="2600" spc="105">
                <a:solidFill>
                  <a:srgbClr val="5CE1E6"/>
                </a:solidFill>
                <a:latin typeface="Tahoma"/>
                <a:cs typeface="Tahoma"/>
              </a:rPr>
              <a:t>Direct</a:t>
            </a:r>
            <a:r>
              <a:rPr dirty="0" sz="2600" spc="-85">
                <a:solidFill>
                  <a:srgbClr val="5CE1E6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5CE1E6"/>
                </a:solidFill>
                <a:latin typeface="Tahoma"/>
                <a:cs typeface="Tahoma"/>
              </a:rPr>
              <a:t>Impact:</a:t>
            </a:r>
            <a:r>
              <a:rPr dirty="0" sz="2600" spc="-85">
                <a:solidFill>
                  <a:srgbClr val="5CE1E6"/>
                </a:solidFill>
                <a:latin typeface="Tahoma"/>
                <a:cs typeface="Tahoma"/>
              </a:rPr>
              <a:t> </a:t>
            </a:r>
            <a:r>
              <a:rPr dirty="0" sz="2600" spc="165">
                <a:solidFill>
                  <a:srgbClr val="FFFFFF"/>
                </a:solidFill>
                <a:latin typeface="Tahoma"/>
                <a:cs typeface="Tahoma"/>
              </a:rPr>
              <a:t>Address</a:t>
            </a:r>
            <a:r>
              <a:rPr dirty="0" sz="26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6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FFFFFF"/>
                </a:solidFill>
                <a:latin typeface="Tahoma"/>
                <a:cs typeface="Tahoma"/>
              </a:rPr>
              <a:t>pressing</a:t>
            </a:r>
            <a:r>
              <a:rPr dirty="0" sz="26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Tahoma"/>
                <a:cs typeface="Tahoma"/>
              </a:rPr>
              <a:t>urban</a:t>
            </a:r>
            <a:r>
              <a:rPr dirty="0" sz="2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65">
                <a:solidFill>
                  <a:srgbClr val="FFFFFF"/>
                </a:solidFill>
                <a:latin typeface="Tahoma"/>
                <a:cs typeface="Tahoma"/>
              </a:rPr>
              <a:t>issues—</a:t>
            </a:r>
            <a:r>
              <a:rPr dirty="0" sz="2600" spc="100">
                <a:solidFill>
                  <a:srgbClr val="FFFFFF"/>
                </a:solidFill>
                <a:latin typeface="Tahoma"/>
                <a:cs typeface="Tahoma"/>
              </a:rPr>
              <a:t>traffic </a:t>
            </a:r>
            <a:r>
              <a:rPr dirty="0" sz="2600" spc="110">
                <a:solidFill>
                  <a:srgbClr val="FFFFFF"/>
                </a:solidFill>
                <a:latin typeface="Tahoma"/>
                <a:cs typeface="Tahoma"/>
              </a:rPr>
              <a:t>congestion.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238760" marR="64769">
              <a:lnSpc>
                <a:spcPct val="117800"/>
              </a:lnSpc>
            </a:pPr>
            <a:r>
              <a:rPr dirty="0" sz="2600" spc="140">
                <a:solidFill>
                  <a:srgbClr val="5CE1E6"/>
                </a:solidFill>
                <a:latin typeface="Tahoma"/>
                <a:cs typeface="Tahoma"/>
              </a:rPr>
              <a:t>Deep</a:t>
            </a:r>
            <a:r>
              <a:rPr dirty="0" sz="2600" spc="-110">
                <a:solidFill>
                  <a:srgbClr val="5CE1E6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5CE1E6"/>
                </a:solidFill>
                <a:latin typeface="Tahoma"/>
                <a:cs typeface="Tahoma"/>
              </a:rPr>
              <a:t>Learning</a:t>
            </a:r>
            <a:r>
              <a:rPr dirty="0" sz="2600" spc="-110">
                <a:solidFill>
                  <a:srgbClr val="5CE1E6"/>
                </a:solidFill>
                <a:latin typeface="Tahoma"/>
                <a:cs typeface="Tahoma"/>
              </a:rPr>
              <a:t> </a:t>
            </a:r>
            <a:r>
              <a:rPr dirty="0" sz="2600" spc="95">
                <a:solidFill>
                  <a:srgbClr val="5CE1E6"/>
                </a:solidFill>
                <a:latin typeface="Tahoma"/>
                <a:cs typeface="Tahoma"/>
              </a:rPr>
              <a:t>Application</a:t>
            </a:r>
            <a:r>
              <a:rPr dirty="0" sz="2600" spc="9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FFFFFF"/>
                </a:solidFill>
                <a:latin typeface="Tahoma"/>
                <a:cs typeface="Tahoma"/>
              </a:rPr>
              <a:t>Opportunity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FFFFFF"/>
                </a:solidFill>
                <a:latin typeface="Tahoma"/>
                <a:cs typeface="Tahoma"/>
              </a:rPr>
              <a:t>apply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FFFFFF"/>
                </a:solidFill>
                <a:latin typeface="Tahoma"/>
                <a:cs typeface="Tahoma"/>
              </a:rPr>
              <a:t>state-of-</a:t>
            </a:r>
            <a:r>
              <a:rPr dirty="0" sz="2600" spc="150">
                <a:solidFill>
                  <a:srgbClr val="FFFFFF"/>
                </a:solidFill>
                <a:latin typeface="Tahoma"/>
                <a:cs typeface="Tahoma"/>
              </a:rPr>
              <a:t>the-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art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FFFFFF"/>
                </a:solidFill>
                <a:latin typeface="Tahoma"/>
                <a:cs typeface="Tahoma"/>
              </a:rPr>
              <a:t>Computer </a:t>
            </a:r>
            <a:r>
              <a:rPr dirty="0" sz="2600" spc="130">
                <a:solidFill>
                  <a:srgbClr val="FFFFFF"/>
                </a:solidFill>
                <a:latin typeface="Tahoma"/>
                <a:cs typeface="Tahoma"/>
              </a:rPr>
              <a:t>Vision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Tahoma"/>
                <a:cs typeface="Tahoma"/>
              </a:rPr>
              <a:t>(Object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Detection)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dirty="0" sz="2600" spc="114">
                <a:solidFill>
                  <a:srgbClr val="FFFFFF"/>
                </a:solidFill>
                <a:latin typeface="Tahoma"/>
                <a:cs typeface="Tahoma"/>
              </a:rPr>
              <a:t>world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FFFFFF"/>
                </a:solidFill>
                <a:latin typeface="Tahoma"/>
                <a:cs typeface="Tahoma"/>
              </a:rPr>
              <a:t>problem.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600">
              <a:latin typeface="Tahoma"/>
              <a:cs typeface="Tahoma"/>
            </a:endParaRPr>
          </a:p>
          <a:p>
            <a:pPr marL="238760" marR="5080">
              <a:lnSpc>
                <a:spcPct val="117800"/>
              </a:lnSpc>
            </a:pPr>
            <a:r>
              <a:rPr dirty="0" sz="2600" spc="85">
                <a:solidFill>
                  <a:srgbClr val="5CE1E6"/>
                </a:solidFill>
                <a:latin typeface="Tahoma"/>
                <a:cs typeface="Tahoma"/>
              </a:rPr>
              <a:t>Scalability</a:t>
            </a:r>
            <a:r>
              <a:rPr dirty="0" sz="2600" spc="85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5">
                <a:solidFill>
                  <a:srgbClr val="FFFFFF"/>
                </a:solidFill>
                <a:latin typeface="Tahoma"/>
                <a:cs typeface="Tahoma"/>
              </a:rPr>
              <a:t>camera-</a:t>
            </a:r>
            <a:r>
              <a:rPr dirty="0" sz="2600" spc="165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55">
                <a:solidFill>
                  <a:srgbClr val="FFFFFF"/>
                </a:solidFill>
                <a:latin typeface="Tahoma"/>
                <a:cs typeface="Tahoma"/>
              </a:rPr>
              <a:t>system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80">
                <a:solidFill>
                  <a:srgbClr val="FFFFFF"/>
                </a:solidFill>
                <a:latin typeface="Tahoma"/>
                <a:cs typeface="Tahoma"/>
              </a:rPr>
              <a:t>cost-</a:t>
            </a:r>
            <a:r>
              <a:rPr dirty="0" sz="2600" spc="130">
                <a:solidFill>
                  <a:srgbClr val="FFFFFF"/>
                </a:solidFill>
                <a:latin typeface="Tahoma"/>
                <a:cs typeface="Tahoma"/>
              </a:rPr>
              <a:t>effective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FFFFFF"/>
                </a:solidFill>
                <a:latin typeface="Tahoma"/>
                <a:cs typeface="Tahoma"/>
              </a:rPr>
              <a:t>easily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deployed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4">
                <a:solidFill>
                  <a:srgbClr val="FFFFFF"/>
                </a:solidFill>
                <a:latin typeface="Tahoma"/>
                <a:cs typeface="Tahoma"/>
              </a:rPr>
              <a:t>using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FFFFFF"/>
                </a:solidFill>
                <a:latin typeface="Tahoma"/>
                <a:cs typeface="Tahoma"/>
              </a:rPr>
              <a:t>existing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city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80">
                <a:solidFill>
                  <a:srgbClr val="FFFFFF"/>
                </a:solidFill>
                <a:latin typeface="Tahoma"/>
                <a:cs typeface="Tahoma"/>
              </a:rPr>
              <a:t>infrastructure.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800" spc="125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dirty="0" sz="2800" spc="125">
                <a:solidFill>
                  <a:srgbClr val="C1FF72"/>
                </a:solidFill>
                <a:latin typeface="Tahoma"/>
                <a:cs typeface="Tahoma"/>
              </a:rPr>
              <a:t>ey</a:t>
            </a:r>
            <a:r>
              <a:rPr dirty="0" sz="2800" spc="-130">
                <a:solidFill>
                  <a:srgbClr val="C1FF72"/>
                </a:solidFill>
                <a:latin typeface="Tahoma"/>
                <a:cs typeface="Tahoma"/>
              </a:rPr>
              <a:t> </a:t>
            </a:r>
            <a:r>
              <a:rPr dirty="0" sz="2800" spc="150">
                <a:solidFill>
                  <a:srgbClr val="C1FF72"/>
                </a:solidFill>
                <a:latin typeface="Tahoma"/>
                <a:cs typeface="Tahoma"/>
              </a:rPr>
              <a:t>Goals</a:t>
            </a:r>
            <a:r>
              <a:rPr dirty="0" sz="2800" spc="-125">
                <a:solidFill>
                  <a:srgbClr val="C1FF72"/>
                </a:solidFill>
                <a:latin typeface="Tahoma"/>
                <a:cs typeface="Tahoma"/>
              </a:rPr>
              <a:t> </a:t>
            </a:r>
            <a:r>
              <a:rPr dirty="0" sz="2800" spc="110">
                <a:solidFill>
                  <a:srgbClr val="C1FF72"/>
                </a:solidFill>
                <a:latin typeface="Tahoma"/>
                <a:cs typeface="Tahoma"/>
              </a:rPr>
              <a:t>(By</a:t>
            </a:r>
            <a:r>
              <a:rPr dirty="0" sz="2800" spc="-125">
                <a:solidFill>
                  <a:srgbClr val="C1FF72"/>
                </a:solidFill>
                <a:latin typeface="Tahoma"/>
                <a:cs typeface="Tahoma"/>
              </a:rPr>
              <a:t> </a:t>
            </a:r>
            <a:r>
              <a:rPr dirty="0" sz="2800" spc="135">
                <a:solidFill>
                  <a:srgbClr val="C1FF72"/>
                </a:solidFill>
                <a:latin typeface="Tahoma"/>
                <a:cs typeface="Tahoma"/>
              </a:rPr>
              <a:t>End</a:t>
            </a:r>
            <a:r>
              <a:rPr dirty="0" sz="2800" spc="-125">
                <a:solidFill>
                  <a:srgbClr val="C1FF72"/>
                </a:solidFill>
                <a:latin typeface="Tahoma"/>
                <a:cs typeface="Tahoma"/>
              </a:rPr>
              <a:t> </a:t>
            </a:r>
            <a:r>
              <a:rPr dirty="0" sz="2800" spc="140">
                <a:solidFill>
                  <a:srgbClr val="C1FF72"/>
                </a:solidFill>
                <a:latin typeface="Tahoma"/>
                <a:cs typeface="Tahoma"/>
              </a:rPr>
              <a:t>of</a:t>
            </a:r>
            <a:r>
              <a:rPr dirty="0" sz="2800" spc="-130">
                <a:solidFill>
                  <a:srgbClr val="C1FF72"/>
                </a:solidFill>
                <a:latin typeface="Tahoma"/>
                <a:cs typeface="Tahoma"/>
              </a:rPr>
              <a:t> </a:t>
            </a:r>
            <a:r>
              <a:rPr dirty="0" sz="2800" spc="55">
                <a:solidFill>
                  <a:srgbClr val="C1FF72"/>
                </a:solidFill>
                <a:latin typeface="Tahoma"/>
                <a:cs typeface="Tahoma"/>
              </a:rPr>
              <a:t>Project)</a:t>
            </a:r>
            <a:r>
              <a:rPr dirty="0" sz="2800" spc="55">
                <a:solidFill>
                  <a:srgbClr val="0097B1"/>
                </a:solidFill>
                <a:latin typeface="Tahoma"/>
                <a:cs typeface="Tahoma"/>
              </a:rPr>
              <a:t>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800">
              <a:latin typeface="Tahoma"/>
              <a:cs typeface="Tahoma"/>
            </a:endParaRPr>
          </a:p>
          <a:p>
            <a:pPr marL="530225" marR="4166870">
              <a:lnSpc>
                <a:spcPct val="114599"/>
              </a:lnSpc>
            </a:pPr>
            <a:r>
              <a:rPr dirty="0" sz="2400" spc="130">
                <a:solidFill>
                  <a:srgbClr val="FFFFFF"/>
                </a:solidFill>
                <a:latin typeface="Tahoma"/>
                <a:cs typeface="Tahoma"/>
              </a:rPr>
              <a:t>Achieve</a:t>
            </a:r>
            <a:r>
              <a:rPr dirty="0" sz="2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dirty="0" sz="2400" spc="60">
                <a:solidFill>
                  <a:srgbClr val="FFFFFF"/>
                </a:solidFill>
                <a:latin typeface="Tahoma"/>
                <a:cs typeface="Tahoma"/>
              </a:rPr>
              <a:t>time,</a:t>
            </a:r>
            <a:r>
              <a:rPr dirty="0" sz="24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Tahoma"/>
                <a:cs typeface="Tahoma"/>
              </a:rPr>
              <a:t>high-</a:t>
            </a:r>
            <a:r>
              <a:rPr dirty="0" sz="2400" spc="145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dirty="0" sz="2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ahoma"/>
                <a:cs typeface="Tahoma"/>
              </a:rPr>
              <a:t>vehicle</a:t>
            </a:r>
            <a:r>
              <a:rPr dirty="0" sz="2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detection. </a:t>
            </a:r>
            <a:r>
              <a:rPr dirty="0" sz="2400" spc="60">
                <a:solidFill>
                  <a:srgbClr val="FFFFFF"/>
                </a:solidFill>
                <a:latin typeface="Tahoma"/>
                <a:cs typeface="Tahoma"/>
              </a:rPr>
              <a:t>Implement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ahoma"/>
                <a:cs typeface="Tahoma"/>
              </a:rPr>
              <a:t>adaptive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Timer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ahoma"/>
                <a:cs typeface="Tahoma"/>
              </a:rPr>
              <a:t>Logic.</a:t>
            </a:r>
            <a:endParaRPr sz="2400">
              <a:latin typeface="Tahoma"/>
              <a:cs typeface="Tahoma"/>
            </a:endParaRPr>
          </a:p>
          <a:p>
            <a:pPr marL="530225">
              <a:lnSpc>
                <a:spcPct val="100000"/>
              </a:lnSpc>
              <a:spcBef>
                <a:spcPts val="420"/>
              </a:spcBef>
            </a:pPr>
            <a:r>
              <a:rPr dirty="0" sz="2400" spc="130">
                <a:solidFill>
                  <a:srgbClr val="FFFFFF"/>
                </a:solidFill>
                <a:latin typeface="Tahoma"/>
                <a:cs typeface="Tahoma"/>
              </a:rPr>
              <a:t>Reduce</a:t>
            </a:r>
            <a:r>
              <a:rPr dirty="0" sz="2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average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ahoma"/>
                <a:cs typeface="Tahoma"/>
              </a:rPr>
              <a:t>waiting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5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X%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(Fill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2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target</a:t>
            </a:r>
            <a:r>
              <a:rPr dirty="0" sz="24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ahoma"/>
                <a:cs typeface="Tahoma"/>
              </a:rPr>
              <a:t>number).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32630" y="8777926"/>
            <a:ext cx="1923414" cy="476250"/>
            <a:chOff x="15332630" y="8777926"/>
            <a:chExt cx="1923414" cy="47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332622" y="8777934"/>
              <a:ext cx="1923414" cy="476250"/>
            </a:xfrm>
            <a:custGeom>
              <a:avLst/>
              <a:gdLst/>
              <a:ahLst/>
              <a:cxnLst/>
              <a:rect l="l" t="t" r="r" b="b"/>
              <a:pathLst>
                <a:path w="1923415" h="476250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6185542" y="998855"/>
            <a:ext cx="10864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8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1982" y="361663"/>
            <a:ext cx="564388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20"/>
              <a:t>Literature</a:t>
            </a:r>
            <a:r>
              <a:rPr dirty="0" sz="5200" spc="-475"/>
              <a:t> </a:t>
            </a:r>
            <a:r>
              <a:rPr dirty="0" sz="5200" spc="-315"/>
              <a:t>Survey</a:t>
            </a:r>
            <a:endParaRPr sz="52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3564907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164982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765057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6565282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165357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765432"/>
            <a:ext cx="152400" cy="1523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871595" y="1565330"/>
            <a:ext cx="14010640" cy="6518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0895">
              <a:lnSpc>
                <a:spcPct val="100000"/>
              </a:lnSpc>
              <a:spcBef>
                <a:spcPts val="100"/>
              </a:spcBef>
            </a:pP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Dynamic</a:t>
            </a:r>
            <a:r>
              <a:rPr dirty="0" sz="3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i="1">
                <a:solidFill>
                  <a:srgbClr val="FFFFFF"/>
                </a:solidFill>
                <a:latin typeface="Verdana"/>
                <a:cs typeface="Verdana"/>
              </a:rPr>
              <a:t>Traffic</a:t>
            </a:r>
            <a:r>
              <a:rPr dirty="0" sz="3000" spc="-25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50" i="1">
                <a:solidFill>
                  <a:srgbClr val="FFFFFF"/>
                </a:solidFill>
                <a:latin typeface="Verdana"/>
                <a:cs typeface="Verdana"/>
              </a:rPr>
              <a:t>Light</a:t>
            </a:r>
            <a:r>
              <a:rPr dirty="0" sz="3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dirty="0" sz="3000" spc="-25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0" i="1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dirty="0" sz="3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5" i="1">
                <a:solidFill>
                  <a:srgbClr val="FFFFFF"/>
                </a:solidFill>
                <a:latin typeface="Verdana"/>
                <a:cs typeface="Verdana"/>
              </a:rPr>
              <a:t>using</a:t>
            </a:r>
            <a:r>
              <a:rPr dirty="0" sz="3000" spc="-25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225" i="1">
                <a:solidFill>
                  <a:srgbClr val="FFFFFF"/>
                </a:solidFill>
                <a:latin typeface="Verdana"/>
                <a:cs typeface="Verdana"/>
              </a:rPr>
              <a:t>AI</a:t>
            </a:r>
            <a:r>
              <a:rPr dirty="0" sz="3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i="1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3000" spc="-25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80" i="1">
                <a:solidFill>
                  <a:srgbClr val="FFFFFF"/>
                </a:solidFill>
                <a:latin typeface="Verdana"/>
                <a:cs typeface="Verdana"/>
              </a:rPr>
              <a:t>ML</a:t>
            </a:r>
            <a:r>
              <a:rPr dirty="0" sz="3000" spc="-254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910" i="1">
                <a:solidFill>
                  <a:srgbClr val="FFFFFF"/>
                </a:solidFill>
                <a:latin typeface="Verdana"/>
                <a:cs typeface="Verdana"/>
              </a:rPr>
              <a:t>~</a:t>
            </a:r>
            <a:r>
              <a:rPr dirty="0" sz="3000" spc="-2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Verdana"/>
                <a:cs typeface="Verdana"/>
              </a:rPr>
              <a:t>IJERCSE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3400" spc="-240">
                <a:solidFill>
                  <a:srgbClr val="FFFFFF"/>
                </a:solidFill>
                <a:latin typeface="Arial Black"/>
                <a:cs typeface="Arial Black"/>
              </a:rPr>
              <a:t>Paper</a:t>
            </a:r>
            <a:r>
              <a:rPr dirty="0" sz="34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29">
                <a:solidFill>
                  <a:srgbClr val="FFFFFF"/>
                </a:solidFill>
                <a:latin typeface="Arial Black"/>
                <a:cs typeface="Arial Black"/>
              </a:rPr>
              <a:t>Summary</a:t>
            </a:r>
            <a:r>
              <a:rPr dirty="0" sz="34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3400">
              <a:latin typeface="Arial Black"/>
              <a:cs typeface="Arial Black"/>
            </a:endParaRPr>
          </a:p>
          <a:p>
            <a:pPr marL="746125" marR="5080">
              <a:lnSpc>
                <a:spcPct val="115799"/>
              </a:lnSpc>
              <a:spcBef>
                <a:spcPts val="5"/>
              </a:spcBef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Raspberry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Lucida Sans Unicode"/>
                <a:cs typeface="Lucida Sans Unicode"/>
              </a:rPr>
              <a:t>Pi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camera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sensors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adaptive</a:t>
            </a:r>
            <a:r>
              <a:rPr dirty="0" sz="34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traffic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control </a:t>
            </a:r>
            <a:r>
              <a:rPr dirty="0" sz="3400" spc="90">
                <a:solidFill>
                  <a:srgbClr val="FFFFFF"/>
                </a:solidFill>
                <a:latin typeface="Lucida Sans Unicode"/>
                <a:cs typeface="Lucida Sans Unicode"/>
              </a:rPr>
              <a:t>Python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OpenCV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(image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processing)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Timer</a:t>
            </a:r>
            <a:r>
              <a:rPr dirty="0" sz="340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formula: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4">
                <a:solidFill>
                  <a:srgbClr val="FFFFFF"/>
                </a:solidFill>
                <a:latin typeface="Lucida Sans Unicode"/>
                <a:cs typeface="Lucida Sans Unicode"/>
              </a:rPr>
              <a:t>15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(Vehicle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Count</a:t>
            </a:r>
            <a:r>
              <a:rPr dirty="0" sz="340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84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Length),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60">
                <a:solidFill>
                  <a:srgbClr val="FFFFFF"/>
                </a:solidFill>
                <a:latin typeface="Lucida Sans Unicode"/>
                <a:cs typeface="Lucida Sans Unicode"/>
              </a:rPr>
              <a:t>max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40">
                <a:solidFill>
                  <a:srgbClr val="FFFFFF"/>
                </a:solidFill>
                <a:latin typeface="Lucida Sans Unicode"/>
                <a:cs typeface="Lucida Sans Unicode"/>
              </a:rPr>
              <a:t>90s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400" spc="-215">
                <a:solidFill>
                  <a:srgbClr val="FFFFFF"/>
                </a:solidFill>
                <a:latin typeface="Arial Black"/>
                <a:cs typeface="Arial Black"/>
              </a:rPr>
              <a:t>Limitations</a:t>
            </a:r>
            <a:r>
              <a:rPr dirty="0" sz="3400" spc="-2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3400">
              <a:latin typeface="Arial Black"/>
              <a:cs typeface="Arial Black"/>
            </a:endParaRPr>
          </a:p>
          <a:p>
            <a:pPr algn="just" marL="746125" marR="1557020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3400" spc="-2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AI/ML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models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Lucida Sans Unicode"/>
                <a:cs typeface="Lucida Sans Unicode"/>
              </a:rPr>
              <a:t>(just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basic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image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processing)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linear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timer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0">
                <a:solidFill>
                  <a:srgbClr val="FFFFFF"/>
                </a:solidFill>
                <a:latin typeface="Lucida Sans Unicode"/>
                <a:cs typeface="Lucida Sans Unicode"/>
              </a:rPr>
              <a:t>logic,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suitable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5">
                <a:solidFill>
                  <a:srgbClr val="FFFFFF"/>
                </a:solidFill>
                <a:latin typeface="Lucida Sans Unicode"/>
                <a:cs typeface="Lucida Sans Unicode"/>
              </a:rPr>
              <a:t>complex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traffic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34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world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Lucida Sans Unicode"/>
                <a:cs typeface="Lucida Sans Unicode"/>
              </a:rPr>
              <a:t>testing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emergency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32630" y="8777926"/>
            <a:ext cx="1923414" cy="476250"/>
            <a:chOff x="15332630" y="8777926"/>
            <a:chExt cx="1923414" cy="47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332622" y="8777934"/>
              <a:ext cx="1923414" cy="476250"/>
            </a:xfrm>
            <a:custGeom>
              <a:avLst/>
              <a:gdLst/>
              <a:ahLst/>
              <a:cxnLst/>
              <a:rect l="l" t="t" r="r" b="b"/>
              <a:pathLst>
                <a:path w="1923415" h="476250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6185542" y="998855"/>
            <a:ext cx="10864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8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1982" y="361663"/>
            <a:ext cx="564388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20"/>
              <a:t>Literature</a:t>
            </a:r>
            <a:r>
              <a:rPr dirty="0" sz="5200" spc="-475"/>
              <a:t> </a:t>
            </a:r>
            <a:r>
              <a:rPr dirty="0" sz="5200" spc="-315"/>
              <a:t>Survey</a:t>
            </a:r>
            <a:endParaRPr sz="52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3564907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164982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765057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5365132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165357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765432"/>
            <a:ext cx="152400" cy="1523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8365507"/>
            <a:ext cx="152400" cy="1523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871595" y="1565330"/>
            <a:ext cx="13910944" cy="711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3730">
              <a:lnSpc>
                <a:spcPct val="100000"/>
              </a:lnSpc>
              <a:spcBef>
                <a:spcPts val="100"/>
              </a:spcBef>
            </a:pP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Dynamic</a:t>
            </a:r>
            <a:r>
              <a:rPr dirty="0" sz="3000" spc="-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i="1">
                <a:solidFill>
                  <a:srgbClr val="FFFFFF"/>
                </a:solidFill>
                <a:latin typeface="Verdana"/>
                <a:cs typeface="Verdana"/>
              </a:rPr>
              <a:t>Traffic</a:t>
            </a:r>
            <a:r>
              <a:rPr dirty="0" sz="3000" spc="-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50" i="1">
                <a:solidFill>
                  <a:srgbClr val="FFFFFF"/>
                </a:solidFill>
                <a:latin typeface="Verdana"/>
                <a:cs typeface="Verdana"/>
              </a:rPr>
              <a:t>Light</a:t>
            </a:r>
            <a:r>
              <a:rPr dirty="0" sz="3000" spc="-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Management</a:t>
            </a:r>
            <a:r>
              <a:rPr dirty="0" sz="3000" spc="-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dirty="0" sz="3000" spc="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910" i="1">
                <a:solidFill>
                  <a:srgbClr val="FFFFFF"/>
                </a:solidFill>
                <a:latin typeface="Verdana"/>
                <a:cs typeface="Verdana"/>
              </a:rPr>
              <a:t>~</a:t>
            </a:r>
            <a:r>
              <a:rPr dirty="0" sz="3000" spc="-32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Verdana"/>
                <a:cs typeface="Verdana"/>
              </a:rPr>
              <a:t>IRJET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3400" spc="-240">
                <a:solidFill>
                  <a:srgbClr val="FFFFFF"/>
                </a:solidFill>
                <a:latin typeface="Arial Black"/>
                <a:cs typeface="Arial Black"/>
              </a:rPr>
              <a:t>Paper</a:t>
            </a:r>
            <a:r>
              <a:rPr dirty="0" sz="34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75">
                <a:solidFill>
                  <a:srgbClr val="FFFFFF"/>
                </a:solidFill>
                <a:latin typeface="Arial Black"/>
                <a:cs typeface="Arial Black"/>
              </a:rPr>
              <a:t>Summary</a:t>
            </a:r>
            <a:endParaRPr sz="3400">
              <a:latin typeface="Arial Black"/>
              <a:cs typeface="Arial Black"/>
            </a:endParaRPr>
          </a:p>
          <a:p>
            <a:pPr marL="746125" marR="5080">
              <a:lnSpc>
                <a:spcPct val="115799"/>
              </a:lnSpc>
              <a:spcBef>
                <a:spcPts val="5"/>
              </a:spcBef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Uses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0">
                <a:solidFill>
                  <a:srgbClr val="FFFFFF"/>
                </a:solidFill>
                <a:latin typeface="Lucida Sans Unicode"/>
                <a:cs typeface="Lucida Sans Unicode"/>
              </a:rPr>
              <a:t>YOLO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(deep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5">
                <a:solidFill>
                  <a:srgbClr val="FFFFFF"/>
                </a:solidFill>
                <a:latin typeface="Lucida Sans Unicode"/>
                <a:cs typeface="Lucida Sans Unicode"/>
              </a:rPr>
              <a:t>learning)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classification </a:t>
            </a:r>
            <a:r>
              <a:rPr dirty="0" sz="3400" spc="65">
                <a:solidFill>
                  <a:srgbClr val="FFFFFF"/>
                </a:solidFill>
                <a:latin typeface="Lucida Sans Unicode"/>
                <a:cs typeface="Lucida Sans Unicode"/>
              </a:rPr>
              <a:t>Built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OpenCV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Lucida Sans Unicode"/>
                <a:cs typeface="Lucida Sans Unicode"/>
              </a:rPr>
              <a:t>CNN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(Darknet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framework)</a:t>
            </a:r>
            <a:endParaRPr sz="3400">
              <a:latin typeface="Lucida Sans Unicode"/>
              <a:cs typeface="Lucida Sans Unicode"/>
            </a:endParaRPr>
          </a:p>
          <a:p>
            <a:pPr marL="746125" marR="1318260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Dynamic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timer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Lucida Sans Unicode"/>
                <a:cs typeface="Lucida Sans Unicode"/>
              </a:rPr>
              <a:t>logic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based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count,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80">
                <a:solidFill>
                  <a:srgbClr val="FFFFFF"/>
                </a:solidFill>
                <a:latin typeface="Lucida Sans Unicode"/>
                <a:cs typeface="Lucida Sans Unicode"/>
              </a:rPr>
              <a:t>type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lanes </a:t>
            </a:r>
            <a:r>
              <a:rPr dirty="0" sz="3400" spc="-50">
                <a:solidFill>
                  <a:srgbClr val="FFFFFF"/>
                </a:solidFill>
                <a:latin typeface="Lucida Sans Unicode"/>
                <a:cs typeface="Lucida Sans Unicode"/>
              </a:rPr>
              <a:t>Tested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custom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simulator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(Pygame)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400" spc="-120">
                <a:solidFill>
                  <a:srgbClr val="FFFFFF"/>
                </a:solidFill>
                <a:latin typeface="Arial Black"/>
                <a:cs typeface="Arial Black"/>
              </a:rPr>
              <a:t>Limitations</a:t>
            </a:r>
            <a:endParaRPr sz="3400">
              <a:latin typeface="Arial Black"/>
              <a:cs typeface="Arial Black"/>
            </a:endParaRPr>
          </a:p>
          <a:p>
            <a:pPr marL="746125">
              <a:lnSpc>
                <a:spcPct val="100000"/>
              </a:lnSpc>
              <a:spcBef>
                <a:spcPts val="645"/>
              </a:spcBef>
            </a:pP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Works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only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single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intersection</a:t>
            </a:r>
            <a:endParaRPr sz="3400">
              <a:latin typeface="Lucida Sans Unicode"/>
              <a:cs typeface="Lucida Sans Unicode"/>
            </a:endParaRPr>
          </a:p>
          <a:p>
            <a:pPr marL="746125" marR="1276350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emergency</a:t>
            </a:r>
            <a:r>
              <a:rPr dirty="0" sz="34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0">
                <a:solidFill>
                  <a:srgbClr val="FFFFFF"/>
                </a:solidFill>
                <a:latin typeface="Lucida Sans Unicode"/>
                <a:cs typeface="Lucida Sans Unicode"/>
              </a:rPr>
              <a:t>prioritization</a:t>
            </a:r>
            <a:r>
              <a:rPr dirty="0" sz="3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34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incident</a:t>
            </a:r>
            <a:r>
              <a:rPr dirty="0" sz="34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detection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Simplified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timer,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optimal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5">
                <a:solidFill>
                  <a:srgbClr val="FFFFFF"/>
                </a:solidFill>
                <a:latin typeface="Lucida Sans Unicode"/>
                <a:cs typeface="Lucida Sans Unicode"/>
              </a:rPr>
              <a:t>complex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traffic.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32630" y="8777926"/>
            <a:ext cx="1923414" cy="476250"/>
            <a:chOff x="15332630" y="8777926"/>
            <a:chExt cx="1923414" cy="47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332622" y="8777934"/>
              <a:ext cx="1923414" cy="476250"/>
            </a:xfrm>
            <a:custGeom>
              <a:avLst/>
              <a:gdLst/>
              <a:ahLst/>
              <a:cxnLst/>
              <a:rect l="l" t="t" r="r" b="b"/>
              <a:pathLst>
                <a:path w="1923415" h="476250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6185542" y="998855"/>
            <a:ext cx="10864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8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21982" y="361663"/>
            <a:ext cx="5643880" cy="817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320"/>
              <a:t>Literature</a:t>
            </a:r>
            <a:r>
              <a:rPr dirty="0" sz="5200" spc="-475"/>
              <a:t> </a:t>
            </a:r>
            <a:r>
              <a:rPr dirty="0" sz="5200" spc="-315"/>
              <a:t>Survey</a:t>
            </a:r>
            <a:endParaRPr sz="52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3564907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164982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4765057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5365132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6565282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165357"/>
            <a:ext cx="152400" cy="1523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770" y="7765432"/>
            <a:ext cx="152400" cy="1523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472186" y="1603470"/>
            <a:ext cx="15841344" cy="6480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5" i="1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dirty="0" sz="3000" spc="-60" i="1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Dynamic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i="1">
                <a:solidFill>
                  <a:srgbClr val="FFFFFF"/>
                </a:solidFill>
                <a:latin typeface="Verdana"/>
                <a:cs typeface="Verdana"/>
              </a:rPr>
              <a:t>Traffic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50" i="1">
                <a:solidFill>
                  <a:srgbClr val="FFFFFF"/>
                </a:solidFill>
                <a:latin typeface="Verdana"/>
                <a:cs typeface="Verdana"/>
              </a:rPr>
              <a:t>Light</a:t>
            </a:r>
            <a:r>
              <a:rPr dirty="0" sz="3000" spc="-229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60" i="1">
                <a:solidFill>
                  <a:srgbClr val="FFFFFF"/>
                </a:solidFill>
                <a:latin typeface="Verdana"/>
                <a:cs typeface="Verdana"/>
              </a:rPr>
              <a:t>ControlSystem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40" i="1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80" i="1">
                <a:solidFill>
                  <a:srgbClr val="FFFFFF"/>
                </a:solidFill>
                <a:latin typeface="Verdana"/>
                <a:cs typeface="Verdana"/>
              </a:rPr>
              <a:t>Emergency</a:t>
            </a:r>
            <a:r>
              <a:rPr dirty="0" sz="3000" spc="-229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25" i="1">
                <a:solidFill>
                  <a:srgbClr val="FFFFFF"/>
                </a:solidFill>
                <a:latin typeface="Verdana"/>
                <a:cs typeface="Verdana"/>
              </a:rPr>
              <a:t>Vehicle</a:t>
            </a:r>
            <a:r>
              <a:rPr dirty="0" sz="3000" spc="-2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000" spc="-10" i="1">
                <a:solidFill>
                  <a:srgbClr val="FFFFFF"/>
                </a:solidFill>
                <a:latin typeface="Verdana"/>
                <a:cs typeface="Verdana"/>
              </a:rPr>
              <a:t>Priority</a:t>
            </a:r>
            <a:endParaRPr sz="3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000">
              <a:latin typeface="Verdana"/>
              <a:cs typeface="Verdana"/>
            </a:endParaRPr>
          </a:p>
          <a:p>
            <a:pPr marL="411480">
              <a:lnSpc>
                <a:spcPct val="100000"/>
              </a:lnSpc>
            </a:pPr>
            <a:r>
              <a:rPr dirty="0" sz="3400" spc="-240">
                <a:solidFill>
                  <a:srgbClr val="FFFFFF"/>
                </a:solidFill>
                <a:latin typeface="Arial Black"/>
                <a:cs typeface="Arial Black"/>
              </a:rPr>
              <a:t>Paper</a:t>
            </a:r>
            <a:r>
              <a:rPr dirty="0" sz="34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29">
                <a:solidFill>
                  <a:srgbClr val="FFFFFF"/>
                </a:solidFill>
                <a:latin typeface="Arial Black"/>
                <a:cs typeface="Arial Black"/>
              </a:rPr>
              <a:t>Summary</a:t>
            </a:r>
            <a:r>
              <a:rPr dirty="0" sz="34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3400">
              <a:latin typeface="Arial Black"/>
              <a:cs typeface="Arial Black"/>
            </a:endParaRPr>
          </a:p>
          <a:p>
            <a:pPr marL="1145540">
              <a:lnSpc>
                <a:spcPct val="100000"/>
              </a:lnSpc>
              <a:spcBef>
                <a:spcPts val="645"/>
              </a:spcBef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Raspberry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Lucida Sans Unicode"/>
                <a:cs typeface="Lucida Sans Unicode"/>
              </a:rPr>
              <a:t>Pi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20">
                <a:solidFill>
                  <a:srgbClr val="FFFFFF"/>
                </a:solidFill>
                <a:latin typeface="Lucida Sans Unicode"/>
                <a:cs typeface="Lucida Sans Unicode"/>
              </a:rPr>
              <a:t>Pi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Camera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MATLAB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0">
                <a:solidFill>
                  <a:srgbClr val="FFFFFF"/>
                </a:solidFill>
                <a:latin typeface="Lucida Sans Unicode"/>
                <a:cs typeface="Lucida Sans Unicode"/>
              </a:rPr>
              <a:t>image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endParaRPr sz="3400">
              <a:latin typeface="Lucida Sans Unicode"/>
              <a:cs typeface="Lucida Sans Unicode"/>
            </a:endParaRPr>
          </a:p>
          <a:p>
            <a:pPr marL="1145540" marR="5080">
              <a:lnSpc>
                <a:spcPct val="115799"/>
              </a:lnSpc>
            </a:pP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Background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Subtraction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morphological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filtering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Includes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basic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ambulance</a:t>
            </a:r>
            <a:r>
              <a:rPr dirty="0" sz="3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(red-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color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priority)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400">
              <a:latin typeface="Lucida Sans Unicode"/>
              <a:cs typeface="Lucida Sans Unicode"/>
            </a:endParaRPr>
          </a:p>
          <a:p>
            <a:pPr marL="411480">
              <a:lnSpc>
                <a:spcPct val="100000"/>
              </a:lnSpc>
              <a:spcBef>
                <a:spcPts val="5"/>
              </a:spcBef>
            </a:pPr>
            <a:r>
              <a:rPr dirty="0" sz="3400" spc="-215">
                <a:solidFill>
                  <a:srgbClr val="FFFFFF"/>
                </a:solidFill>
                <a:latin typeface="Arial Black"/>
                <a:cs typeface="Arial Black"/>
              </a:rPr>
              <a:t>Limitations</a:t>
            </a:r>
            <a:r>
              <a:rPr dirty="0" sz="3400" spc="-2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:</a:t>
            </a:r>
            <a:endParaRPr sz="3400">
              <a:latin typeface="Arial Black"/>
              <a:cs typeface="Arial Black"/>
            </a:endParaRPr>
          </a:p>
          <a:p>
            <a:pPr marL="1145540" marR="1493520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Very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sensitive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lighting/shadows,</a:t>
            </a:r>
            <a:r>
              <a:rPr dirty="0" sz="34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fails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world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conditions </a:t>
            </a:r>
            <a:r>
              <a:rPr dirty="0" sz="3400" spc="60">
                <a:solidFill>
                  <a:srgbClr val="FFFFFF"/>
                </a:solidFill>
                <a:latin typeface="Lucida Sans Unicode"/>
                <a:cs typeface="Lucida Sans Unicode"/>
              </a:rPr>
              <a:t>Poor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Lucida Sans Unicode"/>
                <a:cs typeface="Lucida Sans Unicode"/>
              </a:rPr>
              <a:t>accuracy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60">
                <a:solidFill>
                  <a:srgbClr val="FFFFFF"/>
                </a:solidFill>
                <a:latin typeface="Lucida Sans Unicode"/>
                <a:cs typeface="Lucida Sans Unicode"/>
              </a:rPr>
              <a:t>heavy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traffic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(vehicles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merge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dirty="0" sz="34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dirty="0" sz="34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blob)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Unreliable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ambulance</a:t>
            </a:r>
            <a:r>
              <a:rPr dirty="0" sz="3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35">
                <a:solidFill>
                  <a:srgbClr val="FFFFFF"/>
                </a:solidFill>
                <a:latin typeface="Lucida Sans Unicode"/>
                <a:cs typeface="Lucida Sans Unicode"/>
              </a:rPr>
              <a:t>(red-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color</a:t>
            </a:r>
            <a:r>
              <a:rPr dirty="0" sz="34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only)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332630" y="8777926"/>
            <a:ext cx="1923414" cy="476250"/>
            <a:chOff x="15332630" y="8777926"/>
            <a:chExt cx="1923414" cy="47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32649" y="8777926"/>
              <a:ext cx="1922819" cy="4758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5332622" y="8777934"/>
              <a:ext cx="1923414" cy="476250"/>
            </a:xfrm>
            <a:custGeom>
              <a:avLst/>
              <a:gdLst/>
              <a:ahLst/>
              <a:cxnLst/>
              <a:rect l="l" t="t" r="r" b="b"/>
              <a:pathLst>
                <a:path w="1923415" h="476250">
                  <a:moveTo>
                    <a:pt x="1922856" y="243446"/>
                  </a:moveTo>
                  <a:lnTo>
                    <a:pt x="1918462" y="195033"/>
                  </a:lnTo>
                  <a:lnTo>
                    <a:pt x="1904720" y="149682"/>
                  </a:lnTo>
                  <a:lnTo>
                    <a:pt x="1882648" y="108407"/>
                  </a:lnTo>
                  <a:lnTo>
                    <a:pt x="1853272" y="72275"/>
                  </a:lnTo>
                  <a:lnTo>
                    <a:pt x="1817611" y="42316"/>
                  </a:lnTo>
                  <a:lnTo>
                    <a:pt x="1776704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83" y="4419"/>
                  </a:lnTo>
                  <a:lnTo>
                    <a:pt x="1592757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605" y="137007"/>
                  </a:lnTo>
                  <a:lnTo>
                    <a:pt x="1441043" y="174193"/>
                  </a:lnTo>
                  <a:lnTo>
                    <a:pt x="1407896" y="202628"/>
                  </a:lnTo>
                  <a:lnTo>
                    <a:pt x="1368272" y="220814"/>
                  </a:lnTo>
                  <a:lnTo>
                    <a:pt x="1324279" y="227203"/>
                  </a:lnTo>
                  <a:lnTo>
                    <a:pt x="1320406" y="227203"/>
                  </a:lnTo>
                  <a:lnTo>
                    <a:pt x="1276400" y="220814"/>
                  </a:lnTo>
                  <a:lnTo>
                    <a:pt x="1236789" y="202628"/>
                  </a:lnTo>
                  <a:lnTo>
                    <a:pt x="1203642" y="174193"/>
                  </a:lnTo>
                  <a:lnTo>
                    <a:pt x="1179080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42" y="37960"/>
                  </a:lnTo>
                  <a:lnTo>
                    <a:pt x="1051928" y="17360"/>
                  </a:lnTo>
                  <a:lnTo>
                    <a:pt x="1008202" y="4419"/>
                  </a:lnTo>
                  <a:lnTo>
                    <a:pt x="961428" y="0"/>
                  </a:lnTo>
                  <a:lnTo>
                    <a:pt x="914666" y="4419"/>
                  </a:lnTo>
                  <a:lnTo>
                    <a:pt x="870940" y="17360"/>
                  </a:lnTo>
                  <a:lnTo>
                    <a:pt x="831126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88" y="137007"/>
                  </a:lnTo>
                  <a:lnTo>
                    <a:pt x="719226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62" y="227203"/>
                  </a:lnTo>
                  <a:lnTo>
                    <a:pt x="598589" y="227203"/>
                  </a:lnTo>
                  <a:lnTo>
                    <a:pt x="554583" y="220814"/>
                  </a:lnTo>
                  <a:lnTo>
                    <a:pt x="514972" y="202628"/>
                  </a:lnTo>
                  <a:lnTo>
                    <a:pt x="481825" y="174193"/>
                  </a:lnTo>
                  <a:lnTo>
                    <a:pt x="457263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111" y="17360"/>
                  </a:lnTo>
                  <a:lnTo>
                    <a:pt x="286385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64" y="19596"/>
                  </a:lnTo>
                  <a:lnTo>
                    <a:pt x="105257" y="42316"/>
                  </a:lnTo>
                  <a:lnTo>
                    <a:pt x="69596" y="72275"/>
                  </a:lnTo>
                  <a:lnTo>
                    <a:pt x="40220" y="108407"/>
                  </a:lnTo>
                  <a:lnTo>
                    <a:pt x="18135" y="149682"/>
                  </a:lnTo>
                  <a:lnTo>
                    <a:pt x="4406" y="195033"/>
                  </a:lnTo>
                  <a:lnTo>
                    <a:pt x="0" y="243446"/>
                  </a:lnTo>
                  <a:lnTo>
                    <a:pt x="5435" y="291312"/>
                  </a:lnTo>
                  <a:lnTo>
                    <a:pt x="19773" y="335851"/>
                  </a:lnTo>
                  <a:lnTo>
                    <a:pt x="42075" y="376123"/>
                  </a:lnTo>
                  <a:lnTo>
                    <a:pt x="71424" y="411187"/>
                  </a:lnTo>
                  <a:lnTo>
                    <a:pt x="106857" y="440105"/>
                  </a:lnTo>
                  <a:lnTo>
                    <a:pt x="147434" y="461937"/>
                  </a:lnTo>
                  <a:lnTo>
                    <a:pt x="192214" y="475716"/>
                  </a:lnTo>
                  <a:lnTo>
                    <a:pt x="193649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76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73" y="342239"/>
                  </a:lnTo>
                  <a:lnTo>
                    <a:pt x="482333" y="305295"/>
                  </a:lnTo>
                  <a:lnTo>
                    <a:pt x="515658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93" y="277291"/>
                  </a:lnTo>
                  <a:lnTo>
                    <a:pt x="718718" y="305295"/>
                  </a:lnTo>
                  <a:lnTo>
                    <a:pt x="743178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612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90" y="342239"/>
                  </a:lnTo>
                  <a:lnTo>
                    <a:pt x="1204137" y="305295"/>
                  </a:lnTo>
                  <a:lnTo>
                    <a:pt x="1237475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210" y="277291"/>
                  </a:lnTo>
                  <a:lnTo>
                    <a:pt x="1440535" y="305295"/>
                  </a:lnTo>
                  <a:lnTo>
                    <a:pt x="1464995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92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19" y="475869"/>
                  </a:lnTo>
                  <a:lnTo>
                    <a:pt x="1775434" y="461937"/>
                  </a:lnTo>
                  <a:lnTo>
                    <a:pt x="1816011" y="440105"/>
                  </a:lnTo>
                  <a:lnTo>
                    <a:pt x="1851444" y="411187"/>
                  </a:lnTo>
                  <a:lnTo>
                    <a:pt x="1880781" y="376123"/>
                  </a:lnTo>
                  <a:lnTo>
                    <a:pt x="1903095" y="335851"/>
                  </a:lnTo>
                  <a:lnTo>
                    <a:pt x="1917433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6185542" y="998855"/>
            <a:ext cx="108648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8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551170">
              <a:lnSpc>
                <a:spcPct val="100000"/>
              </a:lnSpc>
              <a:spcBef>
                <a:spcPts val="100"/>
              </a:spcBef>
            </a:pPr>
            <a:r>
              <a:rPr dirty="0" sz="5200" spc="-305"/>
              <a:t>Proposed</a:t>
            </a:r>
            <a:r>
              <a:rPr dirty="0" sz="5200" spc="-505"/>
              <a:t> </a:t>
            </a:r>
            <a:r>
              <a:rPr dirty="0" sz="5200" spc="-335"/>
              <a:t>approach</a:t>
            </a:r>
            <a:endParaRPr sz="52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01" y="2304574"/>
            <a:ext cx="152400" cy="1523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01" y="3504724"/>
            <a:ext cx="152400" cy="1523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01" y="4704874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01" y="5905024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701" y="7105174"/>
            <a:ext cx="152400" cy="1523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388546" y="1997228"/>
            <a:ext cx="15883890" cy="6026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00"/>
              </a:spcBef>
              <a:tabLst>
                <a:tab pos="7351395" algn="l"/>
                <a:tab pos="8352155" algn="l"/>
                <a:tab pos="9730105" algn="l"/>
                <a:tab pos="10560050" algn="l"/>
                <a:tab pos="12279630" algn="l"/>
                <a:tab pos="14383385" algn="l"/>
              </a:tabLst>
            </a:pP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Deep</a:t>
            </a:r>
            <a:r>
              <a:rPr dirty="0" sz="3400" spc="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170">
                <a:solidFill>
                  <a:srgbClr val="FFFFFF"/>
                </a:solidFill>
                <a:latin typeface="Arial Black"/>
                <a:cs typeface="Arial Black"/>
              </a:rPr>
              <a:t>Learning–based</a:t>
            </a:r>
            <a:r>
              <a:rPr dirty="0" sz="3400" spc="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Arial Black"/>
                <a:cs typeface="Arial Black"/>
              </a:rPr>
              <a:t>Detection:</a:t>
            </a:r>
            <a:r>
              <a:rPr dirty="0" sz="34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YOLO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robust,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5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vehicle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classification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(cars,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0">
                <a:solidFill>
                  <a:srgbClr val="FFFFFF"/>
                </a:solidFill>
                <a:latin typeface="Lucida Sans Unicode"/>
                <a:cs typeface="Lucida Sans Unicode"/>
              </a:rPr>
              <a:t>bikes,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buses,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60">
                <a:solidFill>
                  <a:srgbClr val="FFFFFF"/>
                </a:solidFill>
                <a:latin typeface="Lucida Sans Unicode"/>
                <a:cs typeface="Lucida Sans Unicode"/>
              </a:rPr>
              <a:t>trucks,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emergency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vehicles).</a:t>
            </a:r>
            <a:endParaRPr sz="3400">
              <a:latin typeface="Lucida Sans Unicode"/>
              <a:cs typeface="Lucida Sans Unicode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-220">
                <a:solidFill>
                  <a:srgbClr val="FFFFFF"/>
                </a:solidFill>
                <a:latin typeface="Arial Black"/>
                <a:cs typeface="Arial Black"/>
              </a:rPr>
              <a:t>Dynamic</a:t>
            </a:r>
            <a:r>
              <a:rPr dirty="0" sz="3400" spc="-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60">
                <a:solidFill>
                  <a:srgbClr val="FFFFFF"/>
                </a:solidFill>
                <a:latin typeface="Arial Black"/>
                <a:cs typeface="Arial Black"/>
              </a:rPr>
              <a:t>Timer</a:t>
            </a:r>
            <a:r>
              <a:rPr dirty="0" sz="3400" spc="-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175">
                <a:solidFill>
                  <a:srgbClr val="FFFFFF"/>
                </a:solidFill>
                <a:latin typeface="Arial Black"/>
                <a:cs typeface="Arial Black"/>
              </a:rPr>
              <a:t>Optimization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34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Adaptive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signal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timing</a:t>
            </a:r>
            <a:r>
              <a:rPr dirty="0" sz="34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based on vehicle</a:t>
            </a:r>
            <a:r>
              <a:rPr dirty="0" sz="34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type,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lane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load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queue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length,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just</a:t>
            </a:r>
            <a:r>
              <a:rPr dirty="0" sz="34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raw</a:t>
            </a:r>
            <a:r>
              <a:rPr dirty="0" sz="3400" spc="-2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counts.</a:t>
            </a:r>
            <a:endParaRPr sz="3400">
              <a:latin typeface="Lucida Sans Unicode"/>
              <a:cs typeface="Lucida Sans Unicode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-270">
                <a:solidFill>
                  <a:srgbClr val="FFFFFF"/>
                </a:solidFill>
                <a:latin typeface="Arial Black"/>
                <a:cs typeface="Arial Black"/>
              </a:rPr>
              <a:t>Emergency</a:t>
            </a:r>
            <a:r>
              <a:rPr dirty="0" sz="3400" spc="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70">
                <a:solidFill>
                  <a:srgbClr val="FFFFFF"/>
                </a:solidFill>
                <a:latin typeface="Arial Black"/>
                <a:cs typeface="Arial Black"/>
              </a:rPr>
              <a:t>Vehicle</a:t>
            </a:r>
            <a:r>
              <a:rPr dirty="0" sz="3400" spc="3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145">
                <a:solidFill>
                  <a:srgbClr val="FFFFFF"/>
                </a:solidFill>
                <a:latin typeface="Arial Black"/>
                <a:cs typeface="Arial Black"/>
              </a:rPr>
              <a:t>Prioritization</a:t>
            </a:r>
            <a:r>
              <a:rPr dirty="0" sz="3400" spc="-145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3400" spc="4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Dedicated</a:t>
            </a:r>
            <a:r>
              <a:rPr dirty="0" sz="3400" spc="4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4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3400" spc="4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priority</a:t>
            </a:r>
            <a:r>
              <a:rPr dirty="0" sz="3400" spc="4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handling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ambulances,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fire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60">
                <a:solidFill>
                  <a:srgbClr val="FFFFFF"/>
                </a:solidFill>
                <a:latin typeface="Lucida Sans Unicode"/>
                <a:cs typeface="Lucida Sans Unicode"/>
              </a:rPr>
              <a:t>trucks,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etc.</a:t>
            </a:r>
            <a:endParaRPr sz="3400">
              <a:latin typeface="Lucida Sans Unicode"/>
              <a:cs typeface="Lucida Sans Unicode"/>
            </a:endParaRPr>
          </a:p>
          <a:p>
            <a:pPr marL="12700" marR="5080">
              <a:lnSpc>
                <a:spcPct val="115799"/>
              </a:lnSpc>
              <a:tabLst>
                <a:tab pos="4149725" algn="l"/>
                <a:tab pos="5960110" algn="l"/>
                <a:tab pos="7199630" algn="l"/>
                <a:tab pos="8069580" algn="l"/>
                <a:tab pos="9558020" algn="l"/>
                <a:tab pos="12655550" algn="l"/>
                <a:tab pos="13627735" algn="l"/>
                <a:tab pos="14659610" algn="l"/>
              </a:tabLst>
            </a:pPr>
            <a:r>
              <a:rPr dirty="0" sz="3400" spc="-190">
                <a:solidFill>
                  <a:srgbClr val="FFFFFF"/>
                </a:solidFill>
                <a:latin typeface="Arial Black"/>
                <a:cs typeface="Arial Black"/>
              </a:rPr>
              <a:t>Intersection-</a:t>
            </a:r>
            <a:r>
              <a:rPr dirty="0" sz="3400" spc="-10">
                <a:solidFill>
                  <a:srgbClr val="FFFFFF"/>
                </a:solidFill>
                <a:latin typeface="Arial Black"/>
                <a:cs typeface="Arial Black"/>
              </a:rPr>
              <a:t>Level</a:t>
            </a:r>
            <a:r>
              <a:rPr dirty="0" sz="340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dirty="0" sz="3400" spc="-10">
                <a:solidFill>
                  <a:srgbClr val="FFFFFF"/>
                </a:solidFill>
                <a:latin typeface="Arial Black"/>
                <a:cs typeface="Arial Black"/>
              </a:rPr>
              <a:t>Design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55">
                <a:solidFill>
                  <a:srgbClr val="FFFFFF"/>
                </a:solidFill>
                <a:latin typeface="Lucida Sans Unicode"/>
                <a:cs typeface="Lucida Sans Unicode"/>
              </a:rPr>
              <a:t>Built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entire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intersections,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just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3400" spc="-65">
                <a:solidFill>
                  <a:srgbClr val="FFFFFF"/>
                </a:solidFill>
                <a:latin typeface="Lucida Sans Unicode"/>
                <a:cs typeface="Lucida Sans Unicode"/>
              </a:rPr>
              <a:t>single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lanes.</a:t>
            </a:r>
            <a:endParaRPr sz="3400">
              <a:latin typeface="Lucida Sans Unicode"/>
              <a:cs typeface="Lucida Sans Unicode"/>
            </a:endParaRPr>
          </a:p>
          <a:p>
            <a:pPr marL="12700" marR="5080">
              <a:lnSpc>
                <a:spcPct val="115799"/>
              </a:lnSpc>
            </a:pPr>
            <a:r>
              <a:rPr dirty="0" sz="3400" spc="-235">
                <a:solidFill>
                  <a:srgbClr val="FFFFFF"/>
                </a:solidFill>
                <a:latin typeface="Arial Black"/>
                <a:cs typeface="Arial Black"/>
              </a:rPr>
              <a:t>Real-</a:t>
            </a:r>
            <a:r>
              <a:rPr dirty="0" sz="3400" spc="-145">
                <a:solidFill>
                  <a:srgbClr val="FFFFFF"/>
                </a:solidFill>
                <a:latin typeface="Arial Black"/>
                <a:cs typeface="Arial Black"/>
              </a:rPr>
              <a:t>World</a:t>
            </a:r>
            <a:r>
              <a:rPr dirty="0" sz="3400" spc="-17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04">
                <a:solidFill>
                  <a:srgbClr val="FFFFFF"/>
                </a:solidFill>
                <a:latin typeface="Arial Black"/>
                <a:cs typeface="Arial Black"/>
              </a:rPr>
              <a:t>Integration</a:t>
            </a:r>
            <a:r>
              <a:rPr dirty="0" sz="3400" spc="-204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0">
                <a:solidFill>
                  <a:srgbClr val="FFFFFF"/>
                </a:solidFill>
                <a:latin typeface="Lucida Sans Unicode"/>
                <a:cs typeface="Lucida Sans Unicode"/>
              </a:rPr>
              <a:t>Tested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actual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traffic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video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feeds,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limited</a:t>
            </a:r>
            <a:r>
              <a:rPr dirty="0" sz="34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simulations.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731662" y="8212756"/>
            <a:ext cx="3556635" cy="2074545"/>
            <a:chOff x="14731662" y="8212756"/>
            <a:chExt cx="3556635" cy="20745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663" y="8212761"/>
              <a:ext cx="3555427" cy="207312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3352" y="9740765"/>
              <a:ext cx="459134" cy="48253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14979" y="9880384"/>
              <a:ext cx="365150" cy="4066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98936" y="8776174"/>
              <a:ext cx="489063" cy="81384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91003" y="8450010"/>
              <a:ext cx="636042" cy="41360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4731657" y="8212759"/>
              <a:ext cx="3556000" cy="2073275"/>
            </a:xfrm>
            <a:custGeom>
              <a:avLst/>
              <a:gdLst/>
              <a:ahLst/>
              <a:cxnLst/>
              <a:rect l="l" t="t" r="r" b="b"/>
              <a:pathLst>
                <a:path w="3556000" h="2073275">
                  <a:moveTo>
                    <a:pt x="3555428" y="407263"/>
                  </a:moveTo>
                  <a:lnTo>
                    <a:pt x="3555187" y="135763"/>
                  </a:lnTo>
                  <a:lnTo>
                    <a:pt x="3555174" y="122186"/>
                  </a:lnTo>
                  <a:lnTo>
                    <a:pt x="3555060" y="0"/>
                  </a:lnTo>
                  <a:lnTo>
                    <a:pt x="3330029" y="85217"/>
                  </a:lnTo>
                  <a:lnTo>
                    <a:pt x="3278454" y="121107"/>
                  </a:lnTo>
                  <a:lnTo>
                    <a:pt x="3278454" y="1340535"/>
                  </a:lnTo>
                  <a:lnTo>
                    <a:pt x="3275114" y="1382547"/>
                  </a:lnTo>
                  <a:lnTo>
                    <a:pt x="3272993" y="1437665"/>
                  </a:lnTo>
                  <a:lnTo>
                    <a:pt x="3263074" y="1482166"/>
                  </a:lnTo>
                  <a:lnTo>
                    <a:pt x="3249828" y="1527924"/>
                  </a:lnTo>
                  <a:lnTo>
                    <a:pt x="3226905" y="1577340"/>
                  </a:lnTo>
                  <a:lnTo>
                    <a:pt x="3198342" y="1628889"/>
                  </a:lnTo>
                  <a:lnTo>
                    <a:pt x="3161779" y="1669897"/>
                  </a:lnTo>
                  <a:lnTo>
                    <a:pt x="3077705" y="1728901"/>
                  </a:lnTo>
                  <a:lnTo>
                    <a:pt x="3042551" y="1742211"/>
                  </a:lnTo>
                  <a:lnTo>
                    <a:pt x="3013087" y="1739785"/>
                  </a:lnTo>
                  <a:lnTo>
                    <a:pt x="2992386" y="1734045"/>
                  </a:lnTo>
                  <a:lnTo>
                    <a:pt x="2983496" y="1737410"/>
                  </a:lnTo>
                  <a:lnTo>
                    <a:pt x="2927019" y="1690890"/>
                  </a:lnTo>
                  <a:lnTo>
                    <a:pt x="2903601" y="1645450"/>
                  </a:lnTo>
                  <a:lnTo>
                    <a:pt x="2891434" y="1609318"/>
                  </a:lnTo>
                  <a:lnTo>
                    <a:pt x="2880830" y="1559013"/>
                  </a:lnTo>
                  <a:lnTo>
                    <a:pt x="2871101" y="1494790"/>
                  </a:lnTo>
                  <a:lnTo>
                    <a:pt x="2870517" y="1440700"/>
                  </a:lnTo>
                  <a:lnTo>
                    <a:pt x="2873883" y="1385100"/>
                  </a:lnTo>
                  <a:lnTo>
                    <a:pt x="2881668" y="1341412"/>
                  </a:lnTo>
                  <a:lnTo>
                    <a:pt x="2891028" y="1297127"/>
                  </a:lnTo>
                  <a:lnTo>
                    <a:pt x="2897403" y="1240396"/>
                  </a:lnTo>
                  <a:lnTo>
                    <a:pt x="2909735" y="1194981"/>
                  </a:lnTo>
                  <a:lnTo>
                    <a:pt x="2923463" y="1149045"/>
                  </a:lnTo>
                  <a:lnTo>
                    <a:pt x="2938526" y="1102601"/>
                  </a:lnTo>
                  <a:lnTo>
                    <a:pt x="2954871" y="1055674"/>
                  </a:lnTo>
                  <a:lnTo>
                    <a:pt x="2976930" y="1020152"/>
                  </a:lnTo>
                  <a:lnTo>
                    <a:pt x="2995650" y="972324"/>
                  </a:lnTo>
                  <a:lnTo>
                    <a:pt x="3015475" y="924077"/>
                  </a:lnTo>
                  <a:lnTo>
                    <a:pt x="3040850" y="887310"/>
                  </a:lnTo>
                  <a:lnTo>
                    <a:pt x="3067202" y="850176"/>
                  </a:lnTo>
                  <a:lnTo>
                    <a:pt x="3097885" y="879284"/>
                  </a:lnTo>
                  <a:lnTo>
                    <a:pt x="3130143" y="921397"/>
                  </a:lnTo>
                  <a:lnTo>
                    <a:pt x="3159404" y="964628"/>
                  </a:lnTo>
                  <a:lnTo>
                    <a:pt x="3185680" y="1009002"/>
                  </a:lnTo>
                  <a:lnTo>
                    <a:pt x="3208921" y="1054531"/>
                  </a:lnTo>
                  <a:lnTo>
                    <a:pt x="3229089" y="1101204"/>
                  </a:lnTo>
                  <a:lnTo>
                    <a:pt x="3246170" y="1149057"/>
                  </a:lnTo>
                  <a:lnTo>
                    <a:pt x="3260128" y="1198092"/>
                  </a:lnTo>
                  <a:lnTo>
                    <a:pt x="3266427" y="1236446"/>
                  </a:lnTo>
                  <a:lnTo>
                    <a:pt x="3274047" y="1287881"/>
                  </a:lnTo>
                  <a:lnTo>
                    <a:pt x="3278454" y="1340535"/>
                  </a:lnTo>
                  <a:lnTo>
                    <a:pt x="3278454" y="121107"/>
                  </a:lnTo>
                  <a:lnTo>
                    <a:pt x="3030131" y="293839"/>
                  </a:lnTo>
                  <a:lnTo>
                    <a:pt x="2993212" y="334987"/>
                  </a:lnTo>
                  <a:lnTo>
                    <a:pt x="2975546" y="328091"/>
                  </a:lnTo>
                  <a:lnTo>
                    <a:pt x="2957639" y="321297"/>
                  </a:lnTo>
                  <a:lnTo>
                    <a:pt x="2939516" y="314579"/>
                  </a:lnTo>
                  <a:lnTo>
                    <a:pt x="2921177" y="307949"/>
                  </a:lnTo>
                  <a:lnTo>
                    <a:pt x="2874264" y="284962"/>
                  </a:lnTo>
                  <a:lnTo>
                    <a:pt x="2830792" y="274269"/>
                  </a:lnTo>
                  <a:lnTo>
                    <a:pt x="2786303" y="263956"/>
                  </a:lnTo>
                  <a:lnTo>
                    <a:pt x="2740850" y="254012"/>
                  </a:lnTo>
                  <a:lnTo>
                    <a:pt x="2694482" y="244411"/>
                  </a:lnTo>
                  <a:lnTo>
                    <a:pt x="2647238" y="235140"/>
                  </a:lnTo>
                  <a:lnTo>
                    <a:pt x="2603665" y="238061"/>
                  </a:lnTo>
                  <a:lnTo>
                    <a:pt x="2554821" y="229400"/>
                  </a:lnTo>
                  <a:lnTo>
                    <a:pt x="2463990" y="236626"/>
                  </a:lnTo>
                  <a:lnTo>
                    <a:pt x="2413114" y="228739"/>
                  </a:lnTo>
                  <a:lnTo>
                    <a:pt x="2318639" y="237350"/>
                  </a:lnTo>
                  <a:lnTo>
                    <a:pt x="2275154" y="253809"/>
                  </a:lnTo>
                  <a:lnTo>
                    <a:pt x="2177923" y="263474"/>
                  </a:lnTo>
                  <a:lnTo>
                    <a:pt x="1860816" y="383552"/>
                  </a:lnTo>
                  <a:lnTo>
                    <a:pt x="1819605" y="412737"/>
                  </a:lnTo>
                  <a:lnTo>
                    <a:pt x="1773948" y="430034"/>
                  </a:lnTo>
                  <a:lnTo>
                    <a:pt x="1530553" y="603681"/>
                  </a:lnTo>
                  <a:lnTo>
                    <a:pt x="1495539" y="644105"/>
                  </a:lnTo>
                  <a:lnTo>
                    <a:pt x="1456448" y="672477"/>
                  </a:lnTo>
                  <a:lnTo>
                    <a:pt x="1394853" y="750125"/>
                  </a:lnTo>
                  <a:lnTo>
                    <a:pt x="1360297" y="776795"/>
                  </a:lnTo>
                  <a:lnTo>
                    <a:pt x="1301711" y="853300"/>
                  </a:lnTo>
                  <a:lnTo>
                    <a:pt x="1273225" y="891247"/>
                  </a:lnTo>
                  <a:lnTo>
                    <a:pt x="1249794" y="940866"/>
                  </a:lnTo>
                  <a:lnTo>
                    <a:pt x="1222425" y="978382"/>
                  </a:lnTo>
                  <a:lnTo>
                    <a:pt x="1195628" y="1015695"/>
                  </a:lnTo>
                  <a:lnTo>
                    <a:pt x="1173924" y="1064653"/>
                  </a:lnTo>
                  <a:lnTo>
                    <a:pt x="1148334" y="1101496"/>
                  </a:lnTo>
                  <a:lnTo>
                    <a:pt x="1127861" y="1149997"/>
                  </a:lnTo>
                  <a:lnTo>
                    <a:pt x="1108024" y="1198245"/>
                  </a:lnTo>
                  <a:lnTo>
                    <a:pt x="1088821" y="1246251"/>
                  </a:lnTo>
                  <a:lnTo>
                    <a:pt x="1065796" y="1282141"/>
                  </a:lnTo>
                  <a:lnTo>
                    <a:pt x="1047940" y="1329639"/>
                  </a:lnTo>
                  <a:lnTo>
                    <a:pt x="1030770" y="1376883"/>
                  </a:lnTo>
                  <a:lnTo>
                    <a:pt x="1018794" y="1435735"/>
                  </a:lnTo>
                  <a:lnTo>
                    <a:pt x="1003046" y="1482445"/>
                  </a:lnTo>
                  <a:lnTo>
                    <a:pt x="988021" y="1528876"/>
                  </a:lnTo>
                  <a:lnTo>
                    <a:pt x="934897" y="1521828"/>
                  </a:lnTo>
                  <a:lnTo>
                    <a:pt x="885215" y="1527060"/>
                  </a:lnTo>
                  <a:lnTo>
                    <a:pt x="830097" y="1520774"/>
                  </a:lnTo>
                  <a:lnTo>
                    <a:pt x="674128" y="1539087"/>
                  </a:lnTo>
                  <a:lnTo>
                    <a:pt x="625767" y="1557413"/>
                  </a:lnTo>
                  <a:lnTo>
                    <a:pt x="572693" y="1563928"/>
                  </a:lnTo>
                  <a:lnTo>
                    <a:pt x="524065" y="1582343"/>
                  </a:lnTo>
                  <a:lnTo>
                    <a:pt x="484365" y="1610956"/>
                  </a:lnTo>
                  <a:lnTo>
                    <a:pt x="440309" y="1627644"/>
                  </a:lnTo>
                  <a:lnTo>
                    <a:pt x="400926" y="1656130"/>
                  </a:lnTo>
                  <a:lnTo>
                    <a:pt x="357289" y="1672653"/>
                  </a:lnTo>
                  <a:lnTo>
                    <a:pt x="280009" y="1729079"/>
                  </a:lnTo>
                  <a:lnTo>
                    <a:pt x="246468" y="1768944"/>
                  </a:lnTo>
                  <a:lnTo>
                    <a:pt x="208902" y="1796745"/>
                  </a:lnTo>
                  <a:lnTo>
                    <a:pt x="176390" y="1836216"/>
                  </a:lnTo>
                  <a:lnTo>
                    <a:pt x="139966" y="1863598"/>
                  </a:lnTo>
                  <a:lnTo>
                    <a:pt x="108699" y="1902587"/>
                  </a:lnTo>
                  <a:lnTo>
                    <a:pt x="78143" y="1941322"/>
                  </a:lnTo>
                  <a:lnTo>
                    <a:pt x="52870" y="1991639"/>
                  </a:lnTo>
                  <a:lnTo>
                    <a:pt x="23914" y="2029752"/>
                  </a:lnTo>
                  <a:lnTo>
                    <a:pt x="0" y="2065972"/>
                  </a:lnTo>
                  <a:lnTo>
                    <a:pt x="474179" y="2062949"/>
                  </a:lnTo>
                  <a:lnTo>
                    <a:pt x="478967" y="2061146"/>
                  </a:lnTo>
                  <a:lnTo>
                    <a:pt x="590308" y="1978240"/>
                  </a:lnTo>
                  <a:lnTo>
                    <a:pt x="632193" y="1962378"/>
                  </a:lnTo>
                  <a:lnTo>
                    <a:pt x="669455" y="1934679"/>
                  </a:lnTo>
                  <a:lnTo>
                    <a:pt x="717905" y="1916341"/>
                  </a:lnTo>
                  <a:lnTo>
                    <a:pt x="821474" y="1904276"/>
                  </a:lnTo>
                  <a:lnTo>
                    <a:pt x="871220" y="1899018"/>
                  </a:lnTo>
                  <a:lnTo>
                    <a:pt x="923531" y="1906371"/>
                  </a:lnTo>
                  <a:lnTo>
                    <a:pt x="921677" y="1947824"/>
                  </a:lnTo>
                  <a:lnTo>
                    <a:pt x="915720" y="1977237"/>
                  </a:lnTo>
                  <a:lnTo>
                    <a:pt x="914679" y="2018372"/>
                  </a:lnTo>
                  <a:lnTo>
                    <a:pt x="914057" y="2059343"/>
                  </a:lnTo>
                  <a:lnTo>
                    <a:pt x="914412" y="2072792"/>
                  </a:lnTo>
                  <a:lnTo>
                    <a:pt x="1645869" y="2067407"/>
                  </a:lnTo>
                  <a:lnTo>
                    <a:pt x="1636001" y="2030399"/>
                  </a:lnTo>
                  <a:lnTo>
                    <a:pt x="1618640" y="1982660"/>
                  </a:lnTo>
                  <a:lnTo>
                    <a:pt x="1597520" y="1936330"/>
                  </a:lnTo>
                  <a:lnTo>
                    <a:pt x="1572602" y="1891449"/>
                  </a:lnTo>
                  <a:lnTo>
                    <a:pt x="1549742" y="1859368"/>
                  </a:lnTo>
                  <a:lnTo>
                    <a:pt x="1519618" y="1816455"/>
                  </a:lnTo>
                  <a:lnTo>
                    <a:pt x="1491272" y="1786445"/>
                  </a:lnTo>
                  <a:lnTo>
                    <a:pt x="1455801" y="1745551"/>
                  </a:lnTo>
                  <a:lnTo>
                    <a:pt x="1422234" y="1717522"/>
                  </a:lnTo>
                  <a:lnTo>
                    <a:pt x="1386154" y="1690446"/>
                  </a:lnTo>
                  <a:lnTo>
                    <a:pt x="1360449" y="1673021"/>
                  </a:lnTo>
                  <a:lnTo>
                    <a:pt x="1347597" y="1664309"/>
                  </a:lnTo>
                  <a:lnTo>
                    <a:pt x="1359103" y="1605635"/>
                  </a:lnTo>
                  <a:lnTo>
                    <a:pt x="1376057" y="1558467"/>
                  </a:lnTo>
                  <a:lnTo>
                    <a:pt x="1393926" y="1510969"/>
                  </a:lnTo>
                  <a:lnTo>
                    <a:pt x="1408188" y="1451241"/>
                  </a:lnTo>
                  <a:lnTo>
                    <a:pt x="1427810" y="1403070"/>
                  </a:lnTo>
                  <a:lnTo>
                    <a:pt x="1448295" y="1354582"/>
                  </a:lnTo>
                  <a:lnTo>
                    <a:pt x="1469593" y="1305775"/>
                  </a:lnTo>
                  <a:lnTo>
                    <a:pt x="1496187" y="1268539"/>
                  </a:lnTo>
                  <a:lnTo>
                    <a:pt x="1519059" y="1219136"/>
                  </a:lnTo>
                  <a:lnTo>
                    <a:pt x="1547177" y="1181328"/>
                  </a:lnTo>
                  <a:lnTo>
                    <a:pt x="1571536" y="1131366"/>
                  </a:lnTo>
                  <a:lnTo>
                    <a:pt x="1601089" y="1093012"/>
                  </a:lnTo>
                  <a:lnTo>
                    <a:pt x="1631327" y="1054404"/>
                  </a:lnTo>
                  <a:lnTo>
                    <a:pt x="1693735" y="976452"/>
                  </a:lnTo>
                  <a:lnTo>
                    <a:pt x="1730375" y="948994"/>
                  </a:lnTo>
                  <a:lnTo>
                    <a:pt x="1764931" y="908748"/>
                  </a:lnTo>
                  <a:lnTo>
                    <a:pt x="1804631" y="880135"/>
                  </a:lnTo>
                  <a:lnTo>
                    <a:pt x="1840382" y="839444"/>
                  </a:lnTo>
                  <a:lnTo>
                    <a:pt x="1922106" y="781329"/>
                  </a:lnTo>
                  <a:lnTo>
                    <a:pt x="1967877" y="763993"/>
                  </a:lnTo>
                  <a:lnTo>
                    <a:pt x="2009305" y="734733"/>
                  </a:lnTo>
                  <a:lnTo>
                    <a:pt x="2101138" y="699960"/>
                  </a:lnTo>
                  <a:lnTo>
                    <a:pt x="2142363" y="670763"/>
                  </a:lnTo>
                  <a:lnTo>
                    <a:pt x="2192312" y="665429"/>
                  </a:lnTo>
                  <a:lnTo>
                    <a:pt x="2281986" y="631469"/>
                  </a:lnTo>
                  <a:lnTo>
                    <a:pt x="2425433" y="617893"/>
                  </a:lnTo>
                  <a:lnTo>
                    <a:pt x="2516809" y="610450"/>
                  </a:lnTo>
                  <a:lnTo>
                    <a:pt x="2565425" y="619201"/>
                  </a:lnTo>
                  <a:lnTo>
                    <a:pt x="2608338" y="616521"/>
                  </a:lnTo>
                  <a:lnTo>
                    <a:pt x="2654477" y="626224"/>
                  </a:lnTo>
                  <a:lnTo>
                    <a:pt x="2699207" y="636435"/>
                  </a:lnTo>
                  <a:lnTo>
                    <a:pt x="2742450" y="647217"/>
                  </a:lnTo>
                  <a:lnTo>
                    <a:pt x="2714307" y="685038"/>
                  </a:lnTo>
                  <a:lnTo>
                    <a:pt x="2691600" y="734377"/>
                  </a:lnTo>
                  <a:lnTo>
                    <a:pt x="2665349" y="771486"/>
                  </a:lnTo>
                  <a:lnTo>
                    <a:pt x="2644584" y="820089"/>
                  </a:lnTo>
                  <a:lnTo>
                    <a:pt x="2624836" y="868311"/>
                  </a:lnTo>
                  <a:lnTo>
                    <a:pt x="2606129" y="916127"/>
                  </a:lnTo>
                  <a:lnTo>
                    <a:pt x="2588501" y="963549"/>
                  </a:lnTo>
                  <a:lnTo>
                    <a:pt x="2571966" y="1010551"/>
                  </a:lnTo>
                  <a:lnTo>
                    <a:pt x="2556560" y="1057122"/>
                  </a:lnTo>
                  <a:lnTo>
                    <a:pt x="2542311" y="1103261"/>
                  </a:lnTo>
                  <a:lnTo>
                    <a:pt x="2529243" y="1148943"/>
                  </a:lnTo>
                  <a:lnTo>
                    <a:pt x="2521877" y="1206055"/>
                  </a:lnTo>
                  <a:lnTo>
                    <a:pt x="2511260" y="1250810"/>
                  </a:lnTo>
                  <a:lnTo>
                    <a:pt x="2501900" y="1295095"/>
                  </a:lnTo>
                  <a:lnTo>
                    <a:pt x="2498344" y="1350772"/>
                  </a:lnTo>
                  <a:lnTo>
                    <a:pt x="2495004" y="1406347"/>
                  </a:lnTo>
                  <a:lnTo>
                    <a:pt x="2494127" y="1461008"/>
                  </a:lnTo>
                  <a:lnTo>
                    <a:pt x="2495766" y="1514703"/>
                  </a:lnTo>
                  <a:lnTo>
                    <a:pt x="2495524" y="1555534"/>
                  </a:lnTo>
                  <a:lnTo>
                    <a:pt x="2502446" y="1607235"/>
                  </a:lnTo>
                  <a:lnTo>
                    <a:pt x="2512136" y="1657883"/>
                  </a:lnTo>
                  <a:lnTo>
                    <a:pt x="2524645" y="1707464"/>
                  </a:lnTo>
                  <a:lnTo>
                    <a:pt x="2540063" y="1755952"/>
                  </a:lnTo>
                  <a:lnTo>
                    <a:pt x="2558592" y="1803260"/>
                  </a:lnTo>
                  <a:lnTo>
                    <a:pt x="2580589" y="1849247"/>
                  </a:lnTo>
                  <a:lnTo>
                    <a:pt x="2606027" y="1893925"/>
                  </a:lnTo>
                  <a:lnTo>
                    <a:pt x="2630386" y="1925447"/>
                  </a:lnTo>
                  <a:lnTo>
                    <a:pt x="2662605" y="1967572"/>
                  </a:lnTo>
                  <a:lnTo>
                    <a:pt x="2693670" y="1996541"/>
                  </a:lnTo>
                  <a:lnTo>
                    <a:pt x="2728023" y="2024278"/>
                  </a:lnTo>
                  <a:lnTo>
                    <a:pt x="2765653" y="2050770"/>
                  </a:lnTo>
                  <a:lnTo>
                    <a:pt x="3244519" y="2073135"/>
                  </a:lnTo>
                  <a:lnTo>
                    <a:pt x="3277501" y="2047062"/>
                  </a:lnTo>
                  <a:lnTo>
                    <a:pt x="3320250" y="2030869"/>
                  </a:lnTo>
                  <a:lnTo>
                    <a:pt x="3358324" y="2002878"/>
                  </a:lnTo>
                  <a:lnTo>
                    <a:pt x="3391497" y="1963153"/>
                  </a:lnTo>
                  <a:lnTo>
                    <a:pt x="3428517" y="1935556"/>
                  </a:lnTo>
                  <a:lnTo>
                    <a:pt x="3460153" y="1896414"/>
                  </a:lnTo>
                  <a:lnTo>
                    <a:pt x="3490645" y="1857705"/>
                  </a:lnTo>
                  <a:lnTo>
                    <a:pt x="3519754" y="1819529"/>
                  </a:lnTo>
                  <a:lnTo>
                    <a:pt x="3547262" y="1781949"/>
                  </a:lnTo>
                  <a:lnTo>
                    <a:pt x="3553866" y="1765871"/>
                  </a:lnTo>
                  <a:lnTo>
                    <a:pt x="3553777" y="1548625"/>
                  </a:lnTo>
                  <a:lnTo>
                    <a:pt x="3553523" y="896874"/>
                  </a:lnTo>
                  <a:lnTo>
                    <a:pt x="3525062" y="839749"/>
                  </a:lnTo>
                  <a:lnTo>
                    <a:pt x="3499828" y="794981"/>
                  </a:lnTo>
                  <a:lnTo>
                    <a:pt x="3472561" y="750989"/>
                  </a:lnTo>
                  <a:lnTo>
                    <a:pt x="3443313" y="707745"/>
                  </a:lnTo>
                  <a:lnTo>
                    <a:pt x="3412121" y="665238"/>
                  </a:lnTo>
                  <a:lnTo>
                    <a:pt x="3383534" y="635317"/>
                  </a:lnTo>
                  <a:lnTo>
                    <a:pt x="3348596" y="594233"/>
                  </a:lnTo>
                  <a:lnTo>
                    <a:pt x="3311842" y="553834"/>
                  </a:lnTo>
                  <a:lnTo>
                    <a:pt x="3425596" y="470014"/>
                  </a:lnTo>
                  <a:lnTo>
                    <a:pt x="3468649" y="453707"/>
                  </a:lnTo>
                  <a:lnTo>
                    <a:pt x="3507435" y="425437"/>
                  </a:lnTo>
                  <a:lnTo>
                    <a:pt x="3555428" y="407263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2113487"/>
            <a:ext cx="8267699" cy="48291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6205634" y="998855"/>
            <a:ext cx="1066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Tahoma"/>
                <a:cs typeface="Tahoma"/>
              </a:rPr>
              <a:t>07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4809" rIns="0" bIns="0" rtlCol="0" vert="horz">
            <a:spAutoFit/>
          </a:bodyPr>
          <a:lstStyle/>
          <a:p>
            <a:pPr marL="382905">
              <a:lnSpc>
                <a:spcPct val="100000"/>
              </a:lnSpc>
              <a:spcBef>
                <a:spcPts val="100"/>
              </a:spcBef>
            </a:pPr>
            <a:r>
              <a:rPr dirty="0" sz="5500" spc="-405">
                <a:solidFill>
                  <a:srgbClr val="81D3B4"/>
                </a:solidFill>
              </a:rPr>
              <a:t>Progress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275">
                <a:solidFill>
                  <a:srgbClr val="81D3B4"/>
                </a:solidFill>
              </a:rPr>
              <a:t>-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240">
                <a:solidFill>
                  <a:srgbClr val="81D3B4"/>
                </a:solidFill>
              </a:rPr>
              <a:t>Model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-325">
                <a:solidFill>
                  <a:srgbClr val="81D3B4"/>
                </a:solidFill>
              </a:rPr>
              <a:t>Evaluation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370">
                <a:solidFill>
                  <a:srgbClr val="81D3B4"/>
                </a:solidFill>
              </a:rPr>
              <a:t>(YOLOv8)</a:t>
            </a:r>
            <a:endParaRPr sz="5500"/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86253" y="3348335"/>
            <a:ext cx="104775" cy="1047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86253" y="4272260"/>
            <a:ext cx="104775" cy="1047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86253" y="5196185"/>
            <a:ext cx="104775" cy="1047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511542" y="3157899"/>
            <a:ext cx="6885305" cy="2269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600" spc="114">
                <a:solidFill>
                  <a:srgbClr val="FFFFFF"/>
                </a:solidFill>
                <a:latin typeface="Tahoma"/>
                <a:cs typeface="Tahoma"/>
              </a:rPr>
              <a:t>High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75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5">
                <a:solidFill>
                  <a:srgbClr val="FFFFFF"/>
                </a:solidFill>
                <a:latin typeface="Tahoma"/>
                <a:cs typeface="Tahoma"/>
              </a:rPr>
              <a:t>Counting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(mAP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40">
                <a:solidFill>
                  <a:srgbClr val="FFFFFF"/>
                </a:solidFill>
                <a:latin typeface="Tahoma"/>
                <a:cs typeface="Tahoma"/>
              </a:rPr>
              <a:t>@</a:t>
            </a:r>
            <a:r>
              <a:rPr dirty="0" sz="26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FFFFFF"/>
                </a:solidFill>
                <a:latin typeface="Tahoma"/>
                <a:cs typeface="Tahoma"/>
              </a:rPr>
              <a:t>0.50)</a:t>
            </a:r>
            <a:endParaRPr sz="2600">
              <a:latin typeface="Tahoma"/>
              <a:cs typeface="Tahoma"/>
            </a:endParaRPr>
          </a:p>
          <a:p>
            <a:pPr algn="ctr" marL="12065" marR="5080">
              <a:lnSpc>
                <a:spcPct val="233199"/>
              </a:lnSpc>
            </a:pPr>
            <a:r>
              <a:rPr dirty="0" sz="2600" spc="80">
                <a:solidFill>
                  <a:srgbClr val="FFFFFF"/>
                </a:solidFill>
                <a:latin typeface="Tahoma"/>
                <a:cs typeface="Tahoma"/>
              </a:rPr>
              <a:t>Real-</a:t>
            </a:r>
            <a:r>
              <a:rPr dirty="0" sz="2600" spc="114">
                <a:solidFill>
                  <a:srgbClr val="FFFFFF"/>
                </a:solidFill>
                <a:latin typeface="Tahoma"/>
                <a:cs typeface="Tahoma"/>
              </a:rPr>
              <a:t>Time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70">
                <a:solidFill>
                  <a:srgbClr val="FFFFFF"/>
                </a:solidFill>
                <a:latin typeface="Tahoma"/>
                <a:cs typeface="Tahoma"/>
              </a:rPr>
              <a:t>Speed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vs.</a:t>
            </a:r>
            <a:r>
              <a:rPr dirty="0" sz="26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FFFFFF"/>
                </a:solidFill>
                <a:latin typeface="Tahoma"/>
                <a:cs typeface="Tahoma"/>
              </a:rPr>
              <a:t>Localization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20">
                <a:solidFill>
                  <a:srgbClr val="FFFFFF"/>
                </a:solidFill>
                <a:latin typeface="Tahoma"/>
                <a:cs typeface="Tahoma"/>
              </a:rPr>
              <a:t>Trade-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Off </a:t>
            </a:r>
            <a:r>
              <a:rPr dirty="0" sz="2600" spc="90">
                <a:solidFill>
                  <a:srgbClr val="FFFFFF"/>
                </a:solidFill>
                <a:latin typeface="Tahoma"/>
                <a:cs typeface="Tahoma"/>
              </a:rPr>
              <a:t>Validation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65">
                <a:solidFill>
                  <a:srgbClr val="FFFFFF"/>
                </a:solidFill>
                <a:latin typeface="Tahoma"/>
                <a:cs typeface="Tahoma"/>
              </a:rPr>
              <a:t>Model</a:t>
            </a:r>
            <a:r>
              <a:rPr dirty="0" sz="26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8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26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05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731662" y="8212756"/>
            <a:ext cx="3556635" cy="2074545"/>
            <a:chOff x="14731662" y="8212756"/>
            <a:chExt cx="3556635" cy="20745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663" y="8212761"/>
              <a:ext cx="3555427" cy="207312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3352" y="9740765"/>
              <a:ext cx="459134" cy="48253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14979" y="9880384"/>
              <a:ext cx="365150" cy="40661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98936" y="8776174"/>
              <a:ext cx="489063" cy="81384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091003" y="8450010"/>
              <a:ext cx="636042" cy="41360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4731657" y="8212759"/>
              <a:ext cx="3556000" cy="2073275"/>
            </a:xfrm>
            <a:custGeom>
              <a:avLst/>
              <a:gdLst/>
              <a:ahLst/>
              <a:cxnLst/>
              <a:rect l="l" t="t" r="r" b="b"/>
              <a:pathLst>
                <a:path w="3556000" h="2073275">
                  <a:moveTo>
                    <a:pt x="3555428" y="407263"/>
                  </a:moveTo>
                  <a:lnTo>
                    <a:pt x="3555187" y="135763"/>
                  </a:lnTo>
                  <a:lnTo>
                    <a:pt x="3555174" y="122186"/>
                  </a:lnTo>
                  <a:lnTo>
                    <a:pt x="3555060" y="0"/>
                  </a:lnTo>
                  <a:lnTo>
                    <a:pt x="3330029" y="85217"/>
                  </a:lnTo>
                  <a:lnTo>
                    <a:pt x="3278454" y="121107"/>
                  </a:lnTo>
                  <a:lnTo>
                    <a:pt x="3278454" y="1340535"/>
                  </a:lnTo>
                  <a:lnTo>
                    <a:pt x="3275114" y="1382547"/>
                  </a:lnTo>
                  <a:lnTo>
                    <a:pt x="3272993" y="1437665"/>
                  </a:lnTo>
                  <a:lnTo>
                    <a:pt x="3263074" y="1482166"/>
                  </a:lnTo>
                  <a:lnTo>
                    <a:pt x="3249828" y="1527924"/>
                  </a:lnTo>
                  <a:lnTo>
                    <a:pt x="3226905" y="1577340"/>
                  </a:lnTo>
                  <a:lnTo>
                    <a:pt x="3198342" y="1628889"/>
                  </a:lnTo>
                  <a:lnTo>
                    <a:pt x="3161779" y="1669897"/>
                  </a:lnTo>
                  <a:lnTo>
                    <a:pt x="3077705" y="1728901"/>
                  </a:lnTo>
                  <a:lnTo>
                    <a:pt x="3042551" y="1742211"/>
                  </a:lnTo>
                  <a:lnTo>
                    <a:pt x="3013087" y="1739785"/>
                  </a:lnTo>
                  <a:lnTo>
                    <a:pt x="2992386" y="1734045"/>
                  </a:lnTo>
                  <a:lnTo>
                    <a:pt x="2983496" y="1737410"/>
                  </a:lnTo>
                  <a:lnTo>
                    <a:pt x="2927019" y="1690890"/>
                  </a:lnTo>
                  <a:lnTo>
                    <a:pt x="2903601" y="1645450"/>
                  </a:lnTo>
                  <a:lnTo>
                    <a:pt x="2891434" y="1609318"/>
                  </a:lnTo>
                  <a:lnTo>
                    <a:pt x="2880830" y="1559013"/>
                  </a:lnTo>
                  <a:lnTo>
                    <a:pt x="2871101" y="1494790"/>
                  </a:lnTo>
                  <a:lnTo>
                    <a:pt x="2870517" y="1440700"/>
                  </a:lnTo>
                  <a:lnTo>
                    <a:pt x="2873883" y="1385100"/>
                  </a:lnTo>
                  <a:lnTo>
                    <a:pt x="2881668" y="1341412"/>
                  </a:lnTo>
                  <a:lnTo>
                    <a:pt x="2891028" y="1297127"/>
                  </a:lnTo>
                  <a:lnTo>
                    <a:pt x="2897403" y="1240396"/>
                  </a:lnTo>
                  <a:lnTo>
                    <a:pt x="2909735" y="1194981"/>
                  </a:lnTo>
                  <a:lnTo>
                    <a:pt x="2923463" y="1149045"/>
                  </a:lnTo>
                  <a:lnTo>
                    <a:pt x="2938526" y="1102601"/>
                  </a:lnTo>
                  <a:lnTo>
                    <a:pt x="2954871" y="1055674"/>
                  </a:lnTo>
                  <a:lnTo>
                    <a:pt x="2976930" y="1020152"/>
                  </a:lnTo>
                  <a:lnTo>
                    <a:pt x="2995650" y="972324"/>
                  </a:lnTo>
                  <a:lnTo>
                    <a:pt x="3015475" y="924077"/>
                  </a:lnTo>
                  <a:lnTo>
                    <a:pt x="3040850" y="887310"/>
                  </a:lnTo>
                  <a:lnTo>
                    <a:pt x="3067202" y="850176"/>
                  </a:lnTo>
                  <a:lnTo>
                    <a:pt x="3097885" y="879284"/>
                  </a:lnTo>
                  <a:lnTo>
                    <a:pt x="3130143" y="921397"/>
                  </a:lnTo>
                  <a:lnTo>
                    <a:pt x="3159404" y="964628"/>
                  </a:lnTo>
                  <a:lnTo>
                    <a:pt x="3185680" y="1009002"/>
                  </a:lnTo>
                  <a:lnTo>
                    <a:pt x="3208921" y="1054531"/>
                  </a:lnTo>
                  <a:lnTo>
                    <a:pt x="3229089" y="1101204"/>
                  </a:lnTo>
                  <a:lnTo>
                    <a:pt x="3246170" y="1149057"/>
                  </a:lnTo>
                  <a:lnTo>
                    <a:pt x="3260128" y="1198092"/>
                  </a:lnTo>
                  <a:lnTo>
                    <a:pt x="3266427" y="1236446"/>
                  </a:lnTo>
                  <a:lnTo>
                    <a:pt x="3274047" y="1287881"/>
                  </a:lnTo>
                  <a:lnTo>
                    <a:pt x="3278454" y="1340535"/>
                  </a:lnTo>
                  <a:lnTo>
                    <a:pt x="3278454" y="121107"/>
                  </a:lnTo>
                  <a:lnTo>
                    <a:pt x="3030131" y="293839"/>
                  </a:lnTo>
                  <a:lnTo>
                    <a:pt x="2993212" y="334987"/>
                  </a:lnTo>
                  <a:lnTo>
                    <a:pt x="2975546" y="328091"/>
                  </a:lnTo>
                  <a:lnTo>
                    <a:pt x="2957639" y="321297"/>
                  </a:lnTo>
                  <a:lnTo>
                    <a:pt x="2939516" y="314579"/>
                  </a:lnTo>
                  <a:lnTo>
                    <a:pt x="2921177" y="307949"/>
                  </a:lnTo>
                  <a:lnTo>
                    <a:pt x="2874264" y="284962"/>
                  </a:lnTo>
                  <a:lnTo>
                    <a:pt x="2830792" y="274269"/>
                  </a:lnTo>
                  <a:lnTo>
                    <a:pt x="2786303" y="263956"/>
                  </a:lnTo>
                  <a:lnTo>
                    <a:pt x="2740850" y="254012"/>
                  </a:lnTo>
                  <a:lnTo>
                    <a:pt x="2694482" y="244411"/>
                  </a:lnTo>
                  <a:lnTo>
                    <a:pt x="2647238" y="235140"/>
                  </a:lnTo>
                  <a:lnTo>
                    <a:pt x="2603665" y="238061"/>
                  </a:lnTo>
                  <a:lnTo>
                    <a:pt x="2554821" y="229400"/>
                  </a:lnTo>
                  <a:lnTo>
                    <a:pt x="2463990" y="236626"/>
                  </a:lnTo>
                  <a:lnTo>
                    <a:pt x="2413114" y="228739"/>
                  </a:lnTo>
                  <a:lnTo>
                    <a:pt x="2318639" y="237350"/>
                  </a:lnTo>
                  <a:lnTo>
                    <a:pt x="2275154" y="253809"/>
                  </a:lnTo>
                  <a:lnTo>
                    <a:pt x="2177923" y="263474"/>
                  </a:lnTo>
                  <a:lnTo>
                    <a:pt x="1860816" y="383552"/>
                  </a:lnTo>
                  <a:lnTo>
                    <a:pt x="1819605" y="412737"/>
                  </a:lnTo>
                  <a:lnTo>
                    <a:pt x="1773948" y="430034"/>
                  </a:lnTo>
                  <a:lnTo>
                    <a:pt x="1530553" y="603681"/>
                  </a:lnTo>
                  <a:lnTo>
                    <a:pt x="1495539" y="644105"/>
                  </a:lnTo>
                  <a:lnTo>
                    <a:pt x="1456448" y="672477"/>
                  </a:lnTo>
                  <a:lnTo>
                    <a:pt x="1394853" y="750125"/>
                  </a:lnTo>
                  <a:lnTo>
                    <a:pt x="1360297" y="776795"/>
                  </a:lnTo>
                  <a:lnTo>
                    <a:pt x="1301711" y="853300"/>
                  </a:lnTo>
                  <a:lnTo>
                    <a:pt x="1273225" y="891247"/>
                  </a:lnTo>
                  <a:lnTo>
                    <a:pt x="1249794" y="940866"/>
                  </a:lnTo>
                  <a:lnTo>
                    <a:pt x="1222425" y="978382"/>
                  </a:lnTo>
                  <a:lnTo>
                    <a:pt x="1195628" y="1015695"/>
                  </a:lnTo>
                  <a:lnTo>
                    <a:pt x="1173924" y="1064653"/>
                  </a:lnTo>
                  <a:lnTo>
                    <a:pt x="1148334" y="1101496"/>
                  </a:lnTo>
                  <a:lnTo>
                    <a:pt x="1127861" y="1149997"/>
                  </a:lnTo>
                  <a:lnTo>
                    <a:pt x="1108024" y="1198245"/>
                  </a:lnTo>
                  <a:lnTo>
                    <a:pt x="1088821" y="1246251"/>
                  </a:lnTo>
                  <a:lnTo>
                    <a:pt x="1065796" y="1282141"/>
                  </a:lnTo>
                  <a:lnTo>
                    <a:pt x="1047940" y="1329639"/>
                  </a:lnTo>
                  <a:lnTo>
                    <a:pt x="1030770" y="1376883"/>
                  </a:lnTo>
                  <a:lnTo>
                    <a:pt x="1018794" y="1435735"/>
                  </a:lnTo>
                  <a:lnTo>
                    <a:pt x="1003046" y="1482445"/>
                  </a:lnTo>
                  <a:lnTo>
                    <a:pt x="988021" y="1528876"/>
                  </a:lnTo>
                  <a:lnTo>
                    <a:pt x="934897" y="1521828"/>
                  </a:lnTo>
                  <a:lnTo>
                    <a:pt x="885215" y="1527060"/>
                  </a:lnTo>
                  <a:lnTo>
                    <a:pt x="830097" y="1520774"/>
                  </a:lnTo>
                  <a:lnTo>
                    <a:pt x="674128" y="1539087"/>
                  </a:lnTo>
                  <a:lnTo>
                    <a:pt x="625767" y="1557413"/>
                  </a:lnTo>
                  <a:lnTo>
                    <a:pt x="572693" y="1563928"/>
                  </a:lnTo>
                  <a:lnTo>
                    <a:pt x="524065" y="1582343"/>
                  </a:lnTo>
                  <a:lnTo>
                    <a:pt x="484365" y="1610956"/>
                  </a:lnTo>
                  <a:lnTo>
                    <a:pt x="440309" y="1627644"/>
                  </a:lnTo>
                  <a:lnTo>
                    <a:pt x="400926" y="1656130"/>
                  </a:lnTo>
                  <a:lnTo>
                    <a:pt x="357289" y="1672653"/>
                  </a:lnTo>
                  <a:lnTo>
                    <a:pt x="280009" y="1729079"/>
                  </a:lnTo>
                  <a:lnTo>
                    <a:pt x="246468" y="1768944"/>
                  </a:lnTo>
                  <a:lnTo>
                    <a:pt x="208902" y="1796745"/>
                  </a:lnTo>
                  <a:lnTo>
                    <a:pt x="176390" y="1836216"/>
                  </a:lnTo>
                  <a:lnTo>
                    <a:pt x="139966" y="1863598"/>
                  </a:lnTo>
                  <a:lnTo>
                    <a:pt x="108699" y="1902587"/>
                  </a:lnTo>
                  <a:lnTo>
                    <a:pt x="78143" y="1941322"/>
                  </a:lnTo>
                  <a:lnTo>
                    <a:pt x="52870" y="1991639"/>
                  </a:lnTo>
                  <a:lnTo>
                    <a:pt x="23914" y="2029752"/>
                  </a:lnTo>
                  <a:lnTo>
                    <a:pt x="0" y="2065972"/>
                  </a:lnTo>
                  <a:lnTo>
                    <a:pt x="474179" y="2062949"/>
                  </a:lnTo>
                  <a:lnTo>
                    <a:pt x="478967" y="2061146"/>
                  </a:lnTo>
                  <a:lnTo>
                    <a:pt x="590308" y="1978240"/>
                  </a:lnTo>
                  <a:lnTo>
                    <a:pt x="632193" y="1962378"/>
                  </a:lnTo>
                  <a:lnTo>
                    <a:pt x="669455" y="1934679"/>
                  </a:lnTo>
                  <a:lnTo>
                    <a:pt x="717905" y="1916341"/>
                  </a:lnTo>
                  <a:lnTo>
                    <a:pt x="821474" y="1904276"/>
                  </a:lnTo>
                  <a:lnTo>
                    <a:pt x="871220" y="1899018"/>
                  </a:lnTo>
                  <a:lnTo>
                    <a:pt x="923531" y="1906371"/>
                  </a:lnTo>
                  <a:lnTo>
                    <a:pt x="921677" y="1947824"/>
                  </a:lnTo>
                  <a:lnTo>
                    <a:pt x="915720" y="1977237"/>
                  </a:lnTo>
                  <a:lnTo>
                    <a:pt x="914679" y="2018372"/>
                  </a:lnTo>
                  <a:lnTo>
                    <a:pt x="914057" y="2059343"/>
                  </a:lnTo>
                  <a:lnTo>
                    <a:pt x="914412" y="2072792"/>
                  </a:lnTo>
                  <a:lnTo>
                    <a:pt x="1645869" y="2067407"/>
                  </a:lnTo>
                  <a:lnTo>
                    <a:pt x="1636001" y="2030399"/>
                  </a:lnTo>
                  <a:lnTo>
                    <a:pt x="1618640" y="1982660"/>
                  </a:lnTo>
                  <a:lnTo>
                    <a:pt x="1597520" y="1936330"/>
                  </a:lnTo>
                  <a:lnTo>
                    <a:pt x="1572602" y="1891449"/>
                  </a:lnTo>
                  <a:lnTo>
                    <a:pt x="1549742" y="1859368"/>
                  </a:lnTo>
                  <a:lnTo>
                    <a:pt x="1519618" y="1816455"/>
                  </a:lnTo>
                  <a:lnTo>
                    <a:pt x="1491272" y="1786445"/>
                  </a:lnTo>
                  <a:lnTo>
                    <a:pt x="1455801" y="1745551"/>
                  </a:lnTo>
                  <a:lnTo>
                    <a:pt x="1422234" y="1717522"/>
                  </a:lnTo>
                  <a:lnTo>
                    <a:pt x="1386154" y="1690446"/>
                  </a:lnTo>
                  <a:lnTo>
                    <a:pt x="1360449" y="1673021"/>
                  </a:lnTo>
                  <a:lnTo>
                    <a:pt x="1347597" y="1664309"/>
                  </a:lnTo>
                  <a:lnTo>
                    <a:pt x="1359103" y="1605635"/>
                  </a:lnTo>
                  <a:lnTo>
                    <a:pt x="1376057" y="1558467"/>
                  </a:lnTo>
                  <a:lnTo>
                    <a:pt x="1393926" y="1510969"/>
                  </a:lnTo>
                  <a:lnTo>
                    <a:pt x="1408188" y="1451241"/>
                  </a:lnTo>
                  <a:lnTo>
                    <a:pt x="1427810" y="1403070"/>
                  </a:lnTo>
                  <a:lnTo>
                    <a:pt x="1448295" y="1354582"/>
                  </a:lnTo>
                  <a:lnTo>
                    <a:pt x="1469593" y="1305775"/>
                  </a:lnTo>
                  <a:lnTo>
                    <a:pt x="1496187" y="1268539"/>
                  </a:lnTo>
                  <a:lnTo>
                    <a:pt x="1519059" y="1219136"/>
                  </a:lnTo>
                  <a:lnTo>
                    <a:pt x="1547177" y="1181328"/>
                  </a:lnTo>
                  <a:lnTo>
                    <a:pt x="1571536" y="1131366"/>
                  </a:lnTo>
                  <a:lnTo>
                    <a:pt x="1601089" y="1093012"/>
                  </a:lnTo>
                  <a:lnTo>
                    <a:pt x="1631327" y="1054404"/>
                  </a:lnTo>
                  <a:lnTo>
                    <a:pt x="1693735" y="976452"/>
                  </a:lnTo>
                  <a:lnTo>
                    <a:pt x="1730375" y="948994"/>
                  </a:lnTo>
                  <a:lnTo>
                    <a:pt x="1764931" y="908748"/>
                  </a:lnTo>
                  <a:lnTo>
                    <a:pt x="1804631" y="880135"/>
                  </a:lnTo>
                  <a:lnTo>
                    <a:pt x="1840382" y="839444"/>
                  </a:lnTo>
                  <a:lnTo>
                    <a:pt x="1922106" y="781329"/>
                  </a:lnTo>
                  <a:lnTo>
                    <a:pt x="1967877" y="763993"/>
                  </a:lnTo>
                  <a:lnTo>
                    <a:pt x="2009305" y="734733"/>
                  </a:lnTo>
                  <a:lnTo>
                    <a:pt x="2101138" y="699960"/>
                  </a:lnTo>
                  <a:lnTo>
                    <a:pt x="2142363" y="670763"/>
                  </a:lnTo>
                  <a:lnTo>
                    <a:pt x="2192312" y="665429"/>
                  </a:lnTo>
                  <a:lnTo>
                    <a:pt x="2281986" y="631469"/>
                  </a:lnTo>
                  <a:lnTo>
                    <a:pt x="2425433" y="617893"/>
                  </a:lnTo>
                  <a:lnTo>
                    <a:pt x="2516809" y="610450"/>
                  </a:lnTo>
                  <a:lnTo>
                    <a:pt x="2565425" y="619201"/>
                  </a:lnTo>
                  <a:lnTo>
                    <a:pt x="2608338" y="616521"/>
                  </a:lnTo>
                  <a:lnTo>
                    <a:pt x="2654477" y="626224"/>
                  </a:lnTo>
                  <a:lnTo>
                    <a:pt x="2699207" y="636435"/>
                  </a:lnTo>
                  <a:lnTo>
                    <a:pt x="2742450" y="647217"/>
                  </a:lnTo>
                  <a:lnTo>
                    <a:pt x="2714307" y="685038"/>
                  </a:lnTo>
                  <a:lnTo>
                    <a:pt x="2691600" y="734377"/>
                  </a:lnTo>
                  <a:lnTo>
                    <a:pt x="2665349" y="771486"/>
                  </a:lnTo>
                  <a:lnTo>
                    <a:pt x="2644584" y="820089"/>
                  </a:lnTo>
                  <a:lnTo>
                    <a:pt x="2624836" y="868311"/>
                  </a:lnTo>
                  <a:lnTo>
                    <a:pt x="2606129" y="916127"/>
                  </a:lnTo>
                  <a:lnTo>
                    <a:pt x="2588501" y="963549"/>
                  </a:lnTo>
                  <a:lnTo>
                    <a:pt x="2571966" y="1010551"/>
                  </a:lnTo>
                  <a:lnTo>
                    <a:pt x="2556560" y="1057122"/>
                  </a:lnTo>
                  <a:lnTo>
                    <a:pt x="2542311" y="1103261"/>
                  </a:lnTo>
                  <a:lnTo>
                    <a:pt x="2529243" y="1148943"/>
                  </a:lnTo>
                  <a:lnTo>
                    <a:pt x="2521877" y="1206055"/>
                  </a:lnTo>
                  <a:lnTo>
                    <a:pt x="2511260" y="1250810"/>
                  </a:lnTo>
                  <a:lnTo>
                    <a:pt x="2501900" y="1295095"/>
                  </a:lnTo>
                  <a:lnTo>
                    <a:pt x="2498344" y="1350772"/>
                  </a:lnTo>
                  <a:lnTo>
                    <a:pt x="2495004" y="1406347"/>
                  </a:lnTo>
                  <a:lnTo>
                    <a:pt x="2494127" y="1461008"/>
                  </a:lnTo>
                  <a:lnTo>
                    <a:pt x="2495766" y="1514703"/>
                  </a:lnTo>
                  <a:lnTo>
                    <a:pt x="2495524" y="1555534"/>
                  </a:lnTo>
                  <a:lnTo>
                    <a:pt x="2502446" y="1607235"/>
                  </a:lnTo>
                  <a:lnTo>
                    <a:pt x="2512136" y="1657883"/>
                  </a:lnTo>
                  <a:lnTo>
                    <a:pt x="2524645" y="1707464"/>
                  </a:lnTo>
                  <a:lnTo>
                    <a:pt x="2540063" y="1755952"/>
                  </a:lnTo>
                  <a:lnTo>
                    <a:pt x="2558592" y="1803260"/>
                  </a:lnTo>
                  <a:lnTo>
                    <a:pt x="2580589" y="1849247"/>
                  </a:lnTo>
                  <a:lnTo>
                    <a:pt x="2606027" y="1893925"/>
                  </a:lnTo>
                  <a:lnTo>
                    <a:pt x="2630386" y="1925447"/>
                  </a:lnTo>
                  <a:lnTo>
                    <a:pt x="2662605" y="1967572"/>
                  </a:lnTo>
                  <a:lnTo>
                    <a:pt x="2693670" y="1996541"/>
                  </a:lnTo>
                  <a:lnTo>
                    <a:pt x="2728023" y="2024278"/>
                  </a:lnTo>
                  <a:lnTo>
                    <a:pt x="2765653" y="2050770"/>
                  </a:lnTo>
                  <a:lnTo>
                    <a:pt x="3244519" y="2073135"/>
                  </a:lnTo>
                  <a:lnTo>
                    <a:pt x="3277501" y="2047062"/>
                  </a:lnTo>
                  <a:lnTo>
                    <a:pt x="3320250" y="2030869"/>
                  </a:lnTo>
                  <a:lnTo>
                    <a:pt x="3358324" y="2002878"/>
                  </a:lnTo>
                  <a:lnTo>
                    <a:pt x="3391497" y="1963153"/>
                  </a:lnTo>
                  <a:lnTo>
                    <a:pt x="3428517" y="1935556"/>
                  </a:lnTo>
                  <a:lnTo>
                    <a:pt x="3460153" y="1896414"/>
                  </a:lnTo>
                  <a:lnTo>
                    <a:pt x="3490645" y="1857705"/>
                  </a:lnTo>
                  <a:lnTo>
                    <a:pt x="3519754" y="1819529"/>
                  </a:lnTo>
                  <a:lnTo>
                    <a:pt x="3547262" y="1781949"/>
                  </a:lnTo>
                  <a:lnTo>
                    <a:pt x="3553866" y="1765871"/>
                  </a:lnTo>
                  <a:lnTo>
                    <a:pt x="3553777" y="1548625"/>
                  </a:lnTo>
                  <a:lnTo>
                    <a:pt x="3553523" y="896874"/>
                  </a:lnTo>
                  <a:lnTo>
                    <a:pt x="3525062" y="839749"/>
                  </a:lnTo>
                  <a:lnTo>
                    <a:pt x="3499828" y="794981"/>
                  </a:lnTo>
                  <a:lnTo>
                    <a:pt x="3472561" y="750989"/>
                  </a:lnTo>
                  <a:lnTo>
                    <a:pt x="3443313" y="707745"/>
                  </a:lnTo>
                  <a:lnTo>
                    <a:pt x="3412121" y="665238"/>
                  </a:lnTo>
                  <a:lnTo>
                    <a:pt x="3383534" y="635317"/>
                  </a:lnTo>
                  <a:lnTo>
                    <a:pt x="3348596" y="594233"/>
                  </a:lnTo>
                  <a:lnTo>
                    <a:pt x="3311842" y="553834"/>
                  </a:lnTo>
                  <a:lnTo>
                    <a:pt x="3425596" y="470014"/>
                  </a:lnTo>
                  <a:lnTo>
                    <a:pt x="3468649" y="453707"/>
                  </a:lnTo>
                  <a:lnTo>
                    <a:pt x="3507435" y="425437"/>
                  </a:lnTo>
                  <a:lnTo>
                    <a:pt x="3555428" y="407263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9785" y="2438261"/>
            <a:ext cx="9410699" cy="48006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6205634" y="998855"/>
            <a:ext cx="1066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Tahoma"/>
                <a:cs typeface="Tahoma"/>
              </a:rPr>
              <a:t>07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4809" rIns="0" bIns="0" rtlCol="0" vert="horz">
            <a:spAutoFit/>
          </a:bodyPr>
          <a:lstStyle/>
          <a:p>
            <a:pPr marL="872490">
              <a:lnSpc>
                <a:spcPct val="100000"/>
              </a:lnSpc>
              <a:spcBef>
                <a:spcPts val="100"/>
              </a:spcBef>
            </a:pPr>
            <a:r>
              <a:rPr dirty="0" sz="5500" spc="-405">
                <a:solidFill>
                  <a:srgbClr val="81D3B4"/>
                </a:solidFill>
              </a:rPr>
              <a:t>Progress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275">
                <a:solidFill>
                  <a:srgbClr val="81D3B4"/>
                </a:solidFill>
              </a:rPr>
              <a:t>-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-240">
                <a:solidFill>
                  <a:srgbClr val="81D3B4"/>
                </a:solidFill>
              </a:rPr>
              <a:t>Model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325">
                <a:solidFill>
                  <a:srgbClr val="81D3B4"/>
                </a:solidFill>
              </a:rPr>
              <a:t>Evaluation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-415">
                <a:solidFill>
                  <a:srgbClr val="81D3B4"/>
                </a:solidFill>
              </a:rPr>
              <a:t>(Fast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395">
                <a:solidFill>
                  <a:srgbClr val="81D3B4"/>
                </a:solidFill>
              </a:rPr>
              <a:t>RCNN)</a:t>
            </a:r>
            <a:endParaRPr sz="5500"/>
          </a:p>
        </p:txBody>
      </p:sp>
      <p:pic>
        <p:nvPicPr>
          <p:cNvPr id="12" name="object 1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48153" y="3331826"/>
            <a:ext cx="95250" cy="952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48153" y="5427325"/>
            <a:ext cx="95250" cy="9524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0396349" y="3103861"/>
            <a:ext cx="6800215" cy="379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spc="140">
                <a:solidFill>
                  <a:srgbClr val="FFFFFF"/>
                </a:solidFill>
                <a:latin typeface="Tahoma"/>
                <a:cs typeface="Tahoma"/>
              </a:rPr>
              <a:t>Metric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Tahoma"/>
                <a:cs typeface="Tahoma"/>
              </a:rPr>
              <a:t>Simplified: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7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55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ahoma"/>
                <a:cs typeface="Tahoma"/>
              </a:rPr>
              <a:t>basic, </a:t>
            </a:r>
            <a:r>
              <a:rPr dirty="0" sz="2400" spc="125">
                <a:solidFill>
                  <a:srgbClr val="FFFFFF"/>
                </a:solidFill>
                <a:latin typeface="Tahoma"/>
                <a:cs typeface="Tahoma"/>
              </a:rPr>
              <a:t>single-</a:t>
            </a:r>
            <a:r>
              <a:rPr dirty="0" sz="2400" spc="95">
                <a:solidFill>
                  <a:srgbClr val="FFFFFF"/>
                </a:solidFill>
                <a:latin typeface="Tahoma"/>
                <a:cs typeface="Tahoma"/>
              </a:rPr>
              <a:t>value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ahoma"/>
                <a:cs typeface="Tahoma"/>
              </a:rPr>
              <a:t>comparison,</a:t>
            </a:r>
            <a:r>
              <a:rPr dirty="0" sz="24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resulting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ahoma"/>
                <a:cs typeface="Tahoma"/>
              </a:rPr>
              <a:t>general </a:t>
            </a:r>
            <a:r>
              <a:rPr dirty="0" sz="2400" spc="80">
                <a:solidFill>
                  <a:srgbClr val="FFFFFF"/>
                </a:solidFill>
                <a:latin typeface="Tahoma"/>
                <a:cs typeface="Tahoma"/>
              </a:rPr>
              <a:t>"Validation</a:t>
            </a:r>
            <a:r>
              <a:rPr dirty="0" sz="2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dirty="0" sz="2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Tahoma"/>
                <a:cs typeface="Tahoma"/>
              </a:rPr>
              <a:t>(subset),"</a:t>
            </a:r>
            <a:r>
              <a:rPr dirty="0" sz="2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5">
                <a:solidFill>
                  <a:srgbClr val="FFFFFF"/>
                </a:solidFill>
                <a:latin typeface="Tahoma"/>
                <a:cs typeface="Tahoma"/>
              </a:rPr>
              <a:t>which</a:t>
            </a:r>
            <a:r>
              <a:rPr dirty="0" sz="24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ahoma"/>
                <a:cs typeface="Tahoma"/>
              </a:rPr>
              <a:t>is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unsuitable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evaluating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ahoma"/>
                <a:cs typeface="Tahoma"/>
              </a:rPr>
              <a:t>object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Tahoma"/>
                <a:cs typeface="Tahoma"/>
              </a:rPr>
              <a:t>localization.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400">
              <a:latin typeface="Tahoma"/>
              <a:cs typeface="Tahoma"/>
            </a:endParaRPr>
          </a:p>
          <a:p>
            <a:pPr marL="12700" marR="81915">
              <a:lnSpc>
                <a:spcPct val="114599"/>
              </a:lnSpc>
              <a:tabLst>
                <a:tab pos="2888615" algn="l"/>
              </a:tabLst>
            </a:pPr>
            <a:r>
              <a:rPr dirty="0" sz="2400" spc="16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400" spc="-35">
                <a:solidFill>
                  <a:srgbClr val="FFFFFF"/>
                </a:solidFill>
                <a:latin typeface="Tahoma"/>
                <a:cs typeface="Tahoma"/>
              </a:rPr>
              <a:t>36.7%):</a:t>
            </a:r>
            <a:r>
              <a:rPr dirty="0" sz="24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4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ahoma"/>
                <a:cs typeface="Tahoma"/>
              </a:rPr>
              <a:t>low</a:t>
            </a:r>
            <a:r>
              <a:rPr dirty="0" sz="24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ahoma"/>
                <a:cs typeface="Tahoma"/>
              </a:rPr>
              <a:t>result </a:t>
            </a:r>
            <a:r>
              <a:rPr dirty="0" sz="2400">
                <a:solidFill>
                  <a:srgbClr val="FFFFFF"/>
                </a:solidFill>
                <a:latin typeface="Tahoma"/>
                <a:cs typeface="Tahoma"/>
              </a:rPr>
              <a:t>(0.366...)</a:t>
            </a:r>
            <a:r>
              <a:rPr dirty="0" sz="2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ahoma"/>
                <a:cs typeface="Tahoma"/>
              </a:rPr>
              <a:t>confirms</a:t>
            </a:r>
            <a:r>
              <a:rPr dirty="0" sz="2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2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Tahoma"/>
                <a:cs typeface="Tahoma"/>
              </a:rPr>
              <a:t>initial</a:t>
            </a:r>
            <a:r>
              <a:rPr dirty="0" sz="2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Tahoma"/>
                <a:cs typeface="Tahoma"/>
              </a:rPr>
              <a:t>training</a:t>
            </a:r>
            <a:r>
              <a:rPr dirty="0" sz="2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Tahoma"/>
                <a:cs typeface="Tahoma"/>
              </a:rPr>
              <a:t>or </a:t>
            </a:r>
            <a:r>
              <a:rPr dirty="0" sz="2400" spc="105">
                <a:solidFill>
                  <a:srgbClr val="FFFFFF"/>
                </a:solidFill>
                <a:latin typeface="Tahoma"/>
                <a:cs typeface="Tahoma"/>
              </a:rPr>
              <a:t>configuration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6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Tahoma"/>
                <a:cs typeface="Tahoma"/>
              </a:rPr>
              <a:t>insufficient,</a:t>
            </a:r>
            <a:r>
              <a:rPr dirty="0" sz="24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Tahoma"/>
                <a:cs typeface="Tahoma"/>
              </a:rPr>
              <a:t>necessitating</a:t>
            </a:r>
            <a:r>
              <a:rPr dirty="0" sz="2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Tahoma"/>
                <a:cs typeface="Tahoma"/>
              </a:rPr>
              <a:t>a </a:t>
            </a:r>
            <a:r>
              <a:rPr dirty="0" sz="2400" spc="105">
                <a:solidFill>
                  <a:srgbClr val="FFFFFF"/>
                </a:solidFill>
                <a:latin typeface="Tahoma"/>
                <a:cs typeface="Tahoma"/>
              </a:rPr>
              <a:t>move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Tahoma"/>
                <a:cs typeface="Tahoma"/>
              </a:rPr>
              <a:t>better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3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dirty="0" sz="24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12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Tahoma"/>
                <a:cs typeface="Tahoma"/>
              </a:rPr>
              <a:t>metrics.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205634" y="998855"/>
            <a:ext cx="10668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Tahoma"/>
                <a:cs typeface="Tahoma"/>
              </a:rPr>
              <a:t>07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0" spc="-405">
                <a:solidFill>
                  <a:srgbClr val="81D3B4"/>
                </a:solidFill>
              </a:rPr>
              <a:t>Progress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275">
                <a:solidFill>
                  <a:srgbClr val="81D3B4"/>
                </a:solidFill>
              </a:rPr>
              <a:t>-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240">
                <a:solidFill>
                  <a:srgbClr val="81D3B4"/>
                </a:solidFill>
              </a:rPr>
              <a:t>Model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325">
                <a:solidFill>
                  <a:srgbClr val="81D3B4"/>
                </a:solidFill>
              </a:rPr>
              <a:t>Evaluation</a:t>
            </a:r>
            <a:r>
              <a:rPr dirty="0" sz="5500" spc="-520">
                <a:solidFill>
                  <a:srgbClr val="81D3B4"/>
                </a:solidFill>
              </a:rPr>
              <a:t> </a:t>
            </a:r>
            <a:r>
              <a:rPr dirty="0" sz="5500" spc="-455">
                <a:solidFill>
                  <a:srgbClr val="81D3B4"/>
                </a:solidFill>
              </a:rPr>
              <a:t>(Mask</a:t>
            </a:r>
            <a:r>
              <a:rPr dirty="0" sz="5500" spc="-525">
                <a:solidFill>
                  <a:srgbClr val="81D3B4"/>
                </a:solidFill>
              </a:rPr>
              <a:t> </a:t>
            </a:r>
            <a:r>
              <a:rPr dirty="0" sz="5500" spc="-395">
                <a:solidFill>
                  <a:srgbClr val="81D3B4"/>
                </a:solidFill>
              </a:rPr>
              <a:t>RCNN)</a:t>
            </a:r>
            <a:endParaRPr sz="5500"/>
          </a:p>
        </p:txBody>
      </p:sp>
      <p:sp>
        <p:nvSpPr>
          <p:cNvPr id="4" name="object 4" descr=""/>
          <p:cNvSpPr txBox="1"/>
          <p:nvPr/>
        </p:nvSpPr>
        <p:spPr>
          <a:xfrm>
            <a:off x="10811738" y="3331660"/>
            <a:ext cx="257683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80">
                <a:solidFill>
                  <a:srgbClr val="FFFFFF"/>
                </a:solidFill>
                <a:latin typeface="Tahoma"/>
                <a:cs typeface="Tahoma"/>
              </a:rPr>
              <a:t>Accuracy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27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80">
                <a:solidFill>
                  <a:srgbClr val="FFFFFF"/>
                </a:solidFill>
                <a:latin typeface="Tahoma"/>
                <a:cs typeface="Tahoma"/>
              </a:rPr>
              <a:t>41%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4900" y="2536887"/>
            <a:ext cx="3108325" cy="597090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r>
              <a:rPr dirty="0" sz="2500" spc="-10">
                <a:solidFill>
                  <a:srgbClr val="1B1B1C"/>
                </a:solidFill>
                <a:latin typeface="Lucida Sans Unicode"/>
                <a:cs typeface="Lucida Sans Unicode"/>
              </a:rPr>
              <a:t>Parameter</a:t>
            </a: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r>
              <a:rPr dirty="0" sz="2200" spc="-140">
                <a:solidFill>
                  <a:srgbClr val="1B1B1C"/>
                </a:solidFill>
                <a:latin typeface="Arial Black"/>
                <a:cs typeface="Arial Black"/>
              </a:rPr>
              <a:t>Architecture</a:t>
            </a:r>
            <a:r>
              <a:rPr dirty="0" sz="2200" spc="-13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20">
                <a:solidFill>
                  <a:srgbClr val="1B1B1C"/>
                </a:solidFill>
                <a:latin typeface="Arial Black"/>
                <a:cs typeface="Arial Black"/>
              </a:rPr>
              <a:t>Type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814"/>
              </a:spcBef>
            </a:pP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2200" spc="-140">
                <a:solidFill>
                  <a:srgbClr val="1B1B1C"/>
                </a:solidFill>
                <a:latin typeface="Arial Black"/>
                <a:cs typeface="Arial Black"/>
              </a:rPr>
              <a:t>Inference</a:t>
            </a:r>
            <a:r>
              <a:rPr dirty="0" sz="2200" spc="-15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50">
                <a:solidFill>
                  <a:srgbClr val="1B1B1C"/>
                </a:solidFill>
                <a:latin typeface="Arial Black"/>
                <a:cs typeface="Arial Black"/>
              </a:rPr>
              <a:t>Speed </a:t>
            </a:r>
            <a:r>
              <a:rPr dirty="0" sz="2200" spc="-20">
                <a:solidFill>
                  <a:srgbClr val="1B1B1C"/>
                </a:solidFill>
                <a:latin typeface="Arial Black"/>
                <a:cs typeface="Arial Black"/>
              </a:rPr>
              <a:t>(FPS)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200">
              <a:latin typeface="Arial Black"/>
              <a:cs typeface="Arial Black"/>
            </a:endParaRPr>
          </a:p>
          <a:p>
            <a:pPr>
              <a:lnSpc>
                <a:spcPts val="2550"/>
              </a:lnSpc>
            </a:pPr>
            <a:r>
              <a:rPr dirty="0" sz="2200" spc="-185">
                <a:solidFill>
                  <a:srgbClr val="1B1B1C"/>
                </a:solidFill>
                <a:latin typeface="Arial Black"/>
                <a:cs typeface="Arial Black"/>
              </a:rPr>
              <a:t>Accuracy </a:t>
            </a:r>
            <a:r>
              <a:rPr dirty="0" sz="2200" spc="-155">
                <a:solidFill>
                  <a:srgbClr val="1B1B1C"/>
                </a:solidFill>
                <a:latin typeface="Arial Black"/>
                <a:cs typeface="Arial Black"/>
              </a:rPr>
              <a:t>(mAP</a:t>
            </a:r>
            <a:r>
              <a:rPr dirty="0" sz="2200" spc="-18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470">
                <a:solidFill>
                  <a:srgbClr val="1B1B1C"/>
                </a:solidFill>
                <a:latin typeface="Arial Black"/>
                <a:cs typeface="Arial Black"/>
              </a:rPr>
              <a:t>@</a:t>
            </a:r>
            <a:r>
              <a:rPr dirty="0" sz="2200" spc="-19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20">
                <a:solidFill>
                  <a:srgbClr val="1B1B1C"/>
                </a:solidFill>
                <a:latin typeface="Arial Black"/>
                <a:cs typeface="Arial Black"/>
              </a:rPr>
              <a:t>0.50 </a:t>
            </a:r>
            <a:r>
              <a:rPr dirty="0" sz="2200" spc="-105">
                <a:solidFill>
                  <a:srgbClr val="1B1B1C"/>
                </a:solidFill>
                <a:latin typeface="Arial Black"/>
                <a:cs typeface="Arial Black"/>
              </a:rPr>
              <a:t>in</a:t>
            </a:r>
            <a:r>
              <a:rPr dirty="0" sz="2200" spc="-20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0">
                <a:solidFill>
                  <a:srgbClr val="1B1B1C"/>
                </a:solidFill>
                <a:latin typeface="Arial Black"/>
                <a:cs typeface="Arial Black"/>
              </a:rPr>
              <a:t>Context)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460"/>
              </a:spcBef>
            </a:pPr>
            <a:endParaRPr sz="2200">
              <a:latin typeface="Arial Black"/>
              <a:cs typeface="Arial Black"/>
            </a:endParaRPr>
          </a:p>
          <a:p>
            <a:pPr marR="455295">
              <a:lnSpc>
                <a:spcPts val="2550"/>
              </a:lnSpc>
            </a:pPr>
            <a:r>
              <a:rPr dirty="0" sz="2200" spc="-120">
                <a:solidFill>
                  <a:srgbClr val="1B1B1C"/>
                </a:solidFill>
                <a:latin typeface="Arial Black"/>
                <a:cs typeface="Arial Black"/>
              </a:rPr>
              <a:t>Suitability</a:t>
            </a:r>
            <a:r>
              <a:rPr dirty="0" sz="2200" spc="-15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55">
                <a:solidFill>
                  <a:srgbClr val="1B1B1C"/>
                </a:solidFill>
                <a:latin typeface="Arial Black"/>
                <a:cs typeface="Arial Black"/>
              </a:rPr>
              <a:t>for</a:t>
            </a:r>
            <a:r>
              <a:rPr dirty="0" sz="2200" spc="-15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10">
                <a:solidFill>
                  <a:srgbClr val="1B1B1C"/>
                </a:solidFill>
                <a:latin typeface="Arial Black"/>
                <a:cs typeface="Arial Black"/>
              </a:rPr>
              <a:t>Real- </a:t>
            </a:r>
            <a:r>
              <a:rPr dirty="0" sz="2200" spc="-190">
                <a:solidFill>
                  <a:srgbClr val="1B1B1C"/>
                </a:solidFill>
                <a:latin typeface="Arial Black"/>
                <a:cs typeface="Arial Black"/>
              </a:rPr>
              <a:t>Time</a:t>
            </a:r>
            <a:r>
              <a:rPr dirty="0" sz="2200" spc="-18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0">
                <a:solidFill>
                  <a:srgbClr val="1B1B1C"/>
                </a:solidFill>
                <a:latin typeface="Arial Black"/>
                <a:cs typeface="Arial Black"/>
              </a:rPr>
              <a:t>Traffic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71130" y="2531377"/>
            <a:ext cx="2884805" cy="598360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2400" spc="-10">
                <a:solidFill>
                  <a:srgbClr val="1B1B1C"/>
                </a:solidFill>
                <a:latin typeface="Arial Black"/>
                <a:cs typeface="Arial Black"/>
              </a:rPr>
              <a:t>YOLOv8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400">
              <a:latin typeface="Arial Black"/>
              <a:cs typeface="Arial Black"/>
            </a:endParaRPr>
          </a:p>
          <a:p>
            <a:pPr marR="328930">
              <a:lnSpc>
                <a:spcPts val="2480"/>
              </a:lnSpc>
            </a:pPr>
            <a:r>
              <a:rPr dirty="0" sz="2200" spc="-85">
                <a:solidFill>
                  <a:srgbClr val="1B1B1C"/>
                </a:solidFill>
                <a:latin typeface="Arial Black"/>
                <a:cs typeface="Arial Black"/>
              </a:rPr>
              <a:t>One-</a:t>
            </a:r>
            <a:r>
              <a:rPr dirty="0" sz="2200" spc="-200">
                <a:solidFill>
                  <a:srgbClr val="1B1B1C"/>
                </a:solidFill>
                <a:latin typeface="Arial Black"/>
                <a:cs typeface="Arial Black"/>
              </a:rPr>
              <a:t>Stage</a:t>
            </a:r>
            <a:r>
              <a:rPr dirty="0" sz="2200" spc="-12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20">
                <a:latin typeface="Lucida Sans Unicode"/>
                <a:cs typeface="Lucida Sans Unicode"/>
              </a:rPr>
              <a:t>(Speed- </a:t>
            </a:r>
            <a:r>
              <a:rPr dirty="0" sz="2200" spc="-10">
                <a:latin typeface="Lucida Sans Unicode"/>
                <a:cs typeface="Lucida Sans Unicode"/>
              </a:rPr>
              <a:t>optimized)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227965">
              <a:lnSpc>
                <a:spcPts val="2480"/>
              </a:lnSpc>
              <a:spcBef>
                <a:spcPts val="5"/>
              </a:spcBef>
            </a:pPr>
            <a:r>
              <a:rPr dirty="0" sz="2200" spc="-145">
                <a:solidFill>
                  <a:srgbClr val="1B1B1C"/>
                </a:solidFill>
                <a:latin typeface="Arial Black"/>
                <a:cs typeface="Arial Black"/>
              </a:rPr>
              <a:t>Very</a:t>
            </a:r>
            <a:r>
              <a:rPr dirty="0" sz="2200" spc="-19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45">
                <a:solidFill>
                  <a:srgbClr val="1B1B1C"/>
                </a:solidFill>
                <a:latin typeface="Arial Black"/>
                <a:cs typeface="Arial Black"/>
              </a:rPr>
              <a:t>High</a:t>
            </a:r>
            <a:r>
              <a:rPr dirty="0" sz="2200" spc="-17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150">
                <a:latin typeface="Lucida Sans Unicode"/>
                <a:cs typeface="Lucida Sans Unicode"/>
              </a:rPr>
              <a:t>(30+</a:t>
            </a:r>
            <a:r>
              <a:rPr dirty="0" sz="2200" spc="-135">
                <a:latin typeface="Lucida Sans Unicode"/>
                <a:cs typeface="Lucida Sans Unicode"/>
              </a:rPr>
              <a:t> </a:t>
            </a:r>
            <a:r>
              <a:rPr dirty="0" sz="2200" spc="50">
                <a:latin typeface="Lucida Sans Unicode"/>
                <a:cs typeface="Lucida Sans Unicode"/>
              </a:rPr>
              <a:t>FPS, </a:t>
            </a:r>
            <a:r>
              <a:rPr dirty="0" sz="2200" spc="-80">
                <a:latin typeface="Lucida Sans Unicode"/>
                <a:cs typeface="Lucida Sans Unicode"/>
              </a:rPr>
              <a:t>Real-</a:t>
            </a:r>
            <a:r>
              <a:rPr dirty="0" sz="2200" spc="-10">
                <a:latin typeface="Lucida Sans Unicode"/>
                <a:cs typeface="Lucida Sans Unicode"/>
              </a:rPr>
              <a:t>time)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200">
              <a:latin typeface="Lucida Sans Unicode"/>
              <a:cs typeface="Lucida Sans Unicode"/>
            </a:endParaRPr>
          </a:p>
          <a:p>
            <a:pPr>
              <a:lnSpc>
                <a:spcPts val="2480"/>
              </a:lnSpc>
            </a:pPr>
            <a:r>
              <a:rPr dirty="0" sz="2200" spc="-220">
                <a:solidFill>
                  <a:srgbClr val="1B1B1C"/>
                </a:solidFill>
                <a:latin typeface="Arial Black"/>
                <a:cs typeface="Arial Black"/>
              </a:rPr>
              <a:t>53%</a:t>
            </a:r>
            <a:r>
              <a:rPr dirty="0" sz="2200" spc="-170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 spc="-45">
                <a:latin typeface="Lucida Sans Unicode"/>
                <a:cs typeface="Lucida Sans Unicode"/>
              </a:rPr>
              <a:t>(High</a:t>
            </a:r>
            <a:r>
              <a:rPr dirty="0" sz="2200" spc="-135">
                <a:latin typeface="Lucida Sans Unicode"/>
                <a:cs typeface="Lucida Sans Unicode"/>
              </a:rPr>
              <a:t> </a:t>
            </a:r>
            <a:r>
              <a:rPr dirty="0" sz="2200" spc="-35">
                <a:latin typeface="Lucida Sans Unicode"/>
                <a:cs typeface="Lucida Sans Unicode"/>
              </a:rPr>
              <a:t>enough</a:t>
            </a:r>
            <a:r>
              <a:rPr dirty="0" sz="2200" spc="-130">
                <a:latin typeface="Lucida Sans Unicode"/>
                <a:cs typeface="Lucida Sans Unicode"/>
              </a:rPr>
              <a:t> </a:t>
            </a:r>
            <a:r>
              <a:rPr dirty="0" sz="2200" spc="-25">
                <a:latin typeface="Lucida Sans Unicode"/>
                <a:cs typeface="Lucida Sans Unicode"/>
              </a:rPr>
              <a:t>for </a:t>
            </a:r>
            <a:r>
              <a:rPr dirty="0" sz="2200" spc="-10">
                <a:latin typeface="Lucida Sans Unicode"/>
                <a:cs typeface="Lucida Sans Unicode"/>
              </a:rPr>
              <a:t>counting)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217804">
              <a:lnSpc>
                <a:spcPts val="2480"/>
              </a:lnSpc>
            </a:pPr>
            <a:r>
              <a:rPr dirty="0" sz="2200" spc="-170">
                <a:solidFill>
                  <a:srgbClr val="1B1B1C"/>
                </a:solidFill>
                <a:latin typeface="Arial Black"/>
                <a:cs typeface="Arial Black"/>
              </a:rPr>
              <a:t>Excellent</a:t>
            </a:r>
            <a:r>
              <a:rPr dirty="0" sz="2200" spc="-8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200">
                <a:latin typeface="Lucida Sans Unicode"/>
                <a:cs typeface="Lucida Sans Unicode"/>
              </a:rPr>
              <a:t>(Fastest</a:t>
            </a:r>
            <a:r>
              <a:rPr dirty="0" sz="2200" spc="-50">
                <a:latin typeface="Lucida Sans Unicode"/>
                <a:cs typeface="Lucida Sans Unicode"/>
              </a:rPr>
              <a:t> &amp; </a:t>
            </a:r>
            <a:r>
              <a:rPr dirty="0" sz="2200">
                <a:latin typeface="Lucida Sans Unicode"/>
                <a:cs typeface="Lucida Sans Unicode"/>
              </a:rPr>
              <a:t>Accurate</a:t>
            </a:r>
            <a:r>
              <a:rPr dirty="0" sz="2200" spc="40">
                <a:latin typeface="Lucida Sans Unicode"/>
                <a:cs typeface="Lucida Sans Unicode"/>
              </a:rPr>
              <a:t> </a:t>
            </a:r>
            <a:r>
              <a:rPr dirty="0" sz="2200" spc="-10">
                <a:latin typeface="Lucida Sans Unicode"/>
                <a:cs typeface="Lucida Sans Unicode"/>
              </a:rPr>
              <a:t>enough)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37361" y="2531377"/>
            <a:ext cx="2936240" cy="5976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2400" spc="-190">
                <a:solidFill>
                  <a:srgbClr val="1B1B1C"/>
                </a:solidFill>
                <a:latin typeface="Arial Black"/>
                <a:cs typeface="Arial Black"/>
              </a:rPr>
              <a:t>Faster</a:t>
            </a:r>
            <a:r>
              <a:rPr dirty="0" sz="2400" spc="-17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400" spc="-100">
                <a:solidFill>
                  <a:srgbClr val="1B1B1C"/>
                </a:solidFill>
                <a:latin typeface="Arial Black"/>
                <a:cs typeface="Arial Black"/>
              </a:rPr>
              <a:t>R-</a:t>
            </a:r>
            <a:r>
              <a:rPr dirty="0" sz="2400" spc="-25">
                <a:solidFill>
                  <a:srgbClr val="1B1B1C"/>
                </a:solidFill>
                <a:latin typeface="Arial Black"/>
                <a:cs typeface="Arial Black"/>
              </a:rPr>
              <a:t>CNN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Arial Black"/>
              <a:cs typeface="Arial Black"/>
            </a:endParaRPr>
          </a:p>
          <a:p>
            <a:pPr>
              <a:lnSpc>
                <a:spcPts val="2550"/>
              </a:lnSpc>
            </a:pPr>
            <a:r>
              <a:rPr dirty="0" sz="2200" spc="-150">
                <a:solidFill>
                  <a:srgbClr val="1B1B1C"/>
                </a:solidFill>
                <a:latin typeface="Lucida Sans Unicode"/>
                <a:cs typeface="Lucida Sans Unicode"/>
              </a:rPr>
              <a:t>Two-</a:t>
            </a: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Stage</a:t>
            </a:r>
            <a:r>
              <a:rPr dirty="0" sz="2200" spc="-3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1B1B1C"/>
                </a:solidFill>
                <a:latin typeface="Lucida Sans Unicode"/>
                <a:cs typeface="Lucida Sans Unicode"/>
              </a:rPr>
              <a:t>(Accuracy- optimized)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295"/>
              </a:spcBef>
            </a:pP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Low</a:t>
            </a:r>
            <a:r>
              <a:rPr dirty="0" sz="2200" spc="-12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90">
                <a:solidFill>
                  <a:srgbClr val="1B1B1C"/>
                </a:solidFill>
                <a:latin typeface="Lucida Sans Unicode"/>
                <a:cs typeface="Lucida Sans Unicode"/>
              </a:rPr>
              <a:t>(5-</a:t>
            </a:r>
            <a:r>
              <a:rPr dirty="0" sz="2200" spc="-20">
                <a:solidFill>
                  <a:srgbClr val="1B1B1C"/>
                </a:solidFill>
                <a:latin typeface="Lucida Sans Unicode"/>
                <a:cs typeface="Lucida Sans Unicode"/>
              </a:rPr>
              <a:t>20</a:t>
            </a:r>
            <a:r>
              <a:rPr dirty="0" sz="2200" spc="-114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80">
                <a:solidFill>
                  <a:srgbClr val="1B1B1C"/>
                </a:solidFill>
                <a:latin typeface="Lucida Sans Unicode"/>
                <a:cs typeface="Lucida Sans Unicode"/>
              </a:rPr>
              <a:t>FPS)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537210">
              <a:lnSpc>
                <a:spcPts val="2480"/>
              </a:lnSpc>
              <a:spcBef>
                <a:spcPts val="5"/>
              </a:spcBef>
            </a:pPr>
            <a:r>
              <a:rPr dirty="0" sz="2200" spc="80">
                <a:solidFill>
                  <a:srgbClr val="1B1B1C"/>
                </a:solidFill>
                <a:latin typeface="Lucida Sans Unicode"/>
                <a:cs typeface="Lucida Sans Unicode"/>
              </a:rPr>
              <a:t>36%</a:t>
            </a:r>
            <a:r>
              <a:rPr dirty="0" sz="2200" spc="-16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latin typeface="Lucida Sans Unicode"/>
                <a:cs typeface="Lucida Sans Unicode"/>
              </a:rPr>
              <a:t>(Initial</a:t>
            </a:r>
            <a:r>
              <a:rPr dirty="0" sz="2200" spc="-160">
                <a:latin typeface="Lucida Sans Unicode"/>
                <a:cs typeface="Lucida Sans Unicode"/>
              </a:rPr>
              <a:t> </a:t>
            </a:r>
            <a:r>
              <a:rPr dirty="0" sz="2200" spc="-20">
                <a:latin typeface="Lucida Sans Unicode"/>
                <a:cs typeface="Lucida Sans Unicode"/>
              </a:rPr>
              <a:t>Lower </a:t>
            </a:r>
            <a:r>
              <a:rPr dirty="0" sz="2200" spc="-10">
                <a:latin typeface="Lucida Sans Unicode"/>
                <a:cs typeface="Lucida Sans Unicode"/>
              </a:rPr>
              <a:t>Score)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217804">
              <a:lnSpc>
                <a:spcPts val="2550"/>
              </a:lnSpc>
              <a:spcBef>
                <a:spcPts val="5"/>
              </a:spcBef>
            </a:pPr>
            <a:r>
              <a:rPr dirty="0" sz="2200" spc="50">
                <a:solidFill>
                  <a:srgbClr val="1B1B1C"/>
                </a:solidFill>
                <a:latin typeface="Lucida Sans Unicode"/>
                <a:cs typeface="Lucida Sans Unicode"/>
              </a:rPr>
              <a:t>Poor</a:t>
            </a:r>
            <a:r>
              <a:rPr dirty="0" sz="2200" spc="-14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5">
                <a:solidFill>
                  <a:srgbClr val="1B1B1C"/>
                </a:solidFill>
                <a:latin typeface="Lucida Sans Unicode"/>
                <a:cs typeface="Lucida Sans Unicode"/>
              </a:rPr>
              <a:t>(Too</a:t>
            </a:r>
            <a:r>
              <a:rPr dirty="0" sz="2200" spc="-14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5">
                <a:solidFill>
                  <a:srgbClr val="1B1B1C"/>
                </a:solidFill>
                <a:latin typeface="Lucida Sans Unicode"/>
                <a:cs typeface="Lucida Sans Unicode"/>
              </a:rPr>
              <a:t>slow,</a:t>
            </a:r>
            <a:r>
              <a:rPr dirty="0" sz="2200" spc="-14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40">
                <a:solidFill>
                  <a:srgbClr val="1B1B1C"/>
                </a:solidFill>
                <a:latin typeface="Lucida Sans Unicode"/>
                <a:cs typeface="Lucida Sans Unicode"/>
              </a:rPr>
              <a:t>high </a:t>
            </a:r>
            <a:r>
              <a:rPr dirty="0" sz="2200" spc="-10">
                <a:solidFill>
                  <a:srgbClr val="1B1B1C"/>
                </a:solidFill>
                <a:latin typeface="Lucida Sans Unicode"/>
                <a:cs typeface="Lucida Sans Unicode"/>
              </a:rPr>
              <a:t>latency)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203591" y="2531377"/>
            <a:ext cx="2665730" cy="5976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5"/>
              </a:spcBef>
            </a:pPr>
            <a:r>
              <a:rPr dirty="0" sz="2400" spc="-235">
                <a:solidFill>
                  <a:srgbClr val="1B1B1C"/>
                </a:solidFill>
                <a:latin typeface="Arial Black"/>
                <a:cs typeface="Arial Black"/>
              </a:rPr>
              <a:t>Mask</a:t>
            </a:r>
            <a:r>
              <a:rPr dirty="0" sz="2400" spc="-185">
                <a:solidFill>
                  <a:srgbClr val="1B1B1C"/>
                </a:solidFill>
                <a:latin typeface="Arial Black"/>
                <a:cs typeface="Arial Black"/>
              </a:rPr>
              <a:t> </a:t>
            </a:r>
            <a:r>
              <a:rPr dirty="0" sz="2400" spc="-100">
                <a:solidFill>
                  <a:srgbClr val="1B1B1C"/>
                </a:solidFill>
                <a:latin typeface="Arial Black"/>
                <a:cs typeface="Arial Black"/>
              </a:rPr>
              <a:t>R-</a:t>
            </a:r>
            <a:r>
              <a:rPr dirty="0" sz="2400" spc="-25">
                <a:solidFill>
                  <a:srgbClr val="1B1B1C"/>
                </a:solidFill>
                <a:latin typeface="Arial Black"/>
                <a:cs typeface="Arial Black"/>
              </a:rPr>
              <a:t>CNN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Arial Black"/>
              <a:cs typeface="Arial Black"/>
            </a:endParaRPr>
          </a:p>
          <a:p>
            <a:pPr marR="1270">
              <a:lnSpc>
                <a:spcPts val="2550"/>
              </a:lnSpc>
            </a:pPr>
            <a:r>
              <a:rPr dirty="0" sz="2200" spc="-150">
                <a:solidFill>
                  <a:srgbClr val="1B1B1C"/>
                </a:solidFill>
                <a:latin typeface="Lucida Sans Unicode"/>
                <a:cs typeface="Lucida Sans Unicode"/>
              </a:rPr>
              <a:t>Two-</a:t>
            </a: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Stage</a:t>
            </a:r>
            <a:r>
              <a:rPr dirty="0" sz="2200" spc="-3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65">
                <a:solidFill>
                  <a:srgbClr val="1B1B1C"/>
                </a:solidFill>
                <a:latin typeface="Lucida Sans Unicode"/>
                <a:cs typeface="Lucida Sans Unicode"/>
              </a:rPr>
              <a:t>+</a:t>
            </a: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 Segmentation</a:t>
            </a:r>
            <a:r>
              <a:rPr dirty="0" sz="2200" spc="-8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">
                <a:solidFill>
                  <a:srgbClr val="1B1B1C"/>
                </a:solidFill>
                <a:latin typeface="Lucida Sans Unicode"/>
                <a:cs typeface="Lucida Sans Unicode"/>
              </a:rPr>
              <a:t>Head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295"/>
              </a:spcBef>
            </a:pP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Very</a:t>
            </a:r>
            <a:r>
              <a:rPr dirty="0" sz="2200" spc="-55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Low</a:t>
            </a:r>
            <a:r>
              <a:rPr dirty="0" sz="2200" spc="-5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1B1B1C"/>
                </a:solidFill>
                <a:latin typeface="Lucida Sans Unicode"/>
                <a:cs typeface="Lucida Sans Unicode"/>
              </a:rPr>
              <a:t>(Heaviest)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290830">
              <a:lnSpc>
                <a:spcPts val="2480"/>
              </a:lnSpc>
              <a:spcBef>
                <a:spcPts val="5"/>
              </a:spcBef>
            </a:pPr>
            <a:r>
              <a:rPr dirty="0" sz="2200">
                <a:solidFill>
                  <a:srgbClr val="1B1B1C"/>
                </a:solidFill>
                <a:latin typeface="Lucida Sans Unicode"/>
                <a:cs typeface="Lucida Sans Unicode"/>
              </a:rPr>
              <a:t>41%</a:t>
            </a:r>
            <a:r>
              <a:rPr dirty="0" sz="2200" spc="-13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latin typeface="Lucida Sans Unicode"/>
                <a:cs typeface="Lucida Sans Unicode"/>
              </a:rPr>
              <a:t>(Initial</a:t>
            </a:r>
            <a:r>
              <a:rPr dirty="0" sz="2200" spc="-130">
                <a:latin typeface="Lucida Sans Unicode"/>
                <a:cs typeface="Lucida Sans Unicode"/>
              </a:rPr>
              <a:t> </a:t>
            </a:r>
            <a:r>
              <a:rPr dirty="0" sz="2200" spc="-20">
                <a:latin typeface="Lucida Sans Unicode"/>
                <a:cs typeface="Lucida Sans Unicode"/>
              </a:rPr>
              <a:t>Lower </a:t>
            </a:r>
            <a:r>
              <a:rPr dirty="0" sz="2200" spc="-10">
                <a:latin typeface="Lucida Sans Unicode"/>
                <a:cs typeface="Lucida Sans Unicode"/>
              </a:rPr>
              <a:t>Score)</a:t>
            </a:r>
            <a:endParaRPr sz="2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2200">
              <a:latin typeface="Lucida Sans Unicode"/>
              <a:cs typeface="Lucida Sans Unicode"/>
            </a:endParaRPr>
          </a:p>
          <a:p>
            <a:pPr marR="411480">
              <a:lnSpc>
                <a:spcPts val="2550"/>
              </a:lnSpc>
              <a:spcBef>
                <a:spcPts val="5"/>
              </a:spcBef>
            </a:pPr>
            <a:r>
              <a:rPr dirty="0" sz="2200" spc="50">
                <a:solidFill>
                  <a:srgbClr val="1B1B1C"/>
                </a:solidFill>
                <a:latin typeface="Lucida Sans Unicode"/>
                <a:cs typeface="Lucida Sans Unicode"/>
              </a:rPr>
              <a:t>Poor</a:t>
            </a:r>
            <a:r>
              <a:rPr dirty="0" sz="2200" spc="-145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5">
                <a:solidFill>
                  <a:srgbClr val="1B1B1C"/>
                </a:solidFill>
                <a:latin typeface="Lucida Sans Unicode"/>
                <a:cs typeface="Lucida Sans Unicode"/>
              </a:rPr>
              <a:t>(Too</a:t>
            </a:r>
            <a:r>
              <a:rPr dirty="0" sz="2200" spc="-145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1B1B1C"/>
                </a:solidFill>
                <a:latin typeface="Lucida Sans Unicode"/>
                <a:cs typeface="Lucida Sans Unicode"/>
              </a:rPr>
              <a:t>slow</a:t>
            </a:r>
            <a:r>
              <a:rPr dirty="0" sz="2200" spc="-140">
                <a:solidFill>
                  <a:srgbClr val="1B1B1C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50">
                <a:solidFill>
                  <a:srgbClr val="1B1B1C"/>
                </a:solidFill>
                <a:latin typeface="Lucida Sans Unicode"/>
                <a:cs typeface="Lucida Sans Unicode"/>
              </a:rPr>
              <a:t>&amp; </a:t>
            </a:r>
            <a:r>
              <a:rPr dirty="0" sz="2200" spc="-10">
                <a:solidFill>
                  <a:srgbClr val="1B1B1C"/>
                </a:solidFill>
                <a:latin typeface="Lucida Sans Unicode"/>
                <a:cs typeface="Lucida Sans Unicode"/>
              </a:rPr>
              <a:t>Overkill)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23937" y="2071352"/>
            <a:ext cx="13474700" cy="6779895"/>
            <a:chOff x="1023937" y="2071352"/>
            <a:chExt cx="13474700" cy="6779895"/>
          </a:xfrm>
        </p:grpSpPr>
        <p:sp>
          <p:nvSpPr>
            <p:cNvPr id="7" name="object 7" descr=""/>
            <p:cNvSpPr/>
            <p:nvPr/>
          </p:nvSpPr>
          <p:spPr>
            <a:xfrm>
              <a:off x="1028687" y="2080881"/>
              <a:ext cx="13465175" cy="6760845"/>
            </a:xfrm>
            <a:custGeom>
              <a:avLst/>
              <a:gdLst/>
              <a:ahLst/>
              <a:cxnLst/>
              <a:rect l="l" t="t" r="r" b="b"/>
              <a:pathLst>
                <a:path w="13465175" h="6760845">
                  <a:moveTo>
                    <a:pt x="13464781" y="0"/>
                  </a:moveTo>
                  <a:lnTo>
                    <a:pt x="10098583" y="0"/>
                  </a:lnTo>
                  <a:lnTo>
                    <a:pt x="6732397" y="0"/>
                  </a:lnTo>
                  <a:lnTo>
                    <a:pt x="3366198" y="0"/>
                  </a:lnTo>
                  <a:lnTo>
                    <a:pt x="0" y="0"/>
                  </a:lnTo>
                  <a:lnTo>
                    <a:pt x="0" y="6760362"/>
                  </a:lnTo>
                  <a:lnTo>
                    <a:pt x="3366198" y="6760362"/>
                  </a:lnTo>
                  <a:lnTo>
                    <a:pt x="6732397" y="6760362"/>
                  </a:lnTo>
                  <a:lnTo>
                    <a:pt x="10098583" y="6760362"/>
                  </a:lnTo>
                  <a:lnTo>
                    <a:pt x="13464781" y="6760362"/>
                  </a:lnTo>
                  <a:lnTo>
                    <a:pt x="134647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23937" y="2076115"/>
              <a:ext cx="13474700" cy="6770370"/>
            </a:xfrm>
            <a:custGeom>
              <a:avLst/>
              <a:gdLst/>
              <a:ahLst/>
              <a:cxnLst/>
              <a:rect l="l" t="t" r="r" b="b"/>
              <a:pathLst>
                <a:path w="13474700" h="6770370">
                  <a:moveTo>
                    <a:pt x="4762" y="4762"/>
                  </a:moveTo>
                  <a:lnTo>
                    <a:pt x="4762" y="6765125"/>
                  </a:lnTo>
                </a:path>
                <a:path w="13474700" h="6770370">
                  <a:moveTo>
                    <a:pt x="3370956" y="4762"/>
                  </a:moveTo>
                  <a:lnTo>
                    <a:pt x="3370956" y="6765125"/>
                  </a:lnTo>
                </a:path>
                <a:path w="13474700" h="6770370">
                  <a:moveTo>
                    <a:pt x="6737150" y="4762"/>
                  </a:moveTo>
                  <a:lnTo>
                    <a:pt x="6737150" y="6765125"/>
                  </a:lnTo>
                </a:path>
                <a:path w="13474700" h="6770370">
                  <a:moveTo>
                    <a:pt x="10103345" y="4762"/>
                  </a:moveTo>
                  <a:lnTo>
                    <a:pt x="10103345" y="6765125"/>
                  </a:lnTo>
                </a:path>
                <a:path w="13474700" h="6770370">
                  <a:moveTo>
                    <a:pt x="13469539" y="4762"/>
                  </a:moveTo>
                  <a:lnTo>
                    <a:pt x="13469539" y="6765125"/>
                  </a:lnTo>
                </a:path>
                <a:path w="13474700" h="6770370">
                  <a:moveTo>
                    <a:pt x="0" y="0"/>
                  </a:moveTo>
                  <a:lnTo>
                    <a:pt x="13474301" y="0"/>
                  </a:lnTo>
                </a:path>
                <a:path w="13474700" h="6770370">
                  <a:moveTo>
                    <a:pt x="0" y="1353977"/>
                  </a:moveTo>
                  <a:lnTo>
                    <a:pt x="13474301" y="1353977"/>
                  </a:lnTo>
                </a:path>
                <a:path w="13474700" h="6770370">
                  <a:moveTo>
                    <a:pt x="0" y="2707955"/>
                  </a:moveTo>
                  <a:lnTo>
                    <a:pt x="13474301" y="2707955"/>
                  </a:lnTo>
                </a:path>
                <a:path w="13474700" h="6770370">
                  <a:moveTo>
                    <a:pt x="0" y="4061932"/>
                  </a:moveTo>
                  <a:lnTo>
                    <a:pt x="13474301" y="4061932"/>
                  </a:lnTo>
                </a:path>
                <a:path w="13474700" h="6770370">
                  <a:moveTo>
                    <a:pt x="0" y="5415910"/>
                  </a:moveTo>
                  <a:lnTo>
                    <a:pt x="13474301" y="5415910"/>
                  </a:lnTo>
                </a:path>
                <a:path w="13474700" h="6770370">
                  <a:moveTo>
                    <a:pt x="0" y="6769888"/>
                  </a:moveTo>
                  <a:lnTo>
                    <a:pt x="13474301" y="6769888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6191644" y="998855"/>
            <a:ext cx="108077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55">
                <a:solidFill>
                  <a:srgbClr val="FFFFFF"/>
                </a:solidFill>
                <a:latin typeface="Tahoma"/>
                <a:cs typeface="Tahoma"/>
              </a:rPr>
              <a:t>08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2691" rIns="0" bIns="0" rtlCol="0" vert="horz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dirty="0" sz="8100" spc="-370">
                <a:solidFill>
                  <a:srgbClr val="81D3B4"/>
                </a:solidFill>
              </a:rPr>
              <a:t>Why</a:t>
            </a:r>
            <a:r>
              <a:rPr dirty="0" sz="8100" spc="-790">
                <a:solidFill>
                  <a:srgbClr val="81D3B4"/>
                </a:solidFill>
              </a:rPr>
              <a:t> </a:t>
            </a:r>
            <a:r>
              <a:rPr dirty="0" sz="8100" spc="-595">
                <a:solidFill>
                  <a:srgbClr val="81D3B4"/>
                </a:solidFill>
              </a:rPr>
              <a:t>YOLOv8</a:t>
            </a:r>
            <a:r>
              <a:rPr dirty="0" sz="8100" spc="-785">
                <a:solidFill>
                  <a:srgbClr val="81D3B4"/>
                </a:solidFill>
              </a:rPr>
              <a:t> </a:t>
            </a:r>
            <a:r>
              <a:rPr dirty="0" sz="8100" spc="-944">
                <a:solidFill>
                  <a:srgbClr val="81D3B4"/>
                </a:solidFill>
              </a:rPr>
              <a:t>?</a:t>
            </a:r>
            <a:endParaRPr sz="8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32079" y="8777926"/>
            <a:ext cx="1923414" cy="476250"/>
            <a:chOff x="1032079" y="8777926"/>
            <a:chExt cx="1923414" cy="47625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2099" y="8777926"/>
              <a:ext cx="1922819" cy="47586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032078" y="8777934"/>
              <a:ext cx="1923414" cy="476250"/>
            </a:xfrm>
            <a:custGeom>
              <a:avLst/>
              <a:gdLst/>
              <a:ahLst/>
              <a:cxnLst/>
              <a:rect l="l" t="t" r="r" b="b"/>
              <a:pathLst>
                <a:path w="1923414" h="476250">
                  <a:moveTo>
                    <a:pt x="1922856" y="243446"/>
                  </a:moveTo>
                  <a:lnTo>
                    <a:pt x="1918449" y="195033"/>
                  </a:lnTo>
                  <a:lnTo>
                    <a:pt x="1904720" y="149682"/>
                  </a:lnTo>
                  <a:lnTo>
                    <a:pt x="1882635" y="108407"/>
                  </a:lnTo>
                  <a:lnTo>
                    <a:pt x="1853260" y="72275"/>
                  </a:lnTo>
                  <a:lnTo>
                    <a:pt x="1817598" y="42316"/>
                  </a:lnTo>
                  <a:lnTo>
                    <a:pt x="1776691" y="19596"/>
                  </a:lnTo>
                  <a:lnTo>
                    <a:pt x="1731568" y="5130"/>
                  </a:lnTo>
                  <a:lnTo>
                    <a:pt x="1683245" y="0"/>
                  </a:lnTo>
                  <a:lnTo>
                    <a:pt x="1636471" y="4419"/>
                  </a:lnTo>
                  <a:lnTo>
                    <a:pt x="1592745" y="17360"/>
                  </a:lnTo>
                  <a:lnTo>
                    <a:pt x="1552930" y="37960"/>
                  </a:lnTo>
                  <a:lnTo>
                    <a:pt x="1517891" y="65341"/>
                  </a:lnTo>
                  <a:lnTo>
                    <a:pt x="1488490" y="98640"/>
                  </a:lnTo>
                  <a:lnTo>
                    <a:pt x="1465592" y="137007"/>
                  </a:lnTo>
                  <a:lnTo>
                    <a:pt x="1441030" y="174193"/>
                  </a:lnTo>
                  <a:lnTo>
                    <a:pt x="1407883" y="202628"/>
                  </a:lnTo>
                  <a:lnTo>
                    <a:pt x="1368272" y="220814"/>
                  </a:lnTo>
                  <a:lnTo>
                    <a:pt x="1324267" y="227203"/>
                  </a:lnTo>
                  <a:lnTo>
                    <a:pt x="1320393" y="227203"/>
                  </a:lnTo>
                  <a:lnTo>
                    <a:pt x="1276400" y="220814"/>
                  </a:lnTo>
                  <a:lnTo>
                    <a:pt x="1236776" y="202628"/>
                  </a:lnTo>
                  <a:lnTo>
                    <a:pt x="1203629" y="174193"/>
                  </a:lnTo>
                  <a:lnTo>
                    <a:pt x="1179068" y="137007"/>
                  </a:lnTo>
                  <a:lnTo>
                    <a:pt x="1156182" y="98640"/>
                  </a:lnTo>
                  <a:lnTo>
                    <a:pt x="1126782" y="65341"/>
                  </a:lnTo>
                  <a:lnTo>
                    <a:pt x="1091730" y="37960"/>
                  </a:lnTo>
                  <a:lnTo>
                    <a:pt x="1051915" y="17360"/>
                  </a:lnTo>
                  <a:lnTo>
                    <a:pt x="1008189" y="4419"/>
                  </a:lnTo>
                  <a:lnTo>
                    <a:pt x="961428" y="0"/>
                  </a:lnTo>
                  <a:lnTo>
                    <a:pt x="914654" y="4419"/>
                  </a:lnTo>
                  <a:lnTo>
                    <a:pt x="870927" y="17360"/>
                  </a:lnTo>
                  <a:lnTo>
                    <a:pt x="831113" y="37960"/>
                  </a:lnTo>
                  <a:lnTo>
                    <a:pt x="796074" y="65341"/>
                  </a:lnTo>
                  <a:lnTo>
                    <a:pt x="766673" y="98640"/>
                  </a:lnTo>
                  <a:lnTo>
                    <a:pt x="743775" y="137007"/>
                  </a:lnTo>
                  <a:lnTo>
                    <a:pt x="719213" y="174193"/>
                  </a:lnTo>
                  <a:lnTo>
                    <a:pt x="686079" y="202628"/>
                  </a:lnTo>
                  <a:lnTo>
                    <a:pt x="646455" y="220814"/>
                  </a:lnTo>
                  <a:lnTo>
                    <a:pt x="602449" y="227203"/>
                  </a:lnTo>
                  <a:lnTo>
                    <a:pt x="598576" y="227203"/>
                  </a:lnTo>
                  <a:lnTo>
                    <a:pt x="554583" y="220814"/>
                  </a:lnTo>
                  <a:lnTo>
                    <a:pt x="514959" y="202628"/>
                  </a:lnTo>
                  <a:lnTo>
                    <a:pt x="481825" y="174193"/>
                  </a:lnTo>
                  <a:lnTo>
                    <a:pt x="457250" y="137007"/>
                  </a:lnTo>
                  <a:lnTo>
                    <a:pt x="434365" y="98640"/>
                  </a:lnTo>
                  <a:lnTo>
                    <a:pt x="404964" y="65341"/>
                  </a:lnTo>
                  <a:lnTo>
                    <a:pt x="369925" y="37960"/>
                  </a:lnTo>
                  <a:lnTo>
                    <a:pt x="330098" y="17360"/>
                  </a:lnTo>
                  <a:lnTo>
                    <a:pt x="286372" y="4419"/>
                  </a:lnTo>
                  <a:lnTo>
                    <a:pt x="239610" y="0"/>
                  </a:lnTo>
                  <a:lnTo>
                    <a:pt x="191287" y="5130"/>
                  </a:lnTo>
                  <a:lnTo>
                    <a:pt x="146151" y="19596"/>
                  </a:lnTo>
                  <a:lnTo>
                    <a:pt x="105244" y="42316"/>
                  </a:lnTo>
                  <a:lnTo>
                    <a:pt x="69583" y="72275"/>
                  </a:lnTo>
                  <a:lnTo>
                    <a:pt x="40208" y="108407"/>
                  </a:lnTo>
                  <a:lnTo>
                    <a:pt x="18135" y="149682"/>
                  </a:lnTo>
                  <a:lnTo>
                    <a:pt x="4394" y="195033"/>
                  </a:lnTo>
                  <a:lnTo>
                    <a:pt x="0" y="243446"/>
                  </a:lnTo>
                  <a:lnTo>
                    <a:pt x="5422" y="291312"/>
                  </a:lnTo>
                  <a:lnTo>
                    <a:pt x="19761" y="335851"/>
                  </a:lnTo>
                  <a:lnTo>
                    <a:pt x="42075" y="376123"/>
                  </a:lnTo>
                  <a:lnTo>
                    <a:pt x="71412" y="411187"/>
                  </a:lnTo>
                  <a:lnTo>
                    <a:pt x="106845" y="440105"/>
                  </a:lnTo>
                  <a:lnTo>
                    <a:pt x="147421" y="461937"/>
                  </a:lnTo>
                  <a:lnTo>
                    <a:pt x="192214" y="475716"/>
                  </a:lnTo>
                  <a:lnTo>
                    <a:pt x="193636" y="475869"/>
                  </a:lnTo>
                  <a:lnTo>
                    <a:pt x="287134" y="475869"/>
                  </a:lnTo>
                  <a:lnTo>
                    <a:pt x="330923" y="462826"/>
                  </a:lnTo>
                  <a:lnTo>
                    <a:pt x="370763" y="442023"/>
                  </a:lnTo>
                  <a:lnTo>
                    <a:pt x="405790" y="414401"/>
                  </a:lnTo>
                  <a:lnTo>
                    <a:pt x="435114" y="380847"/>
                  </a:lnTo>
                  <a:lnTo>
                    <a:pt x="457860" y="342239"/>
                  </a:lnTo>
                  <a:lnTo>
                    <a:pt x="482320" y="305295"/>
                  </a:lnTo>
                  <a:lnTo>
                    <a:pt x="515645" y="277291"/>
                  </a:lnTo>
                  <a:lnTo>
                    <a:pt x="555485" y="259524"/>
                  </a:lnTo>
                  <a:lnTo>
                    <a:pt x="599465" y="253314"/>
                  </a:lnTo>
                  <a:lnTo>
                    <a:pt x="601573" y="253314"/>
                  </a:lnTo>
                  <a:lnTo>
                    <a:pt x="645553" y="259524"/>
                  </a:lnTo>
                  <a:lnTo>
                    <a:pt x="685380" y="277291"/>
                  </a:lnTo>
                  <a:lnTo>
                    <a:pt x="718718" y="305295"/>
                  </a:lnTo>
                  <a:lnTo>
                    <a:pt x="743165" y="342239"/>
                  </a:lnTo>
                  <a:lnTo>
                    <a:pt x="765429" y="380161"/>
                  </a:lnTo>
                  <a:lnTo>
                    <a:pt x="794029" y="413219"/>
                  </a:lnTo>
                  <a:lnTo>
                    <a:pt x="828141" y="440601"/>
                  </a:lnTo>
                  <a:lnTo>
                    <a:pt x="866940" y="461479"/>
                  </a:lnTo>
                  <a:lnTo>
                    <a:pt x="909599" y="475030"/>
                  </a:lnTo>
                  <a:lnTo>
                    <a:pt x="916698" y="475869"/>
                  </a:lnTo>
                  <a:lnTo>
                    <a:pt x="1006157" y="475869"/>
                  </a:lnTo>
                  <a:lnTo>
                    <a:pt x="1055916" y="461479"/>
                  </a:lnTo>
                  <a:lnTo>
                    <a:pt x="1094714" y="440601"/>
                  </a:lnTo>
                  <a:lnTo>
                    <a:pt x="1128826" y="413219"/>
                  </a:lnTo>
                  <a:lnTo>
                    <a:pt x="1157427" y="380161"/>
                  </a:lnTo>
                  <a:lnTo>
                    <a:pt x="1179677" y="342239"/>
                  </a:lnTo>
                  <a:lnTo>
                    <a:pt x="1204137" y="305295"/>
                  </a:lnTo>
                  <a:lnTo>
                    <a:pt x="1237462" y="277291"/>
                  </a:lnTo>
                  <a:lnTo>
                    <a:pt x="1277302" y="259524"/>
                  </a:lnTo>
                  <a:lnTo>
                    <a:pt x="1321282" y="253314"/>
                  </a:lnTo>
                  <a:lnTo>
                    <a:pt x="1323390" y="253314"/>
                  </a:lnTo>
                  <a:lnTo>
                    <a:pt x="1367370" y="259524"/>
                  </a:lnTo>
                  <a:lnTo>
                    <a:pt x="1407198" y="277291"/>
                  </a:lnTo>
                  <a:lnTo>
                    <a:pt x="1440522" y="305295"/>
                  </a:lnTo>
                  <a:lnTo>
                    <a:pt x="1464983" y="342239"/>
                  </a:lnTo>
                  <a:lnTo>
                    <a:pt x="1487741" y="380847"/>
                  </a:lnTo>
                  <a:lnTo>
                    <a:pt x="1517065" y="414401"/>
                  </a:lnTo>
                  <a:lnTo>
                    <a:pt x="1552079" y="442023"/>
                  </a:lnTo>
                  <a:lnTo>
                    <a:pt x="1591932" y="462826"/>
                  </a:lnTo>
                  <a:lnTo>
                    <a:pt x="1635721" y="475869"/>
                  </a:lnTo>
                  <a:lnTo>
                    <a:pt x="1729206" y="475869"/>
                  </a:lnTo>
                  <a:lnTo>
                    <a:pt x="1775421" y="461937"/>
                  </a:lnTo>
                  <a:lnTo>
                    <a:pt x="1815998" y="440105"/>
                  </a:lnTo>
                  <a:lnTo>
                    <a:pt x="1851431" y="411187"/>
                  </a:lnTo>
                  <a:lnTo>
                    <a:pt x="1880781" y="376123"/>
                  </a:lnTo>
                  <a:lnTo>
                    <a:pt x="1903082" y="335851"/>
                  </a:lnTo>
                  <a:lnTo>
                    <a:pt x="1917420" y="291312"/>
                  </a:lnTo>
                  <a:lnTo>
                    <a:pt x="1921738" y="253314"/>
                  </a:lnTo>
                  <a:lnTo>
                    <a:pt x="1922856" y="243446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6190453" y="998855"/>
            <a:ext cx="10814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160">
                <a:solidFill>
                  <a:srgbClr val="FFFFFF"/>
                </a:solidFill>
                <a:latin typeface="Tahoma"/>
                <a:cs typeface="Tahoma"/>
              </a:rPr>
              <a:t>09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673" rIns="0" bIns="0" rtlCol="0" vert="horz">
            <a:spAutoFit/>
          </a:bodyPr>
          <a:lstStyle/>
          <a:p>
            <a:pPr marL="339725">
              <a:lnSpc>
                <a:spcPct val="100000"/>
              </a:lnSpc>
              <a:spcBef>
                <a:spcPts val="100"/>
              </a:spcBef>
            </a:pPr>
            <a:r>
              <a:rPr dirty="0" sz="7800" spc="-360">
                <a:solidFill>
                  <a:srgbClr val="81D3B4"/>
                </a:solidFill>
              </a:rPr>
              <a:t>Why</a:t>
            </a:r>
            <a:r>
              <a:rPr dirty="0" sz="7800" spc="-755">
                <a:solidFill>
                  <a:srgbClr val="81D3B4"/>
                </a:solidFill>
              </a:rPr>
              <a:t> </a:t>
            </a:r>
            <a:r>
              <a:rPr dirty="0" sz="7800" spc="-280">
                <a:solidFill>
                  <a:srgbClr val="81D3B4"/>
                </a:solidFill>
              </a:rPr>
              <a:t>not</a:t>
            </a:r>
            <a:r>
              <a:rPr dirty="0" sz="7800" spc="-755">
                <a:solidFill>
                  <a:srgbClr val="81D3B4"/>
                </a:solidFill>
              </a:rPr>
              <a:t> </a:t>
            </a:r>
            <a:r>
              <a:rPr dirty="0" sz="7800" spc="-645">
                <a:solidFill>
                  <a:srgbClr val="81D3B4"/>
                </a:solidFill>
              </a:rPr>
              <a:t>YOLOV9?</a:t>
            </a:r>
            <a:endParaRPr sz="78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2367521"/>
            <a:ext cx="104775" cy="1047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3253346"/>
            <a:ext cx="104775" cy="1047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4586846"/>
            <a:ext cx="104775" cy="1047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5920346"/>
            <a:ext cx="104775" cy="1047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924" y="7253846"/>
            <a:ext cx="104775" cy="1047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555650" y="2189753"/>
            <a:ext cx="12854940" cy="5292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Ease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Tahoma"/>
                <a:cs typeface="Tahoma"/>
              </a:rPr>
              <a:t>Ultralytics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Tahoma"/>
                <a:cs typeface="Tahoma"/>
              </a:rPr>
              <a:t>makes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80">
                <a:solidFill>
                  <a:srgbClr val="FFFFFF"/>
                </a:solidFill>
                <a:latin typeface="Tahoma"/>
                <a:cs typeface="Tahoma"/>
              </a:rPr>
              <a:t>v8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Tahoma"/>
                <a:cs typeface="Tahoma"/>
              </a:rPr>
              <a:t>plug-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and-</a:t>
            </a:r>
            <a:r>
              <a:rPr dirty="0" sz="2500" spc="40">
                <a:solidFill>
                  <a:srgbClr val="FFFFFF"/>
                </a:solidFill>
                <a:latin typeface="Tahoma"/>
                <a:cs typeface="Tahoma"/>
              </a:rPr>
              <a:t>play.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500">
              <a:latin typeface="Tahoma"/>
              <a:cs typeface="Tahoma"/>
            </a:endParaRPr>
          </a:p>
          <a:p>
            <a:pPr marL="12700" marR="76835">
              <a:lnSpc>
                <a:spcPct val="117500"/>
              </a:lnSpc>
            </a:pP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Community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ahoma"/>
                <a:cs typeface="Tahoma"/>
              </a:rPr>
              <a:t>Tutorials,</a:t>
            </a:r>
            <a:r>
              <a:rPr dirty="0" sz="25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docs,</a:t>
            </a:r>
            <a:r>
              <a:rPr dirty="0" sz="25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ahoma"/>
                <a:cs typeface="Tahoma"/>
              </a:rPr>
              <a:t>pretrained</a:t>
            </a:r>
            <a:r>
              <a:rPr dirty="0" sz="25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weights,</a:t>
            </a:r>
            <a:r>
              <a:rPr dirty="0" sz="2500" spc="-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GitHub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0">
                <a:solidFill>
                  <a:srgbClr val="FFFFFF"/>
                </a:solidFill>
                <a:latin typeface="Tahoma"/>
                <a:cs typeface="Tahoma"/>
              </a:rPr>
              <a:t>issues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6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focused </a:t>
            </a:r>
            <a:r>
              <a:rPr dirty="0" sz="2500" spc="105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YOLOv8.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500">
              <a:latin typeface="Tahoma"/>
              <a:cs typeface="Tahoma"/>
            </a:endParaRPr>
          </a:p>
          <a:p>
            <a:pPr marL="12700" marR="1568450">
              <a:lnSpc>
                <a:spcPct val="117500"/>
              </a:lnSpc>
              <a:spcBef>
                <a:spcPts val="5"/>
              </a:spcBef>
            </a:pP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Anchor-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free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Tahoma"/>
                <a:cs typeface="Tahoma"/>
              </a:rPr>
              <a:t>Simplifies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pipeline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65">
                <a:solidFill>
                  <a:srgbClr val="FFFFFF"/>
                </a:solidFill>
                <a:latin typeface="Tahoma"/>
                <a:cs typeface="Tahoma"/>
              </a:rPr>
              <a:t>(no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Tahoma"/>
                <a:cs typeface="Tahoma"/>
              </a:rPr>
              <a:t>anchor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Tahoma"/>
                <a:cs typeface="Tahoma"/>
              </a:rPr>
              <a:t>tuning 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headaches).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500">
              <a:latin typeface="Tahoma"/>
              <a:cs typeface="Tahoma"/>
            </a:endParaRPr>
          </a:p>
          <a:p>
            <a:pPr marL="12700" marR="866775">
              <a:lnSpc>
                <a:spcPct val="117500"/>
              </a:lnSpc>
            </a:pPr>
            <a:r>
              <a:rPr dirty="0" sz="2500" spc="105">
                <a:solidFill>
                  <a:srgbClr val="FFFFFF"/>
                </a:solidFill>
                <a:latin typeface="Tahoma"/>
                <a:cs typeface="Tahoma"/>
              </a:rPr>
              <a:t>Deployment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YOLOv8</a:t>
            </a:r>
            <a:r>
              <a:rPr dirty="0" sz="25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ahoma"/>
                <a:cs typeface="Tahoma"/>
              </a:rPr>
              <a:t>integrates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ONNX,</a:t>
            </a:r>
            <a:r>
              <a:rPr dirty="0" sz="25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Tahoma"/>
                <a:cs typeface="Tahoma"/>
              </a:rPr>
              <a:t>TensorRT,</a:t>
            </a:r>
            <a:r>
              <a:rPr dirty="0" sz="25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CoreML,</a:t>
            </a:r>
            <a:r>
              <a:rPr dirty="0" sz="25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etc.</a:t>
            </a:r>
            <a:r>
              <a:rPr dirty="0" sz="250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YOLOv9 </a:t>
            </a:r>
            <a:r>
              <a:rPr dirty="0" sz="2500" spc="114">
                <a:solidFill>
                  <a:srgbClr val="FFFFFF"/>
                </a:solidFill>
                <a:latin typeface="Tahoma"/>
                <a:cs typeface="Tahoma"/>
              </a:rPr>
              <a:t>doesn’t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5">
                <a:solidFill>
                  <a:srgbClr val="FFFFFF"/>
                </a:solidFill>
                <a:latin typeface="Tahoma"/>
                <a:cs typeface="Tahoma"/>
              </a:rPr>
              <a:t>ecosystem</a:t>
            </a:r>
            <a:r>
              <a:rPr dirty="0" sz="25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polished</a:t>
            </a:r>
            <a:r>
              <a:rPr dirty="0" sz="25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45">
                <a:solidFill>
                  <a:srgbClr val="FFFFFF"/>
                </a:solidFill>
                <a:latin typeface="Tahoma"/>
                <a:cs typeface="Tahoma"/>
              </a:rPr>
              <a:t>yet.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500" spc="75">
                <a:solidFill>
                  <a:srgbClr val="FFFFFF"/>
                </a:solidFill>
                <a:latin typeface="Tahoma"/>
                <a:cs typeface="Tahoma"/>
              </a:rPr>
              <a:t>Industry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Tahoma"/>
                <a:cs typeface="Tahoma"/>
              </a:rPr>
              <a:t>adoption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125">
                <a:solidFill>
                  <a:srgbClr val="FFFFFF"/>
                </a:solidFill>
                <a:latin typeface="Tahoma"/>
                <a:cs typeface="Tahoma"/>
              </a:rPr>
              <a:t>→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80">
                <a:solidFill>
                  <a:srgbClr val="FFFFFF"/>
                </a:solidFill>
                <a:latin typeface="Tahoma"/>
                <a:cs typeface="Tahoma"/>
              </a:rPr>
              <a:t>Most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companies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0">
                <a:solidFill>
                  <a:srgbClr val="FFFFFF"/>
                </a:solidFill>
                <a:latin typeface="Tahoma"/>
                <a:cs typeface="Tahoma"/>
              </a:rPr>
              <a:t>labs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0">
                <a:solidFill>
                  <a:srgbClr val="FFFFFF"/>
                </a:solidFill>
                <a:latin typeface="Tahoma"/>
                <a:cs typeface="Tahoma"/>
              </a:rPr>
              <a:t>have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standardized</a:t>
            </a:r>
            <a:r>
              <a:rPr dirty="0" sz="25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05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25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95">
                <a:solidFill>
                  <a:srgbClr val="FFFFFF"/>
                </a:solidFill>
                <a:latin typeface="Tahoma"/>
                <a:cs typeface="Tahoma"/>
              </a:rPr>
              <a:t>YOLOv8.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176569" y="2282582"/>
            <a:ext cx="2112010" cy="2255520"/>
            <a:chOff x="16176569" y="2282582"/>
            <a:chExt cx="2112010" cy="22555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6569" y="2282582"/>
              <a:ext cx="2111429" cy="164370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3336" y="3444014"/>
              <a:ext cx="584663" cy="48216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11010" y="2633934"/>
              <a:ext cx="476988" cy="47808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176561" y="2282583"/>
              <a:ext cx="2112010" cy="1644014"/>
            </a:xfrm>
            <a:custGeom>
              <a:avLst/>
              <a:gdLst/>
              <a:ahLst/>
              <a:cxnLst/>
              <a:rect l="l" t="t" r="r" b="b"/>
              <a:pathLst>
                <a:path w="2112009" h="1644014">
                  <a:moveTo>
                    <a:pt x="2111425" y="473049"/>
                  </a:moveTo>
                  <a:lnTo>
                    <a:pt x="2082419" y="429704"/>
                  </a:lnTo>
                  <a:lnTo>
                    <a:pt x="2051011" y="388213"/>
                  </a:lnTo>
                  <a:lnTo>
                    <a:pt x="2017191" y="348729"/>
                  </a:lnTo>
                  <a:lnTo>
                    <a:pt x="1984438" y="314553"/>
                  </a:lnTo>
                  <a:lnTo>
                    <a:pt x="1950021" y="281990"/>
                  </a:lnTo>
                  <a:lnTo>
                    <a:pt x="1913991" y="251091"/>
                  </a:lnTo>
                  <a:lnTo>
                    <a:pt x="1876425" y="221869"/>
                  </a:lnTo>
                  <a:lnTo>
                    <a:pt x="1837372" y="194335"/>
                  </a:lnTo>
                  <a:lnTo>
                    <a:pt x="1796923" y="168516"/>
                  </a:lnTo>
                  <a:lnTo>
                    <a:pt x="1755140" y="144449"/>
                  </a:lnTo>
                  <a:lnTo>
                    <a:pt x="1712087" y="122135"/>
                  </a:lnTo>
                  <a:lnTo>
                    <a:pt x="1667840" y="101625"/>
                  </a:lnTo>
                  <a:lnTo>
                    <a:pt x="1622463" y="82918"/>
                  </a:lnTo>
                  <a:lnTo>
                    <a:pt x="1576019" y="66052"/>
                  </a:lnTo>
                  <a:lnTo>
                    <a:pt x="1528584" y="51041"/>
                  </a:lnTo>
                  <a:lnTo>
                    <a:pt x="1480223" y="37922"/>
                  </a:lnTo>
                  <a:lnTo>
                    <a:pt x="1431010" y="26695"/>
                  </a:lnTo>
                  <a:lnTo>
                    <a:pt x="1381010" y="17411"/>
                  </a:lnTo>
                  <a:lnTo>
                    <a:pt x="1330299" y="10071"/>
                  </a:lnTo>
                  <a:lnTo>
                    <a:pt x="1278928" y="4711"/>
                  </a:lnTo>
                  <a:lnTo>
                    <a:pt x="1226985" y="1346"/>
                  </a:lnTo>
                  <a:lnTo>
                    <a:pt x="1174521" y="0"/>
                  </a:lnTo>
                  <a:lnTo>
                    <a:pt x="1121613" y="711"/>
                  </a:lnTo>
                  <a:lnTo>
                    <a:pt x="1068336" y="3479"/>
                  </a:lnTo>
                  <a:lnTo>
                    <a:pt x="1014755" y="8343"/>
                  </a:lnTo>
                  <a:lnTo>
                    <a:pt x="970508" y="13868"/>
                  </a:lnTo>
                  <a:lnTo>
                    <a:pt x="926223" y="20675"/>
                  </a:lnTo>
                  <a:lnTo>
                    <a:pt x="881875" y="28778"/>
                  </a:lnTo>
                  <a:lnTo>
                    <a:pt x="837438" y="38201"/>
                  </a:lnTo>
                  <a:lnTo>
                    <a:pt x="792848" y="48945"/>
                  </a:lnTo>
                  <a:lnTo>
                    <a:pt x="748106" y="61036"/>
                  </a:lnTo>
                  <a:lnTo>
                    <a:pt x="703173" y="74485"/>
                  </a:lnTo>
                  <a:lnTo>
                    <a:pt x="657999" y="89293"/>
                  </a:lnTo>
                  <a:lnTo>
                    <a:pt x="612559" y="105486"/>
                  </a:lnTo>
                  <a:lnTo>
                    <a:pt x="566839" y="123075"/>
                  </a:lnTo>
                  <a:lnTo>
                    <a:pt x="520776" y="142062"/>
                  </a:lnTo>
                  <a:lnTo>
                    <a:pt x="474357" y="162471"/>
                  </a:lnTo>
                  <a:lnTo>
                    <a:pt x="427558" y="184302"/>
                  </a:lnTo>
                  <a:lnTo>
                    <a:pt x="380326" y="207594"/>
                  </a:lnTo>
                  <a:lnTo>
                    <a:pt x="332638" y="232333"/>
                  </a:lnTo>
                  <a:lnTo>
                    <a:pt x="284454" y="258546"/>
                  </a:lnTo>
                  <a:lnTo>
                    <a:pt x="235750" y="286232"/>
                  </a:lnTo>
                  <a:lnTo>
                    <a:pt x="186486" y="315429"/>
                  </a:lnTo>
                  <a:lnTo>
                    <a:pt x="136652" y="346125"/>
                  </a:lnTo>
                  <a:lnTo>
                    <a:pt x="86182" y="378358"/>
                  </a:lnTo>
                  <a:lnTo>
                    <a:pt x="47586" y="411505"/>
                  </a:lnTo>
                  <a:lnTo>
                    <a:pt x="20002" y="452221"/>
                  </a:lnTo>
                  <a:lnTo>
                    <a:pt x="3962" y="498005"/>
                  </a:lnTo>
                  <a:lnTo>
                    <a:pt x="0" y="546354"/>
                  </a:lnTo>
                  <a:lnTo>
                    <a:pt x="8648" y="594779"/>
                  </a:lnTo>
                  <a:lnTo>
                    <a:pt x="30429" y="640753"/>
                  </a:lnTo>
                  <a:lnTo>
                    <a:pt x="63601" y="679361"/>
                  </a:lnTo>
                  <a:lnTo>
                    <a:pt x="104317" y="706945"/>
                  </a:lnTo>
                  <a:lnTo>
                    <a:pt x="150101" y="722972"/>
                  </a:lnTo>
                  <a:lnTo>
                    <a:pt x="198450" y="726935"/>
                  </a:lnTo>
                  <a:lnTo>
                    <a:pt x="246862" y="718286"/>
                  </a:lnTo>
                  <a:lnTo>
                    <a:pt x="292836" y="696493"/>
                  </a:lnTo>
                  <a:lnTo>
                    <a:pt x="343027" y="664502"/>
                  </a:lnTo>
                  <a:lnTo>
                    <a:pt x="392353" y="634301"/>
                  </a:lnTo>
                  <a:lnTo>
                    <a:pt x="440829" y="605891"/>
                  </a:lnTo>
                  <a:lnTo>
                    <a:pt x="488530" y="579247"/>
                  </a:lnTo>
                  <a:lnTo>
                    <a:pt x="535470" y="554355"/>
                  </a:lnTo>
                  <a:lnTo>
                    <a:pt x="581710" y="531177"/>
                  </a:lnTo>
                  <a:lnTo>
                    <a:pt x="627291" y="509727"/>
                  </a:lnTo>
                  <a:lnTo>
                    <a:pt x="672261" y="489966"/>
                  </a:lnTo>
                  <a:lnTo>
                    <a:pt x="716648" y="471881"/>
                  </a:lnTo>
                  <a:lnTo>
                    <a:pt x="760501" y="455460"/>
                  </a:lnTo>
                  <a:lnTo>
                    <a:pt x="803871" y="440664"/>
                  </a:lnTo>
                  <a:lnTo>
                    <a:pt x="846797" y="427507"/>
                  </a:lnTo>
                  <a:lnTo>
                    <a:pt x="889330" y="415950"/>
                  </a:lnTo>
                  <a:lnTo>
                    <a:pt x="931506" y="405980"/>
                  </a:lnTo>
                  <a:lnTo>
                    <a:pt x="973366" y="397586"/>
                  </a:lnTo>
                  <a:lnTo>
                    <a:pt x="1014945" y="390740"/>
                  </a:lnTo>
                  <a:lnTo>
                    <a:pt x="1056322" y="385432"/>
                  </a:lnTo>
                  <a:lnTo>
                    <a:pt x="1110094" y="381000"/>
                  </a:lnTo>
                  <a:lnTo>
                    <a:pt x="1163459" y="379526"/>
                  </a:lnTo>
                  <a:lnTo>
                    <a:pt x="1216215" y="380974"/>
                  </a:lnTo>
                  <a:lnTo>
                    <a:pt x="1268196" y="385267"/>
                  </a:lnTo>
                  <a:lnTo>
                    <a:pt x="1319225" y="392353"/>
                  </a:lnTo>
                  <a:lnTo>
                    <a:pt x="1369098" y="402183"/>
                  </a:lnTo>
                  <a:lnTo>
                    <a:pt x="1417662" y="414693"/>
                  </a:lnTo>
                  <a:lnTo>
                    <a:pt x="1464716" y="429831"/>
                  </a:lnTo>
                  <a:lnTo>
                    <a:pt x="1510080" y="447522"/>
                  </a:lnTo>
                  <a:lnTo>
                    <a:pt x="1553578" y="467728"/>
                  </a:lnTo>
                  <a:lnTo>
                    <a:pt x="1595043" y="490372"/>
                  </a:lnTo>
                  <a:lnTo>
                    <a:pt x="1634261" y="515404"/>
                  </a:lnTo>
                  <a:lnTo>
                    <a:pt x="1671091" y="542772"/>
                  </a:lnTo>
                  <a:lnTo>
                    <a:pt x="1705317" y="572401"/>
                  </a:lnTo>
                  <a:lnTo>
                    <a:pt x="1736775" y="604253"/>
                  </a:lnTo>
                  <a:lnTo>
                    <a:pt x="1769541" y="644398"/>
                  </a:lnTo>
                  <a:lnTo>
                    <a:pt x="1797761" y="687565"/>
                  </a:lnTo>
                  <a:lnTo>
                    <a:pt x="1821383" y="733183"/>
                  </a:lnTo>
                  <a:lnTo>
                    <a:pt x="1840357" y="780669"/>
                  </a:lnTo>
                  <a:lnTo>
                    <a:pt x="1854657" y="829449"/>
                  </a:lnTo>
                  <a:lnTo>
                    <a:pt x="1818157" y="839152"/>
                  </a:lnTo>
                  <a:lnTo>
                    <a:pt x="1781632" y="849439"/>
                  </a:lnTo>
                  <a:lnTo>
                    <a:pt x="1745107" y="860323"/>
                  </a:lnTo>
                  <a:lnTo>
                    <a:pt x="1708556" y="871804"/>
                  </a:lnTo>
                  <a:lnTo>
                    <a:pt x="1671815" y="884580"/>
                  </a:lnTo>
                  <a:lnTo>
                    <a:pt x="1631315" y="900950"/>
                  </a:lnTo>
                  <a:lnTo>
                    <a:pt x="1588389" y="921219"/>
                  </a:lnTo>
                  <a:lnTo>
                    <a:pt x="1544358" y="945730"/>
                  </a:lnTo>
                  <a:lnTo>
                    <a:pt x="1500555" y="974775"/>
                  </a:lnTo>
                  <a:lnTo>
                    <a:pt x="1458277" y="1008710"/>
                  </a:lnTo>
                  <a:lnTo>
                    <a:pt x="1421193" y="1045375"/>
                  </a:lnTo>
                  <a:lnTo>
                    <a:pt x="1389849" y="1084262"/>
                  </a:lnTo>
                  <a:lnTo>
                    <a:pt x="1364335" y="1125118"/>
                  </a:lnTo>
                  <a:lnTo>
                    <a:pt x="1344764" y="1167676"/>
                  </a:lnTo>
                  <a:lnTo>
                    <a:pt x="1331214" y="1211681"/>
                  </a:lnTo>
                  <a:lnTo>
                    <a:pt x="1323809" y="1256868"/>
                  </a:lnTo>
                  <a:lnTo>
                    <a:pt x="1322628" y="1302969"/>
                  </a:lnTo>
                  <a:lnTo>
                    <a:pt x="1327797" y="1349730"/>
                  </a:lnTo>
                  <a:lnTo>
                    <a:pt x="1338745" y="1393634"/>
                  </a:lnTo>
                  <a:lnTo>
                    <a:pt x="1355305" y="1435061"/>
                  </a:lnTo>
                  <a:lnTo>
                    <a:pt x="1376997" y="1473708"/>
                  </a:lnTo>
                  <a:lnTo>
                    <a:pt x="1403413" y="1509242"/>
                  </a:lnTo>
                  <a:lnTo>
                    <a:pt x="1434084" y="1541348"/>
                  </a:lnTo>
                  <a:lnTo>
                    <a:pt x="1468564" y="1569681"/>
                  </a:lnTo>
                  <a:lnTo>
                    <a:pt x="1506423" y="1593951"/>
                  </a:lnTo>
                  <a:lnTo>
                    <a:pt x="1547215" y="1613801"/>
                  </a:lnTo>
                  <a:lnTo>
                    <a:pt x="1590484" y="1628927"/>
                  </a:lnTo>
                  <a:lnTo>
                    <a:pt x="1635785" y="1639011"/>
                  </a:lnTo>
                  <a:lnTo>
                    <a:pt x="1682686" y="1643710"/>
                  </a:lnTo>
                  <a:lnTo>
                    <a:pt x="1730743" y="1642719"/>
                  </a:lnTo>
                  <a:lnTo>
                    <a:pt x="1774240" y="1636890"/>
                  </a:lnTo>
                  <a:lnTo>
                    <a:pt x="1817154" y="1626577"/>
                  </a:lnTo>
                  <a:lnTo>
                    <a:pt x="1859305" y="1611909"/>
                  </a:lnTo>
                  <a:lnTo>
                    <a:pt x="1900478" y="1592999"/>
                  </a:lnTo>
                  <a:lnTo>
                    <a:pt x="1940496" y="1569948"/>
                  </a:lnTo>
                  <a:lnTo>
                    <a:pt x="1979180" y="1542859"/>
                  </a:lnTo>
                  <a:lnTo>
                    <a:pt x="2016315" y="1511846"/>
                  </a:lnTo>
                  <a:lnTo>
                    <a:pt x="2051723" y="1477035"/>
                  </a:lnTo>
                  <a:lnTo>
                    <a:pt x="2085213" y="1438516"/>
                  </a:lnTo>
                  <a:lnTo>
                    <a:pt x="2111425" y="1403654"/>
                  </a:lnTo>
                  <a:lnTo>
                    <a:pt x="2111425" y="473049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2072" y="3813983"/>
              <a:ext cx="723751" cy="72358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6233911" y="998855"/>
            <a:ext cx="10382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5477" rIns="0" bIns="0" rtlCol="0" vert="horz">
            <a:spAutoFit/>
          </a:bodyPr>
          <a:lstStyle/>
          <a:p>
            <a:pPr marL="1106170">
              <a:lnSpc>
                <a:spcPct val="100000"/>
              </a:lnSpc>
              <a:spcBef>
                <a:spcPts val="100"/>
              </a:spcBef>
            </a:pPr>
            <a:r>
              <a:rPr dirty="0" sz="5200" spc="-370"/>
              <a:t>Work</a:t>
            </a:r>
            <a:r>
              <a:rPr dirty="0" sz="5200" spc="-495"/>
              <a:t> </a:t>
            </a:r>
            <a:r>
              <a:rPr dirty="0" sz="5200" spc="-254"/>
              <a:t>Done</a:t>
            </a:r>
            <a:r>
              <a:rPr dirty="0" sz="5200" spc="-490"/>
              <a:t> </a:t>
            </a:r>
            <a:r>
              <a:rPr dirty="0" sz="5200" spc="-320"/>
              <a:t>Till</a:t>
            </a:r>
            <a:r>
              <a:rPr dirty="0" sz="5200" spc="-495"/>
              <a:t> </a:t>
            </a:r>
            <a:r>
              <a:rPr dirty="0" sz="5200" spc="-484"/>
              <a:t>Now</a:t>
            </a:r>
            <a:endParaRPr sz="5200"/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5866" y="2996962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5866" y="3597037"/>
            <a:ext cx="152400" cy="1523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5866" y="5997337"/>
            <a:ext cx="152400" cy="1523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5866" y="7197487"/>
            <a:ext cx="152400" cy="1523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15866" y="7797562"/>
            <a:ext cx="152400" cy="1523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531691" y="2089540"/>
            <a:ext cx="14956790" cy="6626225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3400" spc="-290">
                <a:solidFill>
                  <a:srgbClr val="FFFFFF"/>
                </a:solidFill>
                <a:latin typeface="Arial Black"/>
                <a:cs typeface="Arial Black"/>
              </a:rPr>
              <a:t>YOLOv8</a:t>
            </a:r>
            <a:r>
              <a:rPr dirty="0" sz="3400" spc="-3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85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dirty="0" sz="3400" spc="-3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70">
                <a:solidFill>
                  <a:srgbClr val="FFFFFF"/>
                </a:solidFill>
                <a:latin typeface="Arial Black"/>
                <a:cs typeface="Arial Black"/>
              </a:rPr>
              <a:t>Vehicle</a:t>
            </a:r>
            <a:r>
              <a:rPr dirty="0" sz="3400" spc="-3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Arial Black"/>
                <a:cs typeface="Arial Black"/>
              </a:rPr>
              <a:t>Detection</a:t>
            </a:r>
            <a:endParaRPr sz="3400">
              <a:latin typeface="Arial Black"/>
              <a:cs typeface="Arial Black"/>
            </a:endParaRPr>
          </a:p>
          <a:p>
            <a:pPr algn="just" marL="746125" marR="600075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Implemented</a:t>
            </a:r>
            <a:r>
              <a:rPr dirty="0" sz="3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object</a:t>
            </a:r>
            <a:r>
              <a:rPr dirty="0" sz="3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3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4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20">
                <a:solidFill>
                  <a:srgbClr val="FFFFFF"/>
                </a:solidFill>
                <a:latin typeface="Lucida Sans Unicode"/>
                <a:cs typeface="Lucida Sans Unicode"/>
              </a:rPr>
              <a:t>YOLOv8</a:t>
            </a:r>
            <a:r>
              <a:rPr dirty="0" sz="3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(pre-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trained</a:t>
            </a:r>
            <a:r>
              <a:rPr dirty="0" sz="34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model).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Defined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Region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Interest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(ROI)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road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lanes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focused</a:t>
            </a:r>
            <a:r>
              <a:rPr dirty="0" sz="3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vehicle counting.</a:t>
            </a:r>
            <a:endParaRPr sz="3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3400" spc="-220">
                <a:solidFill>
                  <a:srgbClr val="FFFFFF"/>
                </a:solidFill>
                <a:latin typeface="Arial Black"/>
                <a:cs typeface="Arial Black"/>
              </a:rPr>
              <a:t>Dynamic</a:t>
            </a:r>
            <a:r>
              <a:rPr dirty="0" sz="34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60">
                <a:solidFill>
                  <a:srgbClr val="FFFFFF"/>
                </a:solidFill>
                <a:latin typeface="Arial Black"/>
                <a:cs typeface="Arial Black"/>
              </a:rPr>
              <a:t>Timer</a:t>
            </a:r>
            <a:r>
              <a:rPr dirty="0" sz="3400" spc="-2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200">
                <a:solidFill>
                  <a:srgbClr val="FFFFFF"/>
                </a:solidFill>
                <a:latin typeface="Arial Black"/>
                <a:cs typeface="Arial Black"/>
              </a:rPr>
              <a:t>Demo</a:t>
            </a:r>
            <a:r>
              <a:rPr dirty="0" sz="3400" spc="-3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400" spc="-5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endParaRPr sz="3400">
              <a:latin typeface="Arial Black"/>
              <a:cs typeface="Arial Black"/>
            </a:endParaRPr>
          </a:p>
          <a:p>
            <a:pPr algn="just" marL="746125" marR="339090">
              <a:lnSpc>
                <a:spcPct val="115799"/>
              </a:lnSpc>
            </a:pP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Processed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sample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video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60">
                <a:solidFill>
                  <a:srgbClr val="FFFFFF"/>
                </a:solidFill>
                <a:latin typeface="Lucida Sans Unicode"/>
                <a:cs typeface="Lucida Sans Unicode"/>
              </a:rPr>
              <a:t>YOLOv8.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Counted</a:t>
            </a:r>
            <a:r>
              <a:rPr dirty="0" sz="3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vehicles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inside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ROI</a:t>
            </a:r>
            <a:r>
              <a:rPr dirty="0" sz="34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>
                <a:solidFill>
                  <a:srgbClr val="FFFFFF"/>
                </a:solidFill>
                <a:latin typeface="Lucida Sans Unicode"/>
                <a:cs typeface="Lucida Sans Unicode"/>
              </a:rPr>
              <a:t>each</a:t>
            </a:r>
            <a:r>
              <a:rPr dirty="0" sz="34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frame.</a:t>
            </a:r>
            <a:endParaRPr sz="3400">
              <a:latin typeface="Lucida Sans Unicode"/>
              <a:cs typeface="Lucida Sans Unicode"/>
            </a:endParaRPr>
          </a:p>
          <a:p>
            <a:pPr algn="just" marL="746125" marR="5080">
              <a:lnSpc>
                <a:spcPct val="115799"/>
              </a:lnSpc>
            </a:pP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Timer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70">
                <a:solidFill>
                  <a:srgbClr val="FFFFFF"/>
                </a:solidFill>
                <a:latin typeface="Lucida Sans Unicode"/>
                <a:cs typeface="Lucida Sans Unicode"/>
              </a:rPr>
              <a:t>logic: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">
                <a:solidFill>
                  <a:srgbClr val="FFFFFF"/>
                </a:solidFill>
                <a:latin typeface="Lucida Sans Unicode"/>
                <a:cs typeface="Lucida Sans Unicode"/>
              </a:rPr>
              <a:t>Green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5">
                <a:solidFill>
                  <a:srgbClr val="FFFFFF"/>
                </a:solidFill>
                <a:latin typeface="Lucida Sans Unicode"/>
                <a:cs typeface="Lucida Sans Unicode"/>
              </a:rPr>
              <a:t>Light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65">
                <a:solidFill>
                  <a:srgbClr val="FFFFFF"/>
                </a:solidFill>
                <a:latin typeface="Lucida Sans Unicode"/>
                <a:cs typeface="Lucida Sans Unicode"/>
              </a:rPr>
              <a:t>=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9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85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44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Lucida Sans Unicode"/>
                <a:cs typeface="Lucida Sans Unicode"/>
              </a:rPr>
              <a:t>(Vehicles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110">
                <a:solidFill>
                  <a:srgbClr val="FFFFFF"/>
                </a:solidFill>
                <a:latin typeface="Lucida Sans Unicode"/>
                <a:cs typeface="Lucida Sans Unicode"/>
              </a:rPr>
              <a:t>×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90">
                <a:solidFill>
                  <a:srgbClr val="FFFFFF"/>
                </a:solidFill>
                <a:latin typeface="Lucida Sans Unicode"/>
                <a:cs typeface="Lucida Sans Unicode"/>
              </a:rPr>
              <a:t>3s)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40">
                <a:solidFill>
                  <a:srgbClr val="FFFFFF"/>
                </a:solidFill>
                <a:latin typeface="Lucida Sans Unicode"/>
                <a:cs typeface="Lucida Sans Unicode"/>
              </a:rPr>
              <a:t>(capped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0">
                <a:solidFill>
                  <a:srgbClr val="FFFFFF"/>
                </a:solidFill>
                <a:latin typeface="Lucida Sans Unicode"/>
                <a:cs typeface="Lucida Sans Unicode"/>
              </a:rPr>
              <a:t>at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20">
                <a:solidFill>
                  <a:srgbClr val="FFFFFF"/>
                </a:solidFill>
                <a:latin typeface="Lucida Sans Unicode"/>
                <a:cs typeface="Lucida Sans Unicode"/>
              </a:rPr>
              <a:t>35s).</a:t>
            </a:r>
            <a:r>
              <a:rPr dirty="0" sz="3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5">
                <a:solidFill>
                  <a:srgbClr val="FFFFFF"/>
                </a:solidFill>
                <a:latin typeface="Lucida Sans Unicode"/>
                <a:cs typeface="Lucida Sans Unicode"/>
              </a:rPr>
              <a:t>Output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30">
                <a:solidFill>
                  <a:srgbClr val="FFFFFF"/>
                </a:solidFill>
                <a:latin typeface="Lucida Sans Unicode"/>
                <a:cs typeface="Lucida Sans Unicode"/>
              </a:rPr>
              <a:t>video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15">
                <a:solidFill>
                  <a:srgbClr val="FFFFFF"/>
                </a:solidFill>
                <a:latin typeface="Lucida Sans Unicode"/>
                <a:cs typeface="Lucida Sans Unicode"/>
              </a:rPr>
              <a:t>generated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5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0">
                <a:solidFill>
                  <a:srgbClr val="FFFFFF"/>
                </a:solidFill>
                <a:latin typeface="Lucida Sans Unicode"/>
                <a:cs typeface="Lucida Sans Unicode"/>
              </a:rPr>
              <a:t>live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35">
                <a:solidFill>
                  <a:srgbClr val="FFFFFF"/>
                </a:solidFill>
                <a:latin typeface="Lucida Sans Unicode"/>
                <a:cs typeface="Lucida Sans Unicode"/>
              </a:rPr>
              <a:t>overlay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30">
                <a:solidFill>
                  <a:srgbClr val="FFFFFF"/>
                </a:solidFill>
                <a:latin typeface="Lucida Sans Unicode"/>
                <a:cs typeface="Lucida Sans Unicode"/>
              </a:rPr>
              <a:t>vehicle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30">
                <a:solidFill>
                  <a:srgbClr val="FFFFFF"/>
                </a:solidFill>
                <a:latin typeface="Lucida Sans Unicode"/>
                <a:cs typeface="Lucida Sans Unicode"/>
              </a:rPr>
              <a:t>count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35">
                <a:solidFill>
                  <a:srgbClr val="FFFFFF"/>
                </a:solidFill>
                <a:latin typeface="Lucida Sans Unicode"/>
                <a:cs typeface="Lucida Sans Unicode"/>
              </a:rPr>
              <a:t>ROI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1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4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5">
                <a:solidFill>
                  <a:srgbClr val="FFFFFF"/>
                </a:solidFill>
                <a:latin typeface="Lucida Sans Unicode"/>
                <a:cs typeface="Lucida Sans Unicode"/>
              </a:rPr>
              <a:t>Calculated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20">
                <a:solidFill>
                  <a:srgbClr val="FFFFFF"/>
                </a:solidFill>
                <a:latin typeface="Lucida Sans Unicode"/>
                <a:cs typeface="Lucida Sans Unicode"/>
              </a:rPr>
              <a:t>dynamic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green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5">
                <a:solidFill>
                  <a:srgbClr val="FFFFFF"/>
                </a:solidFill>
                <a:latin typeface="Lucida Sans Unicode"/>
                <a:cs typeface="Lucida Sans Unicode"/>
              </a:rPr>
              <a:t>light</a:t>
            </a:r>
            <a:r>
              <a:rPr dirty="0" sz="340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5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176569" y="2282582"/>
            <a:ext cx="2112010" cy="2255520"/>
            <a:chOff x="16176569" y="2282582"/>
            <a:chExt cx="2112010" cy="22555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76569" y="2282582"/>
              <a:ext cx="2111429" cy="164370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3336" y="3444014"/>
              <a:ext cx="584663" cy="48216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11010" y="2633934"/>
              <a:ext cx="476988" cy="47808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176561" y="2282583"/>
              <a:ext cx="2112010" cy="1644014"/>
            </a:xfrm>
            <a:custGeom>
              <a:avLst/>
              <a:gdLst/>
              <a:ahLst/>
              <a:cxnLst/>
              <a:rect l="l" t="t" r="r" b="b"/>
              <a:pathLst>
                <a:path w="2112009" h="1644014">
                  <a:moveTo>
                    <a:pt x="2111425" y="473049"/>
                  </a:moveTo>
                  <a:lnTo>
                    <a:pt x="2082419" y="429704"/>
                  </a:lnTo>
                  <a:lnTo>
                    <a:pt x="2051011" y="388213"/>
                  </a:lnTo>
                  <a:lnTo>
                    <a:pt x="2017191" y="348729"/>
                  </a:lnTo>
                  <a:lnTo>
                    <a:pt x="1984438" y="314553"/>
                  </a:lnTo>
                  <a:lnTo>
                    <a:pt x="1950021" y="281990"/>
                  </a:lnTo>
                  <a:lnTo>
                    <a:pt x="1913991" y="251091"/>
                  </a:lnTo>
                  <a:lnTo>
                    <a:pt x="1876425" y="221869"/>
                  </a:lnTo>
                  <a:lnTo>
                    <a:pt x="1837372" y="194335"/>
                  </a:lnTo>
                  <a:lnTo>
                    <a:pt x="1796923" y="168516"/>
                  </a:lnTo>
                  <a:lnTo>
                    <a:pt x="1755140" y="144449"/>
                  </a:lnTo>
                  <a:lnTo>
                    <a:pt x="1712087" y="122135"/>
                  </a:lnTo>
                  <a:lnTo>
                    <a:pt x="1667840" y="101625"/>
                  </a:lnTo>
                  <a:lnTo>
                    <a:pt x="1622463" y="82918"/>
                  </a:lnTo>
                  <a:lnTo>
                    <a:pt x="1576019" y="66052"/>
                  </a:lnTo>
                  <a:lnTo>
                    <a:pt x="1528584" y="51041"/>
                  </a:lnTo>
                  <a:lnTo>
                    <a:pt x="1480223" y="37922"/>
                  </a:lnTo>
                  <a:lnTo>
                    <a:pt x="1431010" y="26695"/>
                  </a:lnTo>
                  <a:lnTo>
                    <a:pt x="1381010" y="17411"/>
                  </a:lnTo>
                  <a:lnTo>
                    <a:pt x="1330299" y="10071"/>
                  </a:lnTo>
                  <a:lnTo>
                    <a:pt x="1278928" y="4711"/>
                  </a:lnTo>
                  <a:lnTo>
                    <a:pt x="1226985" y="1346"/>
                  </a:lnTo>
                  <a:lnTo>
                    <a:pt x="1174521" y="0"/>
                  </a:lnTo>
                  <a:lnTo>
                    <a:pt x="1121613" y="711"/>
                  </a:lnTo>
                  <a:lnTo>
                    <a:pt x="1068336" y="3479"/>
                  </a:lnTo>
                  <a:lnTo>
                    <a:pt x="1014755" y="8343"/>
                  </a:lnTo>
                  <a:lnTo>
                    <a:pt x="970508" y="13868"/>
                  </a:lnTo>
                  <a:lnTo>
                    <a:pt x="926223" y="20675"/>
                  </a:lnTo>
                  <a:lnTo>
                    <a:pt x="881875" y="28778"/>
                  </a:lnTo>
                  <a:lnTo>
                    <a:pt x="837438" y="38201"/>
                  </a:lnTo>
                  <a:lnTo>
                    <a:pt x="792848" y="48945"/>
                  </a:lnTo>
                  <a:lnTo>
                    <a:pt x="748106" y="61036"/>
                  </a:lnTo>
                  <a:lnTo>
                    <a:pt x="703173" y="74485"/>
                  </a:lnTo>
                  <a:lnTo>
                    <a:pt x="657999" y="89293"/>
                  </a:lnTo>
                  <a:lnTo>
                    <a:pt x="612559" y="105486"/>
                  </a:lnTo>
                  <a:lnTo>
                    <a:pt x="566839" y="123075"/>
                  </a:lnTo>
                  <a:lnTo>
                    <a:pt x="520776" y="142062"/>
                  </a:lnTo>
                  <a:lnTo>
                    <a:pt x="474357" y="162471"/>
                  </a:lnTo>
                  <a:lnTo>
                    <a:pt x="427558" y="184302"/>
                  </a:lnTo>
                  <a:lnTo>
                    <a:pt x="380326" y="207594"/>
                  </a:lnTo>
                  <a:lnTo>
                    <a:pt x="332638" y="232333"/>
                  </a:lnTo>
                  <a:lnTo>
                    <a:pt x="284454" y="258546"/>
                  </a:lnTo>
                  <a:lnTo>
                    <a:pt x="235750" y="286232"/>
                  </a:lnTo>
                  <a:lnTo>
                    <a:pt x="186486" y="315429"/>
                  </a:lnTo>
                  <a:lnTo>
                    <a:pt x="136652" y="346125"/>
                  </a:lnTo>
                  <a:lnTo>
                    <a:pt x="86182" y="378358"/>
                  </a:lnTo>
                  <a:lnTo>
                    <a:pt x="47586" y="411505"/>
                  </a:lnTo>
                  <a:lnTo>
                    <a:pt x="20002" y="452221"/>
                  </a:lnTo>
                  <a:lnTo>
                    <a:pt x="3962" y="498005"/>
                  </a:lnTo>
                  <a:lnTo>
                    <a:pt x="0" y="546354"/>
                  </a:lnTo>
                  <a:lnTo>
                    <a:pt x="8648" y="594779"/>
                  </a:lnTo>
                  <a:lnTo>
                    <a:pt x="30429" y="640753"/>
                  </a:lnTo>
                  <a:lnTo>
                    <a:pt x="63601" y="679361"/>
                  </a:lnTo>
                  <a:lnTo>
                    <a:pt x="104317" y="706945"/>
                  </a:lnTo>
                  <a:lnTo>
                    <a:pt x="150101" y="722972"/>
                  </a:lnTo>
                  <a:lnTo>
                    <a:pt x="198450" y="726935"/>
                  </a:lnTo>
                  <a:lnTo>
                    <a:pt x="246862" y="718286"/>
                  </a:lnTo>
                  <a:lnTo>
                    <a:pt x="292836" y="696493"/>
                  </a:lnTo>
                  <a:lnTo>
                    <a:pt x="343027" y="664502"/>
                  </a:lnTo>
                  <a:lnTo>
                    <a:pt x="392353" y="634301"/>
                  </a:lnTo>
                  <a:lnTo>
                    <a:pt x="440829" y="605891"/>
                  </a:lnTo>
                  <a:lnTo>
                    <a:pt x="488530" y="579247"/>
                  </a:lnTo>
                  <a:lnTo>
                    <a:pt x="535470" y="554355"/>
                  </a:lnTo>
                  <a:lnTo>
                    <a:pt x="581710" y="531177"/>
                  </a:lnTo>
                  <a:lnTo>
                    <a:pt x="627291" y="509727"/>
                  </a:lnTo>
                  <a:lnTo>
                    <a:pt x="672261" y="489966"/>
                  </a:lnTo>
                  <a:lnTo>
                    <a:pt x="716648" y="471881"/>
                  </a:lnTo>
                  <a:lnTo>
                    <a:pt x="760501" y="455460"/>
                  </a:lnTo>
                  <a:lnTo>
                    <a:pt x="803871" y="440664"/>
                  </a:lnTo>
                  <a:lnTo>
                    <a:pt x="846797" y="427507"/>
                  </a:lnTo>
                  <a:lnTo>
                    <a:pt x="889330" y="415950"/>
                  </a:lnTo>
                  <a:lnTo>
                    <a:pt x="931506" y="405980"/>
                  </a:lnTo>
                  <a:lnTo>
                    <a:pt x="973366" y="397586"/>
                  </a:lnTo>
                  <a:lnTo>
                    <a:pt x="1014945" y="390740"/>
                  </a:lnTo>
                  <a:lnTo>
                    <a:pt x="1056322" y="385432"/>
                  </a:lnTo>
                  <a:lnTo>
                    <a:pt x="1110094" y="381000"/>
                  </a:lnTo>
                  <a:lnTo>
                    <a:pt x="1163459" y="379526"/>
                  </a:lnTo>
                  <a:lnTo>
                    <a:pt x="1216215" y="380974"/>
                  </a:lnTo>
                  <a:lnTo>
                    <a:pt x="1268196" y="385267"/>
                  </a:lnTo>
                  <a:lnTo>
                    <a:pt x="1319225" y="392353"/>
                  </a:lnTo>
                  <a:lnTo>
                    <a:pt x="1369098" y="402183"/>
                  </a:lnTo>
                  <a:lnTo>
                    <a:pt x="1417662" y="414693"/>
                  </a:lnTo>
                  <a:lnTo>
                    <a:pt x="1464716" y="429831"/>
                  </a:lnTo>
                  <a:lnTo>
                    <a:pt x="1510080" y="447522"/>
                  </a:lnTo>
                  <a:lnTo>
                    <a:pt x="1553578" y="467728"/>
                  </a:lnTo>
                  <a:lnTo>
                    <a:pt x="1595043" y="490372"/>
                  </a:lnTo>
                  <a:lnTo>
                    <a:pt x="1634261" y="515404"/>
                  </a:lnTo>
                  <a:lnTo>
                    <a:pt x="1671091" y="542772"/>
                  </a:lnTo>
                  <a:lnTo>
                    <a:pt x="1705317" y="572401"/>
                  </a:lnTo>
                  <a:lnTo>
                    <a:pt x="1736775" y="604253"/>
                  </a:lnTo>
                  <a:lnTo>
                    <a:pt x="1769541" y="644398"/>
                  </a:lnTo>
                  <a:lnTo>
                    <a:pt x="1797761" y="687565"/>
                  </a:lnTo>
                  <a:lnTo>
                    <a:pt x="1821383" y="733183"/>
                  </a:lnTo>
                  <a:lnTo>
                    <a:pt x="1840357" y="780669"/>
                  </a:lnTo>
                  <a:lnTo>
                    <a:pt x="1854657" y="829449"/>
                  </a:lnTo>
                  <a:lnTo>
                    <a:pt x="1818157" y="839152"/>
                  </a:lnTo>
                  <a:lnTo>
                    <a:pt x="1781632" y="849439"/>
                  </a:lnTo>
                  <a:lnTo>
                    <a:pt x="1745107" y="860323"/>
                  </a:lnTo>
                  <a:lnTo>
                    <a:pt x="1708556" y="871804"/>
                  </a:lnTo>
                  <a:lnTo>
                    <a:pt x="1671815" y="884580"/>
                  </a:lnTo>
                  <a:lnTo>
                    <a:pt x="1631315" y="900950"/>
                  </a:lnTo>
                  <a:lnTo>
                    <a:pt x="1588389" y="921219"/>
                  </a:lnTo>
                  <a:lnTo>
                    <a:pt x="1544358" y="945730"/>
                  </a:lnTo>
                  <a:lnTo>
                    <a:pt x="1500555" y="974775"/>
                  </a:lnTo>
                  <a:lnTo>
                    <a:pt x="1458277" y="1008710"/>
                  </a:lnTo>
                  <a:lnTo>
                    <a:pt x="1421193" y="1045375"/>
                  </a:lnTo>
                  <a:lnTo>
                    <a:pt x="1389849" y="1084262"/>
                  </a:lnTo>
                  <a:lnTo>
                    <a:pt x="1364335" y="1125118"/>
                  </a:lnTo>
                  <a:lnTo>
                    <a:pt x="1344764" y="1167676"/>
                  </a:lnTo>
                  <a:lnTo>
                    <a:pt x="1331214" y="1211681"/>
                  </a:lnTo>
                  <a:lnTo>
                    <a:pt x="1323809" y="1256868"/>
                  </a:lnTo>
                  <a:lnTo>
                    <a:pt x="1322628" y="1302969"/>
                  </a:lnTo>
                  <a:lnTo>
                    <a:pt x="1327797" y="1349730"/>
                  </a:lnTo>
                  <a:lnTo>
                    <a:pt x="1338745" y="1393634"/>
                  </a:lnTo>
                  <a:lnTo>
                    <a:pt x="1355305" y="1435061"/>
                  </a:lnTo>
                  <a:lnTo>
                    <a:pt x="1376997" y="1473708"/>
                  </a:lnTo>
                  <a:lnTo>
                    <a:pt x="1403413" y="1509242"/>
                  </a:lnTo>
                  <a:lnTo>
                    <a:pt x="1434084" y="1541348"/>
                  </a:lnTo>
                  <a:lnTo>
                    <a:pt x="1468564" y="1569681"/>
                  </a:lnTo>
                  <a:lnTo>
                    <a:pt x="1506423" y="1593951"/>
                  </a:lnTo>
                  <a:lnTo>
                    <a:pt x="1547215" y="1613801"/>
                  </a:lnTo>
                  <a:lnTo>
                    <a:pt x="1590484" y="1628927"/>
                  </a:lnTo>
                  <a:lnTo>
                    <a:pt x="1635785" y="1639011"/>
                  </a:lnTo>
                  <a:lnTo>
                    <a:pt x="1682686" y="1643710"/>
                  </a:lnTo>
                  <a:lnTo>
                    <a:pt x="1730743" y="1642719"/>
                  </a:lnTo>
                  <a:lnTo>
                    <a:pt x="1774240" y="1636890"/>
                  </a:lnTo>
                  <a:lnTo>
                    <a:pt x="1817154" y="1626577"/>
                  </a:lnTo>
                  <a:lnTo>
                    <a:pt x="1859305" y="1611909"/>
                  </a:lnTo>
                  <a:lnTo>
                    <a:pt x="1900478" y="1592999"/>
                  </a:lnTo>
                  <a:lnTo>
                    <a:pt x="1940496" y="1569948"/>
                  </a:lnTo>
                  <a:lnTo>
                    <a:pt x="1979180" y="1542859"/>
                  </a:lnTo>
                  <a:lnTo>
                    <a:pt x="2016315" y="1511846"/>
                  </a:lnTo>
                  <a:lnTo>
                    <a:pt x="2051723" y="1477035"/>
                  </a:lnTo>
                  <a:lnTo>
                    <a:pt x="2085213" y="1438516"/>
                  </a:lnTo>
                  <a:lnTo>
                    <a:pt x="2111425" y="1403654"/>
                  </a:lnTo>
                  <a:lnTo>
                    <a:pt x="2111425" y="473049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592072" y="3813983"/>
              <a:ext cx="723751" cy="723585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1776" y="2155729"/>
            <a:ext cx="13763622" cy="72770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233911" y="998855"/>
            <a:ext cx="103822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130">
                <a:solidFill>
                  <a:srgbClr val="FFFFFF"/>
                </a:solidFill>
                <a:latin typeface="Tahoma"/>
                <a:cs typeface="Tahoma"/>
              </a:rPr>
              <a:t>Page</a:t>
            </a:r>
            <a:r>
              <a:rPr dirty="0" sz="21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260" rIns="0" bIns="0" rtlCol="0" vert="horz">
            <a:spAutoFit/>
          </a:bodyPr>
          <a:lstStyle/>
          <a:p>
            <a:pPr marL="78359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Output</a:t>
            </a:r>
            <a:r>
              <a:rPr dirty="0" spc="-360"/>
              <a:t> </a:t>
            </a:r>
            <a:r>
              <a:rPr dirty="0" spc="-295"/>
              <a:t>Screenshot: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7145" y="1005268"/>
            <a:ext cx="4834255" cy="8788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330"/>
              <a:t>Future</a:t>
            </a:r>
            <a:r>
              <a:rPr dirty="0" sz="5600" spc="-535"/>
              <a:t> </a:t>
            </a:r>
            <a:r>
              <a:rPr dirty="0" sz="5600" spc="-434"/>
              <a:t>Scope:</a:t>
            </a:r>
            <a:endParaRPr sz="56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171" y="2837497"/>
            <a:ext cx="152400" cy="1523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171" y="4037647"/>
            <a:ext cx="152400" cy="1523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171" y="5237797"/>
            <a:ext cx="152400" cy="1523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171" y="6437946"/>
            <a:ext cx="152400" cy="1523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171" y="7638097"/>
            <a:ext cx="152400" cy="15239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88340">
              <a:lnSpc>
                <a:spcPct val="115799"/>
              </a:lnSpc>
              <a:spcBef>
                <a:spcPts val="100"/>
              </a:spcBef>
            </a:pPr>
            <a:r>
              <a:rPr dirty="0" spc="-10"/>
              <a:t>Extend</a:t>
            </a:r>
            <a:r>
              <a:rPr dirty="0" spc="-155"/>
              <a:t> </a:t>
            </a:r>
            <a:r>
              <a:rPr dirty="0"/>
              <a:t>the</a:t>
            </a:r>
            <a:r>
              <a:rPr dirty="0" spc="-150"/>
              <a:t> </a:t>
            </a:r>
            <a:r>
              <a:rPr dirty="0"/>
              <a:t>system</a:t>
            </a:r>
            <a:r>
              <a:rPr dirty="0" spc="-155"/>
              <a:t> </a:t>
            </a:r>
            <a:r>
              <a:rPr dirty="0" spc="-20"/>
              <a:t>from</a:t>
            </a:r>
            <a:r>
              <a:rPr dirty="0" spc="-150"/>
              <a:t> </a:t>
            </a:r>
            <a:r>
              <a:rPr dirty="0"/>
              <a:t>static</a:t>
            </a:r>
            <a:r>
              <a:rPr dirty="0" spc="-155"/>
              <a:t> </a:t>
            </a:r>
            <a:r>
              <a:rPr dirty="0"/>
              <a:t>traffic</a:t>
            </a:r>
            <a:r>
              <a:rPr dirty="0" spc="-150"/>
              <a:t> </a:t>
            </a:r>
            <a:r>
              <a:rPr dirty="0" spc="-10"/>
              <a:t>analysis</a:t>
            </a:r>
            <a:r>
              <a:rPr dirty="0" spc="-150"/>
              <a:t> </a:t>
            </a:r>
            <a:r>
              <a:rPr dirty="0"/>
              <a:t>to</a:t>
            </a:r>
            <a:r>
              <a:rPr dirty="0" spc="-155"/>
              <a:t> </a:t>
            </a:r>
            <a:r>
              <a:rPr dirty="0"/>
              <a:t>handle</a:t>
            </a:r>
            <a:r>
              <a:rPr dirty="0" spc="-150"/>
              <a:t> </a:t>
            </a:r>
            <a:r>
              <a:rPr dirty="0"/>
              <a:t>dynamic</a:t>
            </a:r>
            <a:r>
              <a:rPr dirty="0" spc="-155"/>
              <a:t> </a:t>
            </a:r>
            <a:r>
              <a:rPr dirty="0" spc="-10"/>
              <a:t>traffic </a:t>
            </a:r>
            <a:r>
              <a:rPr dirty="0"/>
              <a:t>flow</a:t>
            </a:r>
            <a:r>
              <a:rPr dirty="0" spc="-195"/>
              <a:t> </a:t>
            </a:r>
            <a:r>
              <a:rPr dirty="0" spc="-55"/>
              <a:t>in</a:t>
            </a:r>
            <a:r>
              <a:rPr dirty="0" spc="-190"/>
              <a:t> </a:t>
            </a:r>
            <a:r>
              <a:rPr dirty="0" spc="-155"/>
              <a:t>real-</a:t>
            </a:r>
            <a:r>
              <a:rPr dirty="0"/>
              <a:t>world</a:t>
            </a:r>
            <a:r>
              <a:rPr dirty="0" spc="-190"/>
              <a:t> </a:t>
            </a:r>
            <a:r>
              <a:rPr dirty="0" spc="-10"/>
              <a:t>intersections.</a:t>
            </a:r>
          </a:p>
          <a:p>
            <a:pPr marL="12700" marR="612140">
              <a:lnSpc>
                <a:spcPct val="115799"/>
              </a:lnSpc>
            </a:pPr>
            <a:r>
              <a:rPr dirty="0" spc="90"/>
              <a:t>Study</a:t>
            </a:r>
            <a:r>
              <a:rPr dirty="0" spc="-185"/>
              <a:t> </a:t>
            </a:r>
            <a:r>
              <a:rPr dirty="0"/>
              <a:t>and</a:t>
            </a:r>
            <a:r>
              <a:rPr dirty="0" spc="-180"/>
              <a:t> </a:t>
            </a:r>
            <a:r>
              <a:rPr dirty="0"/>
              <a:t>incorporate</a:t>
            </a:r>
            <a:r>
              <a:rPr dirty="0" spc="-180"/>
              <a:t> </a:t>
            </a:r>
            <a:r>
              <a:rPr dirty="0" spc="-65"/>
              <a:t>insights</a:t>
            </a:r>
            <a:r>
              <a:rPr dirty="0" spc="-180"/>
              <a:t> </a:t>
            </a:r>
            <a:r>
              <a:rPr dirty="0" spc="-20"/>
              <a:t>from</a:t>
            </a:r>
            <a:r>
              <a:rPr dirty="0" spc="-180"/>
              <a:t> </a:t>
            </a:r>
            <a:r>
              <a:rPr dirty="0"/>
              <a:t>standard</a:t>
            </a:r>
            <a:r>
              <a:rPr dirty="0" spc="-180"/>
              <a:t> </a:t>
            </a:r>
            <a:r>
              <a:rPr dirty="0"/>
              <a:t>research</a:t>
            </a:r>
            <a:r>
              <a:rPr dirty="0" spc="-180"/>
              <a:t> </a:t>
            </a:r>
            <a:r>
              <a:rPr dirty="0"/>
              <a:t>papers</a:t>
            </a:r>
            <a:r>
              <a:rPr dirty="0" spc="-180"/>
              <a:t> </a:t>
            </a:r>
            <a:r>
              <a:rPr dirty="0"/>
              <a:t>to</a:t>
            </a:r>
            <a:r>
              <a:rPr dirty="0" spc="-180"/>
              <a:t> </a:t>
            </a:r>
            <a:r>
              <a:rPr dirty="0" spc="-10"/>
              <a:t>refine </a:t>
            </a:r>
            <a:r>
              <a:rPr dirty="0" spc="-45"/>
              <a:t>algorithms</a:t>
            </a:r>
            <a:r>
              <a:rPr dirty="0" spc="-215"/>
              <a:t> </a:t>
            </a:r>
            <a:r>
              <a:rPr dirty="0"/>
              <a:t>and</a:t>
            </a:r>
            <a:r>
              <a:rPr dirty="0" spc="-210"/>
              <a:t> </a:t>
            </a:r>
            <a:r>
              <a:rPr dirty="0"/>
              <a:t>improve</a:t>
            </a:r>
            <a:r>
              <a:rPr dirty="0" spc="-215"/>
              <a:t> </a:t>
            </a:r>
            <a:r>
              <a:rPr dirty="0"/>
              <a:t>system</a:t>
            </a:r>
            <a:r>
              <a:rPr dirty="0" spc="-210"/>
              <a:t> </a:t>
            </a:r>
            <a:r>
              <a:rPr dirty="0" spc="-10"/>
              <a:t>robustness.</a:t>
            </a:r>
          </a:p>
          <a:p>
            <a:pPr marL="12700" marR="481965">
              <a:lnSpc>
                <a:spcPct val="115799"/>
              </a:lnSpc>
            </a:pPr>
            <a:r>
              <a:rPr dirty="0"/>
              <a:t>Use</a:t>
            </a:r>
            <a:r>
              <a:rPr dirty="0" spc="-145"/>
              <a:t> </a:t>
            </a:r>
            <a:r>
              <a:rPr dirty="0"/>
              <a:t>a</a:t>
            </a:r>
            <a:r>
              <a:rPr dirty="0" spc="-145"/>
              <a:t> </a:t>
            </a:r>
            <a:r>
              <a:rPr dirty="0" spc="-90"/>
              <a:t>Surat-</a:t>
            </a:r>
            <a:r>
              <a:rPr dirty="0"/>
              <a:t>specific</a:t>
            </a:r>
            <a:r>
              <a:rPr dirty="0" spc="-145"/>
              <a:t> </a:t>
            </a:r>
            <a:r>
              <a:rPr dirty="0"/>
              <a:t>dataset</a:t>
            </a:r>
            <a:r>
              <a:rPr dirty="0" spc="-145"/>
              <a:t> </a:t>
            </a:r>
            <a:r>
              <a:rPr dirty="0"/>
              <a:t>to</a:t>
            </a:r>
            <a:r>
              <a:rPr dirty="0" spc="-145"/>
              <a:t> </a:t>
            </a:r>
            <a:r>
              <a:rPr dirty="0"/>
              <a:t>train</a:t>
            </a:r>
            <a:r>
              <a:rPr dirty="0" spc="-145"/>
              <a:t> </a:t>
            </a:r>
            <a:r>
              <a:rPr dirty="0"/>
              <a:t>and</a:t>
            </a:r>
            <a:r>
              <a:rPr dirty="0" spc="-145"/>
              <a:t> </a:t>
            </a:r>
            <a:r>
              <a:rPr dirty="0"/>
              <a:t>validate</a:t>
            </a:r>
            <a:r>
              <a:rPr dirty="0" spc="-145"/>
              <a:t> </a:t>
            </a:r>
            <a:r>
              <a:rPr dirty="0" spc="-10"/>
              <a:t>models</a:t>
            </a:r>
            <a:r>
              <a:rPr dirty="0" spc="-145"/>
              <a:t> </a:t>
            </a:r>
            <a:r>
              <a:rPr dirty="0"/>
              <a:t>for</a:t>
            </a:r>
            <a:r>
              <a:rPr dirty="0" spc="-145"/>
              <a:t> </a:t>
            </a:r>
            <a:r>
              <a:rPr dirty="0"/>
              <a:t>local</a:t>
            </a:r>
            <a:r>
              <a:rPr dirty="0" spc="-140"/>
              <a:t> </a:t>
            </a:r>
            <a:r>
              <a:rPr dirty="0" spc="-10"/>
              <a:t>traffic </a:t>
            </a:r>
            <a:r>
              <a:rPr dirty="0"/>
              <a:t>patterns</a:t>
            </a:r>
            <a:r>
              <a:rPr dirty="0" spc="-145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10"/>
              <a:t>conditions.</a:t>
            </a:r>
          </a:p>
          <a:p>
            <a:pPr marL="12700" marR="513715">
              <a:lnSpc>
                <a:spcPct val="115799"/>
              </a:lnSpc>
            </a:pPr>
            <a:r>
              <a:rPr dirty="0"/>
              <a:t>Add</a:t>
            </a:r>
            <a:r>
              <a:rPr dirty="0" spc="-145"/>
              <a:t> </a:t>
            </a:r>
            <a:r>
              <a:rPr dirty="0"/>
              <a:t>functionality</a:t>
            </a:r>
            <a:r>
              <a:rPr dirty="0" spc="-145"/>
              <a:t> </a:t>
            </a:r>
            <a:r>
              <a:rPr dirty="0"/>
              <a:t>for</a:t>
            </a:r>
            <a:r>
              <a:rPr dirty="0" spc="-140"/>
              <a:t> </a:t>
            </a:r>
            <a:r>
              <a:rPr dirty="0"/>
              <a:t>detection</a:t>
            </a:r>
            <a:r>
              <a:rPr dirty="0" spc="-145"/>
              <a:t> </a:t>
            </a:r>
            <a:r>
              <a:rPr dirty="0"/>
              <a:t>and</a:t>
            </a:r>
            <a:r>
              <a:rPr dirty="0" spc="-140"/>
              <a:t> </a:t>
            </a:r>
            <a:r>
              <a:rPr dirty="0" spc="-40"/>
              <a:t>prioritization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40"/>
              <a:t> </a:t>
            </a:r>
            <a:r>
              <a:rPr dirty="0" spc="-10"/>
              <a:t>emergency</a:t>
            </a:r>
            <a:r>
              <a:rPr dirty="0" spc="-145"/>
              <a:t> </a:t>
            </a:r>
            <a:r>
              <a:rPr dirty="0" spc="-10"/>
              <a:t>vehicles </a:t>
            </a:r>
            <a:r>
              <a:rPr dirty="0" spc="-140"/>
              <a:t>(e.g.,</a:t>
            </a:r>
            <a:r>
              <a:rPr dirty="0" spc="-210"/>
              <a:t> </a:t>
            </a:r>
            <a:r>
              <a:rPr dirty="0" spc="-25"/>
              <a:t>ambulances,</a:t>
            </a:r>
            <a:r>
              <a:rPr dirty="0" spc="-204"/>
              <a:t> </a:t>
            </a:r>
            <a:r>
              <a:rPr dirty="0" spc="-10"/>
              <a:t>fire</a:t>
            </a:r>
            <a:r>
              <a:rPr dirty="0" spc="-204"/>
              <a:t> </a:t>
            </a:r>
            <a:r>
              <a:rPr dirty="0" spc="-10"/>
              <a:t>trucks).</a:t>
            </a:r>
          </a:p>
          <a:p>
            <a:pPr marL="12700" marR="5080">
              <a:lnSpc>
                <a:spcPct val="115799"/>
              </a:lnSpc>
            </a:pPr>
            <a:r>
              <a:rPr dirty="0"/>
              <a:t>Implement</a:t>
            </a:r>
            <a:r>
              <a:rPr dirty="0" spc="-140"/>
              <a:t> </a:t>
            </a:r>
            <a:r>
              <a:rPr dirty="0" spc="-20"/>
              <a:t>modules</a:t>
            </a:r>
            <a:r>
              <a:rPr dirty="0" spc="-140"/>
              <a:t> </a:t>
            </a:r>
            <a:r>
              <a:rPr dirty="0"/>
              <a:t>for</a:t>
            </a:r>
            <a:r>
              <a:rPr dirty="0" spc="-140"/>
              <a:t> </a:t>
            </a:r>
            <a:r>
              <a:rPr dirty="0"/>
              <a:t>automatic</a:t>
            </a:r>
            <a:r>
              <a:rPr dirty="0" spc="-140"/>
              <a:t> </a:t>
            </a:r>
            <a:r>
              <a:rPr dirty="0"/>
              <a:t>detection</a:t>
            </a:r>
            <a:r>
              <a:rPr dirty="0" spc="-140"/>
              <a:t> </a:t>
            </a:r>
            <a:r>
              <a:rPr dirty="0"/>
              <a:t>of</a:t>
            </a:r>
            <a:r>
              <a:rPr dirty="0" spc="-135"/>
              <a:t> </a:t>
            </a:r>
            <a:r>
              <a:rPr dirty="0"/>
              <a:t>traffic</a:t>
            </a:r>
            <a:r>
              <a:rPr dirty="0" spc="-140"/>
              <a:t> </a:t>
            </a:r>
            <a:r>
              <a:rPr dirty="0"/>
              <a:t>rule</a:t>
            </a:r>
            <a:r>
              <a:rPr dirty="0" spc="-140"/>
              <a:t> </a:t>
            </a:r>
            <a:r>
              <a:rPr dirty="0" spc="-25"/>
              <a:t>violations,</a:t>
            </a:r>
            <a:r>
              <a:rPr dirty="0" spc="-140"/>
              <a:t> </a:t>
            </a:r>
            <a:r>
              <a:rPr dirty="0" spc="-20"/>
              <a:t>such as</a:t>
            </a:r>
            <a:r>
              <a:rPr dirty="0" spc="-190"/>
              <a:t> </a:t>
            </a:r>
            <a:r>
              <a:rPr dirty="0" spc="-75"/>
              <a:t>signal</a:t>
            </a:r>
            <a:r>
              <a:rPr dirty="0" spc="-190"/>
              <a:t> </a:t>
            </a:r>
            <a:r>
              <a:rPr dirty="0" spc="-95"/>
              <a:t>breaking,</a:t>
            </a:r>
            <a:r>
              <a:rPr dirty="0" spc="-190"/>
              <a:t> </a:t>
            </a:r>
            <a:r>
              <a:rPr dirty="0"/>
              <a:t>for</a:t>
            </a:r>
            <a:r>
              <a:rPr dirty="0" spc="-190"/>
              <a:t> </a:t>
            </a:r>
            <a:r>
              <a:rPr dirty="0"/>
              <a:t>improved</a:t>
            </a:r>
            <a:r>
              <a:rPr dirty="0" spc="-185"/>
              <a:t> </a:t>
            </a:r>
            <a:r>
              <a:rPr dirty="0"/>
              <a:t>traffic</a:t>
            </a:r>
            <a:r>
              <a:rPr dirty="0" spc="-190"/>
              <a:t> </a:t>
            </a:r>
            <a:r>
              <a:rPr dirty="0"/>
              <a:t>law</a:t>
            </a:r>
            <a:r>
              <a:rPr dirty="0" spc="-190"/>
              <a:t> </a:t>
            </a:r>
            <a:r>
              <a:rPr dirty="0" spc="-10"/>
              <a:t>enforcement.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9646" y="4414900"/>
            <a:ext cx="588899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825"/>
              <a:t>Thank</a:t>
            </a:r>
            <a:r>
              <a:rPr dirty="0" sz="9200" spc="-885"/>
              <a:t> </a:t>
            </a:r>
            <a:r>
              <a:rPr dirty="0" sz="9200" spc="-1480"/>
              <a:t>Y</a:t>
            </a:r>
            <a:r>
              <a:rPr dirty="0" sz="9200" spc="-705"/>
              <a:t>o</a:t>
            </a:r>
            <a:r>
              <a:rPr dirty="0" sz="9200" spc="-695"/>
              <a:t>u</a:t>
            </a:r>
            <a:endParaRPr sz="9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U22CS105 Meet Parmar</dc:creator>
  <cp:keywords>DAG0Xhbtjkk,BAG0Xl6mJ7I,0</cp:keywords>
  <dc:title>Mid Sem Presentation</dc:title>
  <dcterms:created xsi:type="dcterms:W3CDTF">2025-09-30T08:41:17Z</dcterms:created>
  <dcterms:modified xsi:type="dcterms:W3CDTF">2025-09-30T08:41:17Z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2025-09-30T00:00:00Z</vt:filetime>
  </property>
  <property fmtid="{D5CDD505-2E9C-101B-9397-08002B2CF9AE}" pid="3" name="Creator">
    <vt:lpwstr>Canva</vt:lpwstr>
  </property>
  <property fmtid="{D5CDD505-2E9C-101B-9397-08002B2CF9AE}" pid="4" name="LastSaved">
    <vt:filetime>2025-09-30T00:00:00Z</vt:filetime>
  </property>
  <property fmtid="{D5CDD505-2E9C-101B-9397-08002B2CF9AE}" pid="5" name="Producer">
    <vt:lpwstr>Canva</vt:lpwstr>
  </property>
</Properties>
</file>